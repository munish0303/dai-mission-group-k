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rts/chart1.xml" ContentType="application/vnd.openxmlformats-officedocument.drawingml.chart+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59" r:id="rId5"/>
    <p:sldId id="260" r:id="rId6"/>
    <p:sldId id="291" r:id="rId7"/>
    <p:sldId id="261" r:id="rId8"/>
    <p:sldId id="263" r:id="rId9"/>
    <p:sldId id="262" r:id="rId10"/>
    <p:sldId id="264" r:id="rId11"/>
    <p:sldId id="265" r:id="rId12"/>
    <p:sldId id="267" r:id="rId13"/>
    <p:sldId id="268" r:id="rId14"/>
    <p:sldId id="269" r:id="rId15"/>
    <p:sldId id="270" r:id="rId16"/>
    <p:sldId id="271" r:id="rId17"/>
    <p:sldId id="272" r:id="rId18"/>
    <p:sldId id="273" r:id="rId19"/>
    <p:sldId id="274" r:id="rId20"/>
    <p:sldId id="275" r:id="rId21"/>
    <p:sldId id="276" r:id="rId22"/>
    <p:sldId id="277" r:id="rId23"/>
    <p:sldId id="292" r:id="rId24"/>
    <p:sldId id="278" r:id="rId25"/>
    <p:sldId id="279" r:id="rId26"/>
    <p:sldId id="280" r:id="rId27"/>
    <p:sldId id="281" r:id="rId28"/>
    <p:sldId id="282" r:id="rId29"/>
    <p:sldId id="293" r:id="rId30"/>
    <p:sldId id="284" r:id="rId31"/>
    <p:sldId id="285" r:id="rId32"/>
    <p:sldId id="286" r:id="rId33"/>
    <p:sldId id="287" r:id="rId34"/>
    <p:sldId id="288" r:id="rId35"/>
    <p:sldId id="289" r:id="rId36"/>
    <p:sldId id="290" r:id="rId3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39A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AB7B4DD-63E2-84DD-D784-6E51969B1E35}" v="12" dt="2026-06-30T08:03:17.450"/>
    <p1510:client id="{158D1456-7870-D11E-97D8-6E9EBAC48770}" v="349" dt="2026-06-29T22:06:57.226"/>
    <p1510:client id="{1AF9B77E-919C-5B3F-B1C0-24E04377A057}" v="127" dt="2026-06-30T16:48:58.315"/>
    <p1510:client id="{2DC103A4-8F2A-46DD-A601-2DA978F32EDE}" v="51" dt="2026-06-29T21:55:52.170"/>
    <p1510:client id="{330F3A55-33BF-3E27-FA4D-C58802BE803A}" v="16" dt="2026-06-30T06:37:31.321"/>
    <p1510:client id="{56406C3E-FF77-5E71-1909-2EE501EA9EA5}" v="469" dt="2026-06-29T21:46:03.202"/>
    <p1510:client id="{581171DA-1E08-F201-7901-504EA564C090}" v="9" dt="2026-06-29T20:42:22.515"/>
    <p1510:client id="{70821B99-B28C-E1E9-3EC3-816C6679D2DF}" v="133" dt="2026-06-30T08:34:18.123"/>
    <p1510:client id="{76DC85F1-1209-875A-06EB-A92B7C53C1DB}" v="258" dt="2026-06-30T09:37:48.106"/>
    <p1510:client id="{C3DC6567-B73C-B6B5-2F36-CA82118A14CE}" v="168" dt="2026-06-29T20:35:39.42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_116_0.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8A8F8C"/>
                </a:solidFill>
                <a:latin typeface="Arial"/>
              </a:defRPr>
            </a:pPr>
            <a:r>
              <a:rPr lang="en-US" sz="1100" b="0" i="0" u="none" strike="noStrike">
                <a:solidFill>
                  <a:srgbClr val="8A8F8C"/>
                </a:solidFill>
                <a:latin typeface="Arial"/>
              </a:rPr>
              <a:t>Out of sample AUC (0.5 is a coin flip)</a:t>
            </a:r>
          </a:p>
        </c:rich>
      </c:tx>
      <c:overlay val="0"/>
    </c:title>
    <c:autoTitleDeleted val="0"/>
    <c:plotArea>
      <c:layout/>
      <c:barChart>
        <c:barDir val="col"/>
        <c:grouping val="clustered"/>
        <c:varyColors val="0"/>
        <c:ser>
          <c:idx val="0"/>
          <c:order val="0"/>
          <c:tx>
            <c:strRef>
              <c:f>Sheet1!$B$1</c:f>
              <c:strCache>
                <c:ptCount val="1"/>
                <c:pt idx="0">
                  <c:v>AUC</c:v>
                </c:pt>
              </c:strCache>
            </c:strRef>
          </c:tx>
          <c:spPr>
            <a:solidFill>
              <a:srgbClr val="639A00"/>
            </a:solidFill>
            <a:effectLst/>
          </c:spPr>
          <c:invertIfNegative val="0"/>
          <c:dPt>
            <c:idx val="0"/>
            <c:invertIfNegative val="0"/>
            <c:bubble3D val="0"/>
            <c:extLst>
              <c:ext xmlns:c16="http://schemas.microsoft.com/office/drawing/2014/chart" uri="{C3380CC4-5D6E-409C-BE32-E72D297353CC}">
                <c16:uniqueId val="{00000001-34B1-4B3A-B76D-C34D390E750F}"/>
              </c:ext>
            </c:extLst>
          </c:dPt>
          <c:dPt>
            <c:idx val="1"/>
            <c:invertIfNegative val="0"/>
            <c:bubble3D val="0"/>
            <c:extLst>
              <c:ext xmlns:c16="http://schemas.microsoft.com/office/drawing/2014/chart" uri="{C3380CC4-5D6E-409C-BE32-E72D297353CC}">
                <c16:uniqueId val="{00000003-34B1-4B3A-B76D-C34D390E750F}"/>
              </c:ext>
            </c:extLst>
          </c:dPt>
          <c:dPt>
            <c:idx val="2"/>
            <c:invertIfNegative val="0"/>
            <c:bubble3D val="0"/>
            <c:spPr>
              <a:solidFill>
                <a:srgbClr val="4C7A00"/>
              </a:solidFill>
              <a:effectLst/>
            </c:spPr>
            <c:extLst>
              <c:ext xmlns:c16="http://schemas.microsoft.com/office/drawing/2014/chart" uri="{C3380CC4-5D6E-409C-BE32-E72D297353CC}">
                <c16:uniqueId val="{00000005-34B1-4B3A-B76D-C34D390E750F}"/>
              </c:ext>
            </c:extLst>
          </c:dPt>
          <c:dLbls>
            <c:numFmt formatCode="0.00" sourceLinked="0"/>
            <c:spPr>
              <a:noFill/>
              <a:ln>
                <a:noFill/>
              </a:ln>
              <a:effectLst/>
            </c:spPr>
            <c:txPr>
              <a:bodyPr/>
              <a:lstStyle/>
              <a:p>
                <a:pPr>
                  <a:defRPr sz="1200" b="1" i="0" u="none" strike="noStrike">
                    <a:solidFill>
                      <a:srgbClr val="363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Points (top 10)</c:v>
                </c:pt>
                <c:pt idx="1">
                  <c:v>Three class</c:v>
                </c:pt>
                <c:pt idx="2">
                  <c:v>Podium</c:v>
                </c:pt>
              </c:strCache>
            </c:strRef>
          </c:cat>
          <c:val>
            <c:numRef>
              <c:f>Sheet1!$B$2:$B$4</c:f>
              <c:numCache>
                <c:formatCode>General</c:formatCode>
                <c:ptCount val="3"/>
                <c:pt idx="0">
                  <c:v>0.87</c:v>
                </c:pt>
                <c:pt idx="1">
                  <c:v>0.87</c:v>
                </c:pt>
                <c:pt idx="2">
                  <c:v>0.95</c:v>
                </c:pt>
              </c:numCache>
            </c:numRef>
          </c:val>
          <c:extLst>
            <c:ext xmlns:c16="http://schemas.microsoft.com/office/drawing/2014/chart" uri="{C3380CC4-5D6E-409C-BE32-E72D297353CC}">
              <c16:uniqueId val="{00000006-34B1-4B3A-B76D-C34D390E750F}"/>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C4043"/>
                </a:solidFill>
                <a:latin typeface="Arial"/>
              </a:defRPr>
            </a:pPr>
            <a:endParaRPr lang="en-US"/>
          </a:p>
        </c:txPr>
        <c:crossAx val="2094734552"/>
        <c:crosses val="autoZero"/>
        <c:auto val="1"/>
        <c:lblAlgn val="ctr"/>
        <c:lblOffset val="100"/>
        <c:noMultiLvlLbl val="1"/>
      </c:catAx>
      <c:valAx>
        <c:axId val="2094734552"/>
        <c:scaling>
          <c:orientation val="minMax"/>
          <c:max val="1"/>
          <c:min val="0.5"/>
        </c:scaling>
        <c:delete val="0"/>
        <c:axPos val="l"/>
        <c:majorGridlines>
          <c:spPr>
            <a:ln w="6350" cap="flat">
              <a:solidFill>
                <a:srgbClr val="EAEEE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A8F8C"/>
                </a:solidFill>
                <a:latin typeface="Arial"/>
              </a:defRPr>
            </a:pPr>
            <a:endParaRPr lang="en-US"/>
          </a:p>
        </c:txPr>
        <c:crossAx val="2094734554"/>
        <c:crosses val="autoZero"/>
        <c:crossBetween val="between"/>
        <c:majorUnit val="0.1"/>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575149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9EE5F-EED2-E214-87CB-673D88C9F3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98FF96-2266-C138-9093-87B67DD83B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62C9B1-C588-DCA7-2770-5084C278EC8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A95B100-34AD-B2DC-F098-4AA8598C5495}"/>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9119298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DBB8E1-4C68-C9B1-2115-CA4FA3CB29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5E2E36-7F6A-2857-56E5-3011C09C65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8CFE86-6E9B-A763-8992-0DAE8EE6D03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46EE4DC-0FE8-F549-6065-9D98B7AFBFF8}"/>
              </a:ext>
            </a:extLst>
          </p:cNvPr>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318861382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17AF0-A502-5C31-9523-0000CB1C91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CB070A-10FF-6EF8-5F99-ED17AE1E14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8A90B6-93E2-04BC-EB9E-9A5C325D21E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640D3A0-59CF-DEE6-668E-CFD1531BD628}"/>
              </a:ext>
            </a:extLst>
          </p:cNvPr>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216746838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chart" Target="../charts/chart1.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548640" y="960120"/>
            <a:ext cx="7315200" cy="274320"/>
          </a:xfrm>
          <a:prstGeom prst="rect">
            <a:avLst/>
          </a:prstGeom>
          <a:noFill/>
          <a:ln/>
        </p:spPr>
        <p:txBody>
          <a:bodyPr wrap="square" lIns="0" tIns="0" rIns="0" bIns="0" rtlCol="0" anchor="ctr"/>
          <a:lstStyle/>
          <a:p>
            <a:pPr marL="0" indent="0">
              <a:buNone/>
            </a:pPr>
            <a:r>
              <a:rPr lang="en-US" sz="1200" b="1" kern="0" spc="100">
                <a:solidFill>
                  <a:srgbClr val="639A00"/>
                </a:solidFill>
                <a:latin typeface="Arial" pitchFamily="34" charset="0"/>
                <a:ea typeface="Arial" pitchFamily="34" charset="-122"/>
                <a:cs typeface="Arial" pitchFamily="34" charset="-120"/>
              </a:rPr>
              <a:t>DATA &amp; AI IN ECONOMICS, TU DORTMUND</a:t>
            </a:r>
            <a:endParaRPr lang="en-US" sz="1200"/>
          </a:p>
        </p:txBody>
      </p:sp>
      <p:sp>
        <p:nvSpPr>
          <p:cNvPr id="6" name="Text 3"/>
          <p:cNvSpPr/>
          <p:nvPr/>
        </p:nvSpPr>
        <p:spPr>
          <a:xfrm>
            <a:off x="530352" y="1325880"/>
            <a:ext cx="5486400" cy="1737360"/>
          </a:xfrm>
          <a:prstGeom prst="rect">
            <a:avLst/>
          </a:prstGeom>
          <a:noFill/>
          <a:ln/>
        </p:spPr>
        <p:txBody>
          <a:bodyPr wrap="square" lIns="0" tIns="0" rIns="0" bIns="0" rtlCol="0" anchor="ctr"/>
          <a:lstStyle/>
          <a:p>
            <a:pPr marL="0" indent="0">
              <a:lnSpc>
                <a:spcPct val="98000"/>
              </a:lnSpc>
              <a:buNone/>
            </a:pPr>
            <a:r>
              <a:rPr lang="en-US" sz="4200">
                <a:solidFill>
                  <a:srgbClr val="36393B"/>
                </a:solidFill>
                <a:latin typeface="Arial Black" pitchFamily="34" charset="0"/>
                <a:ea typeface="Arial Black" pitchFamily="34" charset="-122"/>
                <a:cs typeface="Arial Black" pitchFamily="34" charset="-120"/>
              </a:rPr>
              <a:t>THE IMPACT OF</a:t>
            </a:r>
            <a:endParaRPr lang="en-US" sz="4200"/>
          </a:p>
          <a:p>
            <a:pPr marL="0" indent="0">
              <a:lnSpc>
                <a:spcPct val="98000"/>
              </a:lnSpc>
              <a:buNone/>
            </a:pPr>
            <a:r>
              <a:rPr lang="en-US" sz="4200">
                <a:solidFill>
                  <a:srgbClr val="36393B"/>
                </a:solidFill>
                <a:latin typeface="Arial Black" pitchFamily="34" charset="0"/>
                <a:ea typeface="Arial Black" pitchFamily="34" charset="-122"/>
                <a:cs typeface="Arial Black" pitchFamily="34" charset="-120"/>
              </a:rPr>
              <a:t>PIT STOP STRATEGY</a:t>
            </a:r>
            <a:endParaRPr lang="en-US" sz="4200"/>
          </a:p>
        </p:txBody>
      </p:sp>
      <p:sp>
        <p:nvSpPr>
          <p:cNvPr id="7" name="Text 4"/>
          <p:cNvSpPr/>
          <p:nvPr/>
        </p:nvSpPr>
        <p:spPr>
          <a:xfrm>
            <a:off x="548640" y="3154680"/>
            <a:ext cx="5029200" cy="640080"/>
          </a:xfrm>
          <a:prstGeom prst="rect">
            <a:avLst/>
          </a:prstGeom>
          <a:noFill/>
          <a:ln/>
        </p:spPr>
        <p:txBody>
          <a:bodyPr wrap="square" lIns="0" tIns="0" rIns="0" bIns="0" rtlCol="0" anchor="ctr"/>
          <a:lstStyle/>
          <a:p>
            <a:pPr marL="0" indent="0">
              <a:buNone/>
            </a:pPr>
            <a:r>
              <a:rPr lang="en-US" sz="1400" i="1">
                <a:solidFill>
                  <a:srgbClr val="3C4043"/>
                </a:solidFill>
                <a:latin typeface="Arial" pitchFamily="34" charset="0"/>
                <a:ea typeface="Arial" pitchFamily="34" charset="-122"/>
                <a:cs typeface="Arial" pitchFamily="34" charset="-120"/>
              </a:rPr>
              <a:t>Does the undercut pay off? The causal effect of pit timing in Formula 1, 2022 to 2025.</a:t>
            </a:r>
            <a:endParaRPr lang="en-US" sz="1400"/>
          </a:p>
        </p:txBody>
      </p:sp>
      <p:sp>
        <p:nvSpPr>
          <p:cNvPr id="8" name="Text 5"/>
          <p:cNvSpPr/>
          <p:nvPr/>
        </p:nvSpPr>
        <p:spPr>
          <a:xfrm>
            <a:off x="548640" y="3977640"/>
            <a:ext cx="5029200" cy="548640"/>
          </a:xfrm>
          <a:prstGeom prst="rect">
            <a:avLst/>
          </a:prstGeom>
          <a:noFill/>
          <a:ln/>
        </p:spPr>
        <p:txBody>
          <a:bodyPr wrap="square" lIns="0" tIns="0" rIns="0" bIns="0" rtlCol="0" anchor="ctr"/>
          <a:lstStyle/>
          <a:p>
            <a:pPr marL="0" indent="0">
              <a:buNone/>
            </a:pPr>
            <a:endParaRPr lang="en-US" sz="1300"/>
          </a:p>
        </p:txBody>
      </p:sp>
      <p:sp>
        <p:nvSpPr>
          <p:cNvPr id="9" name="Text 6"/>
          <p:cNvSpPr/>
          <p:nvPr/>
        </p:nvSpPr>
        <p:spPr>
          <a:xfrm>
            <a:off x="548641" y="4084320"/>
            <a:ext cx="5138056" cy="437605"/>
          </a:xfrm>
          <a:prstGeom prst="rect">
            <a:avLst/>
          </a:prstGeom>
          <a:noFill/>
          <a:ln/>
        </p:spPr>
        <p:txBody>
          <a:bodyPr wrap="square" lIns="0" tIns="0" rIns="0" bIns="0" rtlCol="0" anchor="ctr"/>
          <a:lstStyle/>
          <a:p>
            <a:r>
              <a:rPr lang="en-US" sz="1200" b="1">
                <a:solidFill>
                  <a:srgbClr val="8A8F8C"/>
                </a:solidFill>
                <a:latin typeface="Arial"/>
                <a:cs typeface="Arial"/>
              </a:rPr>
              <a:t>Under the guidance of: Dr. -Ing. Alexander Elias Krause </a:t>
            </a:r>
          </a:p>
          <a:p>
            <a:r>
              <a:rPr lang="en-US" sz="1200" b="1">
                <a:solidFill>
                  <a:srgbClr val="8A8F8C"/>
                </a:solidFill>
                <a:latin typeface="Arial"/>
                <a:cs typeface="Arial"/>
              </a:rPr>
              <a:t>Presented by: Munish Patwa, Simran Arora, Nimesh Jitendra Bhavsar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512064" y="914400"/>
            <a:ext cx="3108960" cy="1645920"/>
          </a:xfrm>
          <a:prstGeom prst="rect">
            <a:avLst/>
          </a:prstGeom>
          <a:noFill/>
          <a:ln/>
        </p:spPr>
        <p:txBody>
          <a:bodyPr wrap="square" lIns="0" tIns="0" rIns="0" bIns="0" rtlCol="0" anchor="ctr"/>
          <a:lstStyle/>
          <a:p>
            <a:pPr marL="0" indent="0">
              <a:buNone/>
            </a:pPr>
            <a:r>
              <a:rPr lang="en-US" sz="10400">
                <a:solidFill>
                  <a:srgbClr val="639A00"/>
                </a:solidFill>
                <a:latin typeface="Arial Black" pitchFamily="34" charset="0"/>
                <a:ea typeface="Arial Black" pitchFamily="34" charset="-122"/>
                <a:cs typeface="Arial Black" pitchFamily="34" charset="-120"/>
              </a:rPr>
              <a:t>01</a:t>
            </a:r>
            <a:endParaRPr lang="en-US" sz="10400"/>
          </a:p>
        </p:txBody>
      </p:sp>
      <p:sp>
        <p:nvSpPr>
          <p:cNvPr id="6" name="Text 3"/>
          <p:cNvSpPr/>
          <p:nvPr/>
        </p:nvSpPr>
        <p:spPr>
          <a:xfrm>
            <a:off x="566928" y="2724912"/>
            <a:ext cx="6126480" cy="822960"/>
          </a:xfrm>
          <a:prstGeom prst="rect">
            <a:avLst/>
          </a:prstGeom>
          <a:noFill/>
          <a:ln/>
        </p:spPr>
        <p:txBody>
          <a:bodyPr wrap="square" lIns="0" tIns="0" rIns="0" bIns="0" rtlCol="0" anchor="ctr"/>
          <a:lstStyle/>
          <a:p>
            <a:pPr marL="0" indent="0">
              <a:buNone/>
            </a:pPr>
            <a:r>
              <a:rPr lang="en-US" sz="3300">
                <a:solidFill>
                  <a:srgbClr val="36393B"/>
                </a:solidFill>
                <a:latin typeface="Arial Black" pitchFamily="34" charset="0"/>
                <a:ea typeface="Arial Black" pitchFamily="34" charset="-122"/>
                <a:cs typeface="Arial Black" pitchFamily="34" charset="-120"/>
              </a:rPr>
              <a:t>INTRODUCTION</a:t>
            </a:r>
            <a:endParaRPr lang="en-US" sz="3300"/>
          </a:p>
        </p:txBody>
      </p:sp>
      <p:sp>
        <p:nvSpPr>
          <p:cNvPr id="7" name="Text 4"/>
          <p:cNvSpPr/>
          <p:nvPr/>
        </p:nvSpPr>
        <p:spPr>
          <a:xfrm>
            <a:off x="603504" y="3584448"/>
            <a:ext cx="6035040" cy="548640"/>
          </a:xfrm>
          <a:prstGeom prst="rect">
            <a:avLst/>
          </a:prstGeom>
          <a:noFill/>
          <a:ln/>
        </p:spPr>
        <p:txBody>
          <a:bodyPr wrap="square" lIns="0" tIns="0" rIns="0" bIns="0" rtlCol="0" anchor="ctr"/>
          <a:lstStyle/>
          <a:p>
            <a:pPr marL="0" indent="0">
              <a:buNone/>
            </a:pPr>
            <a:endParaRPr lang="en-US" sz="1500" i="1">
              <a:solidFill>
                <a:srgbClr val="8A8F8C"/>
              </a:solidFill>
              <a:latin typeface="Arial"/>
              <a:cs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a:t>
            </a:r>
            <a:endParaRPr lang="en-US" sz="1000"/>
          </a:p>
        </p:txBody>
      </p:sp>
      <p:sp>
        <p:nvSpPr>
          <p:cNvPr id="6" name="Text 3"/>
          <p:cNvSpPr/>
          <p:nvPr/>
        </p:nvSpPr>
        <p:spPr>
          <a:xfrm>
            <a:off x="548640" y="658368"/>
            <a:ext cx="7863840" cy="566928"/>
          </a:xfrm>
          <a:prstGeom prst="rect">
            <a:avLst/>
          </a:prstGeom>
          <a:noFill/>
          <a:ln/>
        </p:spPr>
        <p:txBody>
          <a:bodyPr wrap="square" lIns="0" tIns="0" rIns="0" bIns="0" rtlCol="0" anchor="ctr"/>
          <a:lstStyle/>
          <a:p>
            <a:pPr marL="0" indent="0">
              <a:buNone/>
            </a:pPr>
            <a:r>
              <a:rPr lang="en-US" sz="2600">
                <a:solidFill>
                  <a:srgbClr val="36393B"/>
                </a:solidFill>
                <a:latin typeface="Arial Black" pitchFamily="34" charset="0"/>
                <a:ea typeface="Arial Black" pitchFamily="34" charset="-122"/>
                <a:cs typeface="Arial Black" pitchFamily="34" charset="-120"/>
              </a:rPr>
              <a:t>RESEARCH QUESTION</a:t>
            </a:r>
            <a:endParaRPr lang="en-US" sz="2600"/>
          </a:p>
        </p:txBody>
      </p:sp>
      <p:sp>
        <p:nvSpPr>
          <p:cNvPr id="7" name="Text 4"/>
          <p:cNvSpPr/>
          <p:nvPr/>
        </p:nvSpPr>
        <p:spPr>
          <a:xfrm>
            <a:off x="548640" y="1645920"/>
            <a:ext cx="7772400" cy="457200"/>
          </a:xfrm>
          <a:prstGeom prst="rect">
            <a:avLst/>
          </a:prstGeom>
          <a:noFill/>
          <a:ln/>
        </p:spPr>
        <p:txBody>
          <a:bodyPr wrap="square" lIns="0" tIns="0" rIns="0" bIns="0" rtlCol="0" anchor="ctr"/>
          <a:lstStyle/>
          <a:p>
            <a:pPr marL="0" indent="0">
              <a:buNone/>
            </a:pPr>
            <a:r>
              <a:rPr lang="en-US" sz="1400">
                <a:solidFill>
                  <a:srgbClr val="3C4043"/>
                </a:solidFill>
                <a:latin typeface="Arial"/>
                <a:ea typeface="Arial" pitchFamily="34" charset="-122"/>
                <a:cs typeface="Arial"/>
              </a:rPr>
              <a:t>How does pit stop strategy shape race performance?</a:t>
            </a:r>
            <a:endParaRPr lang="en-US" sz="1400">
              <a:latin typeface="Arial"/>
              <a:cs typeface="Arial"/>
            </a:endParaRPr>
          </a:p>
        </p:txBody>
      </p:sp>
      <p:sp>
        <p:nvSpPr>
          <p:cNvPr id="8" name="Text 5"/>
          <p:cNvSpPr/>
          <p:nvPr/>
        </p:nvSpPr>
        <p:spPr>
          <a:xfrm>
            <a:off x="548640" y="2286000"/>
            <a:ext cx="7772400" cy="1005840"/>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Causal core:  </a:t>
            </a:r>
            <a:endParaRPr lang="en-US" sz="1400">
              <a:solidFill>
                <a:srgbClr val="000000"/>
              </a:solidFill>
              <a:latin typeface="Arial"/>
              <a:ea typeface="Arial" pitchFamily="34" charset="-122"/>
              <a:cs typeface="Arial"/>
            </a:endParaRPr>
          </a:p>
          <a:p>
            <a:r>
              <a:rPr lang="en-US" sz="1400" dirty="0">
                <a:solidFill>
                  <a:srgbClr val="3C4043"/>
                </a:solidFill>
                <a:latin typeface="Arial"/>
                <a:ea typeface="Arial" pitchFamily="34" charset="-122"/>
                <a:cs typeface="Arial"/>
              </a:rPr>
              <a:t>Does pitting early, before about 40% of the race, actually improve a driver's net positions gained versus the grid, once car quality, grid slot and track conditions are held fixed?</a:t>
            </a:r>
            <a:endParaRPr lang="en-US" sz="1400" dirty="0">
              <a:latin typeface="Arial"/>
              <a:cs typeface="Arial"/>
            </a:endParaRPr>
          </a:p>
        </p:txBody>
      </p:sp>
      <p:sp>
        <p:nvSpPr>
          <p:cNvPr id="9" name="Text 6"/>
          <p:cNvSpPr/>
          <p:nvPr/>
        </p:nvSpPr>
        <p:spPr>
          <a:xfrm>
            <a:off x="559527" y="3469277"/>
            <a:ext cx="7489370" cy="914400"/>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The catch: </a:t>
            </a:r>
            <a:endParaRPr lang="en-US"/>
          </a:p>
          <a:p>
            <a:pPr marL="285750" indent="-285750">
              <a:buFont typeface="Arial"/>
              <a:buChar char="•"/>
            </a:pPr>
            <a:r>
              <a:rPr lang="en-US" sz="1400" dirty="0">
                <a:solidFill>
                  <a:schemeClr val="tx1">
                    <a:lumMod val="85000"/>
                    <a:lumOff val="15000"/>
                  </a:schemeClr>
                </a:solidFill>
                <a:latin typeface="Arial"/>
                <a:ea typeface="+mn-lt"/>
                <a:cs typeface="Arial"/>
              </a:rPr>
              <a:t>Faster cars tend to pit at different times and also finish higher up the order.</a:t>
            </a:r>
            <a:endParaRPr lang="en-US" dirty="0">
              <a:solidFill>
                <a:schemeClr val="tx1">
                  <a:lumMod val="85000"/>
                  <a:lumOff val="15000"/>
                </a:schemeClr>
              </a:solidFill>
              <a:latin typeface="Calibri" panose="020F0502020204030204"/>
              <a:ea typeface="+mn-lt"/>
              <a:cs typeface="Calibri" panose="020F0502020204030204"/>
            </a:endParaRPr>
          </a:p>
          <a:p>
            <a:pPr marL="285750" indent="-285750">
              <a:buFont typeface="Arial"/>
              <a:buChar char="•"/>
            </a:pPr>
            <a:r>
              <a:rPr lang="en-US" sz="1400">
                <a:solidFill>
                  <a:schemeClr val="tx1">
                    <a:lumMod val="85000"/>
                    <a:lumOff val="15000"/>
                  </a:schemeClr>
                </a:solidFill>
                <a:latin typeface="Arial"/>
                <a:ea typeface="+mn-lt"/>
                <a:cs typeface="Arial"/>
              </a:rPr>
              <a:t>A simple comparison </a:t>
            </a:r>
            <a:r>
              <a:rPr lang="en-US" sz="1400" dirty="0">
                <a:solidFill>
                  <a:schemeClr val="tx1">
                    <a:lumMod val="85000"/>
                    <a:lumOff val="15000"/>
                  </a:schemeClr>
                </a:solidFill>
                <a:latin typeface="Arial"/>
                <a:ea typeface="+mn-lt"/>
                <a:cs typeface="Arial"/>
              </a:rPr>
              <a:t>would therefore mix the effect of pit strategy with the effect of car </a:t>
            </a:r>
            <a:r>
              <a:rPr lang="en-US" sz="1400">
                <a:solidFill>
                  <a:schemeClr val="tx1">
                    <a:lumMod val="85000"/>
                    <a:lumOff val="15000"/>
                  </a:schemeClr>
                </a:solidFill>
                <a:latin typeface="Arial"/>
                <a:ea typeface="+mn-lt"/>
                <a:cs typeface="Arial"/>
              </a:rPr>
              <a:t>performance. </a:t>
            </a:r>
            <a:endParaRPr lang="en-US">
              <a:solidFill>
                <a:schemeClr val="tx1">
                  <a:lumMod val="85000"/>
                  <a:lumOff val="15000"/>
                </a:schemeClr>
              </a:solidFill>
              <a:latin typeface="Calibri" panose="020F0502020204030204"/>
              <a:ea typeface="+mn-lt"/>
              <a:cs typeface="Calibri"/>
            </a:endParaRPr>
          </a:p>
          <a:p>
            <a:pPr marL="285750" indent="-285750">
              <a:buFont typeface="Arial"/>
              <a:buChar char="•"/>
            </a:pPr>
            <a:r>
              <a:rPr lang="en-US" sz="1400">
                <a:solidFill>
                  <a:schemeClr val="tx1">
                    <a:lumMod val="85000"/>
                    <a:lumOff val="15000"/>
                  </a:schemeClr>
                </a:solidFill>
                <a:latin typeface="Arial"/>
                <a:ea typeface="+mn-lt"/>
                <a:cs typeface="Arial"/>
              </a:rPr>
              <a:t>The goal is to separate the impact of the strategy from the impact of the car.</a:t>
            </a:r>
            <a:endParaRPr lang="en-US">
              <a:solidFill>
                <a:schemeClr val="tx1">
                  <a:lumMod val="85000"/>
                  <a:lumOff val="15000"/>
                </a:schemeClr>
              </a:solidFill>
              <a:ea typeface="Calibri"/>
              <a:cs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2</a:t>
            </a:r>
            <a:endParaRPr lang="en-US" sz="1000"/>
          </a:p>
        </p:txBody>
      </p:sp>
      <p:sp>
        <p:nvSpPr>
          <p:cNvPr id="6" name="Text 3"/>
          <p:cNvSpPr/>
          <p:nvPr/>
        </p:nvSpPr>
        <p:spPr>
          <a:xfrm>
            <a:off x="548640" y="658368"/>
            <a:ext cx="7863840" cy="566928"/>
          </a:xfrm>
          <a:prstGeom prst="rect">
            <a:avLst/>
          </a:prstGeom>
          <a:noFill/>
          <a:ln/>
        </p:spPr>
        <p:txBody>
          <a:bodyPr wrap="square" lIns="0" tIns="0" rIns="0" bIns="0" rtlCol="0" anchor="ctr"/>
          <a:lstStyle/>
          <a:p>
            <a:r>
              <a:rPr lang="en-US" sz="2600">
                <a:solidFill>
                  <a:srgbClr val="36393B"/>
                </a:solidFill>
                <a:latin typeface="Arial Black"/>
                <a:ea typeface="Arial Black" pitchFamily="34" charset="-122"/>
                <a:cs typeface="Arial Black" pitchFamily="34" charset="-120"/>
              </a:rPr>
              <a:t> DATA DESCRIPTION</a:t>
            </a:r>
            <a:endParaRPr lang="en-US" sz="2600">
              <a:latin typeface="Arial Black"/>
            </a:endParaRPr>
          </a:p>
        </p:txBody>
      </p:sp>
      <p:sp>
        <p:nvSpPr>
          <p:cNvPr id="7" name="Text 4"/>
          <p:cNvSpPr/>
          <p:nvPr/>
        </p:nvSpPr>
        <p:spPr>
          <a:xfrm>
            <a:off x="548640" y="1398814"/>
            <a:ext cx="7520940" cy="640080"/>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Dataset: </a:t>
            </a:r>
            <a:endParaRPr lang="en-US" sz="1400">
              <a:solidFill>
                <a:srgbClr val="000000"/>
              </a:solidFill>
              <a:latin typeface="Arial"/>
              <a:ea typeface="Arial" pitchFamily="34" charset="-122"/>
              <a:cs typeface="Arial"/>
            </a:endParaRPr>
          </a:p>
          <a:p>
            <a:r>
              <a:rPr lang="en-US" sz="1400">
                <a:solidFill>
                  <a:srgbClr val="3C4043"/>
                </a:solidFill>
                <a:latin typeface="Arial"/>
                <a:ea typeface="Arial" pitchFamily="34" charset="-122"/>
                <a:cs typeface="Arial"/>
              </a:rPr>
              <a:t>96,336 laps from the 2022 to 2025 seasons, enriched with OpenF1 weather and stint data.</a:t>
            </a:r>
            <a:endParaRPr lang="en-US" sz="1400">
              <a:latin typeface="Arial"/>
              <a:cs typeface="Arial"/>
            </a:endParaRPr>
          </a:p>
        </p:txBody>
      </p:sp>
      <p:sp>
        <p:nvSpPr>
          <p:cNvPr id="8" name="Text 5"/>
          <p:cNvSpPr/>
          <p:nvPr/>
        </p:nvSpPr>
        <p:spPr>
          <a:xfrm>
            <a:off x="548640" y="2043249"/>
            <a:ext cx="7863840" cy="640080"/>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Scale:</a:t>
            </a:r>
            <a:endParaRPr lang="en-US" sz="1400" dirty="0">
              <a:solidFill>
                <a:srgbClr val="000000"/>
              </a:solidFill>
              <a:latin typeface="Arial"/>
              <a:ea typeface="Arial" pitchFamily="34" charset="-122"/>
              <a:cs typeface="Arial"/>
            </a:endParaRPr>
          </a:p>
          <a:p>
            <a:r>
              <a:rPr lang="en-US" sz="1400">
                <a:solidFill>
                  <a:srgbClr val="3C4043"/>
                </a:solidFill>
                <a:latin typeface="Arial"/>
                <a:ea typeface="Arial" pitchFamily="34" charset="-122"/>
                <a:cs typeface="Arial"/>
              </a:rPr>
              <a:t>25 circuits, 31 drivers, about 660 driver races for the causal work and 3,436 stints for the </a:t>
            </a:r>
            <a:r>
              <a:rPr lang="en-US" sz="1400" dirty="0">
                <a:solidFill>
                  <a:srgbClr val="3C4043"/>
                </a:solidFill>
                <a:latin typeface="Arial"/>
                <a:ea typeface="Arial" pitchFamily="34" charset="-122"/>
                <a:cs typeface="Arial"/>
              </a:rPr>
              <a:t>clustering.</a:t>
            </a:r>
            <a:endParaRPr lang="en-US" sz="1400">
              <a:latin typeface="Arial"/>
              <a:cs typeface="Arial"/>
            </a:endParaRPr>
          </a:p>
        </p:txBody>
      </p:sp>
      <p:sp>
        <p:nvSpPr>
          <p:cNvPr id="9" name="Text 6"/>
          <p:cNvSpPr/>
          <p:nvPr/>
        </p:nvSpPr>
        <p:spPr>
          <a:xfrm>
            <a:off x="548640" y="2683329"/>
            <a:ext cx="7863840" cy="640080"/>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Unit:</a:t>
            </a:r>
            <a:endParaRPr lang="en-US" sz="1400">
              <a:solidFill>
                <a:srgbClr val="000000"/>
              </a:solidFill>
              <a:latin typeface="Arial"/>
              <a:ea typeface="Arial" pitchFamily="34" charset="-122"/>
              <a:cs typeface="Arial"/>
            </a:endParaRPr>
          </a:p>
          <a:p>
            <a:r>
              <a:rPr lang="en-US" sz="1400">
                <a:solidFill>
                  <a:srgbClr val="3C4043"/>
                </a:solidFill>
                <a:latin typeface="Arial"/>
                <a:ea typeface="Arial" pitchFamily="34" charset="-122"/>
                <a:cs typeface="Arial"/>
              </a:rPr>
              <a:t>One lap, re-aggregated to driver and race, or to stint, depending on the question.</a:t>
            </a:r>
            <a:endParaRPr lang="en-US" sz="1400">
              <a:latin typeface="Arial"/>
              <a:cs typeface="Arial"/>
            </a:endParaRPr>
          </a:p>
        </p:txBody>
      </p:sp>
      <p:sp>
        <p:nvSpPr>
          <p:cNvPr id="10" name="Text 7"/>
          <p:cNvSpPr/>
          <p:nvPr/>
        </p:nvSpPr>
        <p:spPr>
          <a:xfrm>
            <a:off x="548640" y="3492137"/>
            <a:ext cx="7863840" cy="895894"/>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Three methodologies:  </a:t>
            </a:r>
            <a:endParaRPr lang="en-US" sz="1400">
              <a:solidFill>
                <a:srgbClr val="000000"/>
              </a:solidFill>
              <a:latin typeface="Arial"/>
              <a:ea typeface="Arial" pitchFamily="34" charset="-122"/>
              <a:cs typeface="Arial"/>
            </a:endParaRPr>
          </a:p>
          <a:p>
            <a:pPr marL="285750" indent="-285750">
              <a:buFont typeface="Arial"/>
              <a:buChar char="•"/>
            </a:pPr>
            <a:r>
              <a:rPr lang="en-US" sz="1400" b="1">
                <a:solidFill>
                  <a:srgbClr val="3C4043"/>
                </a:solidFill>
                <a:latin typeface="Arial"/>
                <a:ea typeface="Arial" pitchFamily="34" charset="-122"/>
                <a:cs typeface="Arial"/>
              </a:rPr>
              <a:t>Causal block</a:t>
            </a:r>
            <a:r>
              <a:rPr lang="en-US" sz="1400">
                <a:solidFill>
                  <a:srgbClr val="3C4043"/>
                </a:solidFill>
                <a:latin typeface="Arial"/>
                <a:ea typeface="Arial" pitchFamily="34" charset="-122"/>
                <a:cs typeface="Arial"/>
              </a:rPr>
              <a:t> (</a:t>
            </a:r>
            <a:r>
              <a:rPr lang="en-US" sz="1400" err="1">
                <a:solidFill>
                  <a:srgbClr val="3C4043"/>
                </a:solidFill>
                <a:latin typeface="Arial"/>
                <a:ea typeface="Arial" pitchFamily="34" charset="-122"/>
                <a:cs typeface="Arial"/>
              </a:rPr>
              <a:t>DoWhy</a:t>
            </a:r>
            <a:r>
              <a:rPr lang="en-US" sz="1400">
                <a:solidFill>
                  <a:srgbClr val="3C4043"/>
                </a:solidFill>
                <a:latin typeface="Arial"/>
                <a:ea typeface="Arial" pitchFamily="34" charset="-122"/>
                <a:cs typeface="Arial"/>
              </a:rPr>
              <a:t>, fixed effects, Double Machine Learning)</a:t>
            </a:r>
            <a:endParaRPr lang="en-US" sz="1400">
              <a:solidFill>
                <a:srgbClr val="000000"/>
              </a:solidFill>
              <a:latin typeface="Arial"/>
              <a:ea typeface="Arial" pitchFamily="34" charset="-122"/>
              <a:cs typeface="Arial"/>
            </a:endParaRPr>
          </a:p>
          <a:p>
            <a:pPr marL="285750" indent="-285750">
              <a:buFont typeface="Arial"/>
              <a:buChar char="•"/>
            </a:pPr>
            <a:r>
              <a:rPr lang="en-US" sz="1400" b="1">
                <a:solidFill>
                  <a:srgbClr val="3C4043"/>
                </a:solidFill>
                <a:latin typeface="Arial"/>
                <a:ea typeface="Arial" pitchFamily="34" charset="-122"/>
                <a:cs typeface="Arial"/>
              </a:rPr>
              <a:t>Supervised block</a:t>
            </a:r>
            <a:r>
              <a:rPr lang="en-US" sz="1400">
                <a:solidFill>
                  <a:srgbClr val="3C4043"/>
                </a:solidFill>
                <a:latin typeface="Arial"/>
                <a:ea typeface="Arial" pitchFamily="34" charset="-122"/>
                <a:cs typeface="Arial"/>
              </a:rPr>
              <a:t> (regression and classification against a grid only baseline)</a:t>
            </a:r>
            <a:endParaRPr lang="en-US" sz="1400">
              <a:solidFill>
                <a:srgbClr val="000000"/>
              </a:solidFill>
              <a:latin typeface="Arial"/>
              <a:ea typeface="Arial" pitchFamily="34" charset="-122"/>
              <a:cs typeface="Arial"/>
            </a:endParaRPr>
          </a:p>
          <a:p>
            <a:pPr marL="285750" indent="-285750">
              <a:buFont typeface="Arial"/>
              <a:buChar char="•"/>
            </a:pPr>
            <a:r>
              <a:rPr lang="en-US" sz="1400" b="1">
                <a:solidFill>
                  <a:srgbClr val="3C4043"/>
                </a:solidFill>
                <a:latin typeface="Arial"/>
                <a:ea typeface="Arial" pitchFamily="34" charset="-122"/>
                <a:cs typeface="Arial"/>
              </a:rPr>
              <a:t>Unsupervised block</a:t>
            </a:r>
            <a:r>
              <a:rPr lang="en-US" sz="1400">
                <a:solidFill>
                  <a:srgbClr val="3C4043"/>
                </a:solidFill>
                <a:latin typeface="Arial"/>
                <a:ea typeface="Arial" pitchFamily="34" charset="-122"/>
                <a:cs typeface="Arial"/>
              </a:rPr>
              <a:t> (K-Means, PCA and a Gaussian mixture).</a:t>
            </a:r>
            <a:endParaRPr lang="en-US" sz="1400">
              <a:latin typeface="Arial"/>
              <a:cs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512064" y="914400"/>
            <a:ext cx="3108960" cy="1645920"/>
          </a:xfrm>
          <a:prstGeom prst="rect">
            <a:avLst/>
          </a:prstGeom>
          <a:noFill/>
          <a:ln/>
        </p:spPr>
        <p:txBody>
          <a:bodyPr wrap="square" lIns="0" tIns="0" rIns="0" bIns="0" rtlCol="0" anchor="ctr"/>
          <a:lstStyle/>
          <a:p>
            <a:pPr marL="0" indent="0">
              <a:buNone/>
            </a:pPr>
            <a:r>
              <a:rPr lang="en-US" sz="10400">
                <a:solidFill>
                  <a:srgbClr val="639A00"/>
                </a:solidFill>
                <a:latin typeface="Arial Black" pitchFamily="34" charset="0"/>
                <a:ea typeface="Arial Black" pitchFamily="34" charset="-122"/>
                <a:cs typeface="Arial Black" pitchFamily="34" charset="-120"/>
              </a:rPr>
              <a:t>02</a:t>
            </a:r>
            <a:endParaRPr lang="en-US" sz="10400"/>
          </a:p>
        </p:txBody>
      </p:sp>
      <p:sp>
        <p:nvSpPr>
          <p:cNvPr id="6" name="Text 3"/>
          <p:cNvSpPr/>
          <p:nvPr/>
        </p:nvSpPr>
        <p:spPr>
          <a:xfrm>
            <a:off x="566928" y="2724912"/>
            <a:ext cx="6126480" cy="822960"/>
          </a:xfrm>
          <a:prstGeom prst="rect">
            <a:avLst/>
          </a:prstGeom>
          <a:noFill/>
          <a:ln/>
        </p:spPr>
        <p:txBody>
          <a:bodyPr wrap="square" lIns="0" tIns="0" rIns="0" bIns="0" rtlCol="0" anchor="ctr"/>
          <a:lstStyle/>
          <a:p>
            <a:pPr marL="0" indent="0">
              <a:buNone/>
            </a:pPr>
            <a:r>
              <a:rPr lang="en-US" sz="3300">
                <a:solidFill>
                  <a:srgbClr val="36393B"/>
                </a:solidFill>
                <a:latin typeface="Arial Black" pitchFamily="34" charset="0"/>
                <a:ea typeface="Arial Black" pitchFamily="34" charset="-122"/>
                <a:cs typeface="Arial Black" pitchFamily="34" charset="-120"/>
              </a:rPr>
              <a:t>EXPLORATORY DATA ANALYSIS</a:t>
            </a:r>
            <a:endParaRPr lang="en-US" sz="33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0EBEC3D-B895-D26E-AABB-C7357E225E3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DF5360C-7007-C77B-B39F-C3627456572E}"/>
              </a:ext>
            </a:extLst>
          </p:cNvPr>
          <p:cNvSpPr/>
          <p:nvPr/>
        </p:nvSpPr>
        <p:spPr>
          <a:xfrm>
            <a:off x="8796528" y="0"/>
            <a:ext cx="347472" cy="5143500"/>
          </a:xfrm>
          <a:prstGeom prst="rect">
            <a:avLst/>
          </a:prstGeom>
          <a:solidFill>
            <a:srgbClr val="639A00"/>
          </a:solidFill>
          <a:ln/>
        </p:spPr>
      </p:sp>
      <p:sp>
        <p:nvSpPr>
          <p:cNvPr id="3" name="Text 1">
            <a:extLst>
              <a:ext uri="{FF2B5EF4-FFF2-40B4-BE49-F238E27FC236}">
                <a16:creationId xmlns:a16="http://schemas.microsoft.com/office/drawing/2014/main" id="{FEF98E9A-577C-73DE-F989-FE2FD6ABCD79}"/>
              </a:ext>
            </a:extLst>
          </p:cNvPr>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a:extLst>
              <a:ext uri="{FF2B5EF4-FFF2-40B4-BE49-F238E27FC236}">
                <a16:creationId xmlns:a16="http://schemas.microsoft.com/office/drawing/2014/main" id="{DA4856D3-09A7-7C97-3A9A-A88A9EC11E09}"/>
              </a:ext>
            </a:extLst>
          </p:cNvPr>
          <p:cNvPicPr>
            <a:picLocks noChangeAspect="1"/>
          </p:cNvPicPr>
          <p:nvPr/>
        </p:nvPicPr>
        <p:blipFill>
          <a:blip r:embed="rId3"/>
          <a:stretch>
            <a:fillRect/>
          </a:stretch>
        </p:blipFill>
        <p:spPr>
          <a:xfrm>
            <a:off x="7479792" y="274320"/>
            <a:ext cx="1170432" cy="205740"/>
          </a:xfrm>
          <a:prstGeom prst="rect">
            <a:avLst/>
          </a:prstGeom>
        </p:spPr>
      </p:pic>
      <p:sp>
        <p:nvSpPr>
          <p:cNvPr id="5" name="Text 2">
            <a:extLst>
              <a:ext uri="{FF2B5EF4-FFF2-40B4-BE49-F238E27FC236}">
                <a16:creationId xmlns:a16="http://schemas.microsoft.com/office/drawing/2014/main" id="{8465C2BC-89E2-E774-C399-36F5E6505A45}"/>
              </a:ext>
            </a:extLst>
          </p:cNvPr>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3</a:t>
            </a:r>
            <a:endParaRPr lang="en-US" sz="1000"/>
          </a:p>
        </p:txBody>
      </p:sp>
      <p:sp>
        <p:nvSpPr>
          <p:cNvPr id="6" name="Text 3">
            <a:extLst>
              <a:ext uri="{FF2B5EF4-FFF2-40B4-BE49-F238E27FC236}">
                <a16:creationId xmlns:a16="http://schemas.microsoft.com/office/drawing/2014/main" id="{7855B94F-4F36-5136-A779-C9FFB4130472}"/>
              </a:ext>
            </a:extLst>
          </p:cNvPr>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EXPLORATORY DATA ANALYSIS</a:t>
            </a:r>
            <a:endParaRPr lang="en-US" sz="1100"/>
          </a:p>
        </p:txBody>
      </p:sp>
      <p:sp>
        <p:nvSpPr>
          <p:cNvPr id="7" name="Text 4">
            <a:extLst>
              <a:ext uri="{FF2B5EF4-FFF2-40B4-BE49-F238E27FC236}">
                <a16:creationId xmlns:a16="http://schemas.microsoft.com/office/drawing/2014/main" id="{38B96C85-C5A4-EA0B-D035-71C994B9A82E}"/>
              </a:ext>
            </a:extLst>
          </p:cNvPr>
          <p:cNvSpPr/>
          <p:nvPr/>
        </p:nvSpPr>
        <p:spPr>
          <a:xfrm>
            <a:off x="548640" y="658368"/>
            <a:ext cx="7863840" cy="566928"/>
          </a:xfrm>
          <a:prstGeom prst="rect">
            <a:avLst/>
          </a:prstGeom>
          <a:noFill/>
          <a:ln/>
        </p:spPr>
        <p:txBody>
          <a:bodyPr wrap="square" lIns="0" tIns="0" rIns="0" bIns="0" rtlCol="0" anchor="ctr"/>
          <a:lstStyle/>
          <a:p>
            <a:r>
              <a:rPr lang="en-US" sz="2600">
                <a:solidFill>
                  <a:srgbClr val="36393B"/>
                </a:solidFill>
                <a:latin typeface="Arial Black"/>
                <a:ea typeface="Calibri"/>
                <a:cs typeface="Calibri"/>
              </a:rPr>
              <a:t>DATA CLEANING </a:t>
            </a:r>
          </a:p>
        </p:txBody>
      </p:sp>
      <p:pic>
        <p:nvPicPr>
          <p:cNvPr id="8" name="Image 1" descr="D:/DAI/f1/dai-mission-group-k/eda_dataquality.png">
            <a:extLst>
              <a:ext uri="{FF2B5EF4-FFF2-40B4-BE49-F238E27FC236}">
                <a16:creationId xmlns:a16="http://schemas.microsoft.com/office/drawing/2014/main" id="{59F81343-0ADC-0586-F63A-E67CD83A680E}"/>
              </a:ext>
            </a:extLst>
          </p:cNvPr>
          <p:cNvPicPr>
            <a:picLocks noChangeAspect="1"/>
          </p:cNvPicPr>
          <p:nvPr/>
        </p:nvPicPr>
        <p:blipFill>
          <a:blip r:embed="rId4"/>
          <a:stretch>
            <a:fillRect/>
          </a:stretch>
        </p:blipFill>
        <p:spPr>
          <a:xfrm>
            <a:off x="547774" y="1574074"/>
            <a:ext cx="4936227" cy="2482813"/>
          </a:xfrm>
          <a:prstGeom prst="rect">
            <a:avLst/>
          </a:prstGeom>
        </p:spPr>
      </p:pic>
      <p:sp>
        <p:nvSpPr>
          <p:cNvPr id="10" name="Text 6">
            <a:extLst>
              <a:ext uri="{FF2B5EF4-FFF2-40B4-BE49-F238E27FC236}">
                <a16:creationId xmlns:a16="http://schemas.microsoft.com/office/drawing/2014/main" id="{D5B211F6-8AC4-1761-A44C-FF1B33179D00}"/>
              </a:ext>
            </a:extLst>
          </p:cNvPr>
          <p:cNvSpPr/>
          <p:nvPr/>
        </p:nvSpPr>
        <p:spPr>
          <a:xfrm>
            <a:off x="6062036" y="2479766"/>
            <a:ext cx="2449286" cy="670125"/>
          </a:xfrm>
          <a:prstGeom prst="rect">
            <a:avLst/>
          </a:prstGeom>
          <a:noFill/>
          <a:ln/>
        </p:spPr>
        <p:txBody>
          <a:bodyPr wrap="square" lIns="0" tIns="0" rIns="0" bIns="0" rtlCol="0" anchor="ctr"/>
          <a:lstStyle/>
          <a:p>
            <a:pPr marL="285750" indent="-285750">
              <a:buFont typeface="Arial"/>
              <a:buChar char="•"/>
            </a:pPr>
            <a:r>
              <a:rPr lang="en-US" sz="1200">
                <a:solidFill>
                  <a:srgbClr val="36393B"/>
                </a:solidFill>
                <a:latin typeface="Arial"/>
                <a:ea typeface="+mn-lt"/>
                <a:cs typeface="Arial"/>
              </a:rPr>
              <a:t>Variables with no usable information (Safety Car, VSC and OpenF1 pit duration) are dropped.</a:t>
            </a:r>
            <a:endParaRPr lang="en-US" sz="1200">
              <a:solidFill>
                <a:srgbClr val="000000"/>
              </a:solidFill>
              <a:latin typeface="Arial"/>
              <a:ea typeface="+mn-lt"/>
              <a:cs typeface="Arial"/>
            </a:endParaRPr>
          </a:p>
          <a:p>
            <a:pPr marL="285750" indent="-285750">
              <a:buFont typeface="Arial"/>
              <a:buChar char="•"/>
            </a:pPr>
            <a:r>
              <a:rPr lang="en-US" sz="1200">
                <a:solidFill>
                  <a:srgbClr val="36393B"/>
                </a:solidFill>
                <a:latin typeface="Arial"/>
                <a:ea typeface="+mn-lt"/>
                <a:cs typeface="Arial"/>
              </a:rPr>
              <a:t>Wet-weather laps are removed, while complete weather and grid variables are retained.</a:t>
            </a:r>
            <a:endParaRPr lang="en-US" sz="1200">
              <a:solidFill>
                <a:srgbClr val="000000"/>
              </a:solidFill>
              <a:latin typeface="Arial"/>
              <a:ea typeface="+mn-lt"/>
              <a:cs typeface="Arial"/>
            </a:endParaRPr>
          </a:p>
          <a:p>
            <a:pPr marL="285750" indent="-285750">
              <a:buFont typeface="Arial"/>
              <a:buChar char="•"/>
            </a:pPr>
            <a:r>
              <a:rPr lang="en-US" sz="1200">
                <a:solidFill>
                  <a:srgbClr val="36393B"/>
                </a:solidFill>
                <a:latin typeface="Arial"/>
                <a:ea typeface="+mn-lt"/>
                <a:cs typeface="Arial"/>
              </a:rPr>
              <a:t>Missing values in </a:t>
            </a:r>
            <a:r>
              <a:rPr lang="en-US" sz="1200" err="1">
                <a:solidFill>
                  <a:srgbClr val="36393B"/>
                </a:solidFill>
                <a:latin typeface="Arial"/>
                <a:ea typeface="+mn-lt"/>
                <a:cs typeface="Arial"/>
              </a:rPr>
              <a:t>tyre</a:t>
            </a:r>
            <a:r>
              <a:rPr lang="en-US" sz="1200">
                <a:solidFill>
                  <a:srgbClr val="36393B"/>
                </a:solidFill>
                <a:latin typeface="Arial"/>
                <a:ea typeface="+mn-lt"/>
                <a:cs typeface="Arial"/>
              </a:rPr>
              <a:t> degradation are imputed using the median to preserve observations without being overly influenced by outliers.</a:t>
            </a:r>
            <a:endParaRPr lang="en-US" sz="1200">
              <a:latin typeface="Arial"/>
              <a:ea typeface="+mn-lt"/>
              <a:cs typeface="Arial"/>
            </a:endParaRPr>
          </a:p>
        </p:txBody>
      </p:sp>
    </p:spTree>
    <p:extLst>
      <p:ext uri="{BB962C8B-B14F-4D97-AF65-F5344CB8AC3E}">
        <p14:creationId xmlns:p14="http://schemas.microsoft.com/office/powerpoint/2010/main" val="1721584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txBody>
          <a:bodyPr/>
          <a:lstStyle/>
          <a:p>
            <a:endParaRPr lang="en-US"/>
          </a:p>
        </p:txBody>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3</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EXPLORATORY DATA ANALYSIS</a:t>
            </a:r>
            <a:endParaRPr lang="en-US" sz="1100"/>
          </a:p>
        </p:txBody>
      </p:sp>
      <p:sp>
        <p:nvSpPr>
          <p:cNvPr id="7" name="Text 4"/>
          <p:cNvSpPr/>
          <p:nvPr/>
        </p:nvSpPr>
        <p:spPr>
          <a:xfrm>
            <a:off x="548640" y="658368"/>
            <a:ext cx="7863840" cy="566928"/>
          </a:xfrm>
          <a:prstGeom prst="rect">
            <a:avLst/>
          </a:prstGeom>
          <a:noFill/>
          <a:ln/>
        </p:spPr>
        <p:txBody>
          <a:bodyPr wrap="square" lIns="0" tIns="0" rIns="0" bIns="0" rtlCol="0" anchor="ctr"/>
          <a:lstStyle/>
          <a:p>
            <a:r>
              <a:rPr lang="en-US" sz="2600">
                <a:solidFill>
                  <a:srgbClr val="36393B"/>
                </a:solidFill>
                <a:latin typeface="Arial Black"/>
                <a:ea typeface="Calibri"/>
                <a:cs typeface="Calibri"/>
              </a:rPr>
              <a:t>FEATURE CORRELATION</a:t>
            </a:r>
          </a:p>
        </p:txBody>
      </p:sp>
      <p:sp>
        <p:nvSpPr>
          <p:cNvPr id="10" name="Text 6"/>
          <p:cNvSpPr/>
          <p:nvPr/>
        </p:nvSpPr>
        <p:spPr>
          <a:xfrm>
            <a:off x="5691922" y="944881"/>
            <a:ext cx="2721429" cy="3250038"/>
          </a:xfrm>
          <a:prstGeom prst="rect">
            <a:avLst/>
          </a:prstGeom>
          <a:noFill/>
          <a:ln/>
        </p:spPr>
        <p:txBody>
          <a:bodyPr wrap="square" lIns="0" tIns="0" rIns="0" bIns="0" rtlCol="0" anchor="ctr"/>
          <a:lstStyle/>
          <a:p>
            <a:r>
              <a:rPr lang="en-US" sz="1200">
                <a:solidFill>
                  <a:srgbClr val="36393B"/>
                </a:solidFill>
                <a:latin typeface="Arial"/>
                <a:ea typeface="+mn-lt"/>
                <a:cs typeface="Arial"/>
              </a:rPr>
              <a:t>The selected predictors exhibit limited multicollinearity, supporting their joint use in the models.</a:t>
            </a:r>
            <a:endParaRPr lang="en-US">
              <a:latin typeface="Arial"/>
              <a:ea typeface="+mn-lt"/>
              <a:cs typeface="Arial"/>
            </a:endParaRPr>
          </a:p>
        </p:txBody>
      </p:sp>
      <p:pic>
        <p:nvPicPr>
          <p:cNvPr id="9" name="Picture 8">
            <a:extLst>
              <a:ext uri="{FF2B5EF4-FFF2-40B4-BE49-F238E27FC236}">
                <a16:creationId xmlns:a16="http://schemas.microsoft.com/office/drawing/2014/main" id="{AAE23D6A-E371-2E66-D1C8-4FAA4DBD5BD5}"/>
              </a:ext>
            </a:extLst>
          </p:cNvPr>
          <p:cNvPicPr>
            <a:picLocks noChangeAspect="1"/>
          </p:cNvPicPr>
          <p:nvPr/>
        </p:nvPicPr>
        <p:blipFill>
          <a:blip r:embed="rId4"/>
          <a:stretch>
            <a:fillRect/>
          </a:stretch>
        </p:blipFill>
        <p:spPr>
          <a:xfrm>
            <a:off x="166246" y="1191985"/>
            <a:ext cx="4680377" cy="382088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5</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EXPLORATORY DATA ANALYSIS</a:t>
            </a:r>
            <a:endParaRPr lang="en-US" sz="1100"/>
          </a:p>
        </p:txBody>
      </p:sp>
      <p:sp>
        <p:nvSpPr>
          <p:cNvPr id="7" name="Text 4"/>
          <p:cNvSpPr/>
          <p:nvPr/>
        </p:nvSpPr>
        <p:spPr>
          <a:xfrm>
            <a:off x="412569" y="642039"/>
            <a:ext cx="8223068" cy="556042"/>
          </a:xfrm>
          <a:prstGeom prst="rect">
            <a:avLst/>
          </a:prstGeom>
          <a:noFill/>
          <a:ln/>
        </p:spPr>
        <p:txBody>
          <a:bodyPr wrap="square" lIns="0" tIns="0" rIns="0" bIns="0" rtlCol="0" anchor="ctr"/>
          <a:lstStyle/>
          <a:p>
            <a:pPr marL="0" indent="0">
              <a:buNone/>
            </a:pPr>
            <a:r>
              <a:rPr lang="en-US" sz="2600">
                <a:solidFill>
                  <a:srgbClr val="36393B"/>
                </a:solidFill>
                <a:latin typeface="Arial Black" pitchFamily="34" charset="0"/>
                <a:ea typeface="Arial Black" pitchFamily="34" charset="-122"/>
                <a:cs typeface="Arial Black" pitchFamily="34" charset="-120"/>
              </a:rPr>
              <a:t>TYRES DEGRADE WITH AGE, BY COMPOUND</a:t>
            </a:r>
            <a:endParaRPr lang="en-US" sz="2600"/>
          </a:p>
        </p:txBody>
      </p:sp>
      <p:pic>
        <p:nvPicPr>
          <p:cNvPr id="8" name="Image 1" descr="D:/DAI/f1/dai-mission-group-k/eda_proposal/02_tyre_degradation.png"/>
          <p:cNvPicPr>
            <a:picLocks noChangeAspect="1"/>
          </p:cNvPicPr>
          <p:nvPr/>
        </p:nvPicPr>
        <p:blipFill>
          <a:blip r:embed="rId4"/>
          <a:stretch>
            <a:fillRect/>
          </a:stretch>
        </p:blipFill>
        <p:spPr>
          <a:xfrm>
            <a:off x="565349" y="1628504"/>
            <a:ext cx="4699693" cy="2858370"/>
          </a:xfrm>
          <a:prstGeom prst="rect">
            <a:avLst/>
          </a:prstGeom>
        </p:spPr>
      </p:pic>
      <p:sp>
        <p:nvSpPr>
          <p:cNvPr id="10" name="Text 6"/>
          <p:cNvSpPr/>
          <p:nvPr/>
        </p:nvSpPr>
        <p:spPr>
          <a:xfrm>
            <a:off x="5849765" y="2762794"/>
            <a:ext cx="2215243" cy="768096"/>
          </a:xfrm>
          <a:prstGeom prst="rect">
            <a:avLst/>
          </a:prstGeom>
          <a:noFill/>
          <a:ln/>
        </p:spPr>
        <p:txBody>
          <a:bodyPr wrap="square" lIns="0" tIns="0" rIns="0" bIns="0" rtlCol="0" anchor="ctr"/>
          <a:lstStyle/>
          <a:p>
            <a:pPr marL="171450" indent="-171450">
              <a:buFont typeface="Arial"/>
              <a:buChar char="•"/>
            </a:pPr>
            <a:r>
              <a:rPr lang="en-US" sz="1200" kern="0" spc="100" err="1">
                <a:solidFill>
                  <a:schemeClr val="tx1">
                    <a:lumMod val="85000"/>
                    <a:lumOff val="15000"/>
                  </a:schemeClr>
                </a:solidFill>
                <a:latin typeface="Arial"/>
                <a:ea typeface="+mn-lt"/>
                <a:cs typeface="Arial"/>
              </a:rPr>
              <a:t>Tyre</a:t>
            </a:r>
            <a:r>
              <a:rPr lang="en-US" sz="1200" kern="0" spc="100">
                <a:solidFill>
                  <a:schemeClr val="tx1">
                    <a:lumMod val="85000"/>
                    <a:lumOff val="15000"/>
                  </a:schemeClr>
                </a:solidFill>
                <a:latin typeface="Arial"/>
                <a:ea typeface="+mn-lt"/>
                <a:cs typeface="Arial"/>
              </a:rPr>
              <a:t> degradation increases as </a:t>
            </a:r>
            <a:r>
              <a:rPr lang="en-US" sz="1200" kern="0" spc="100" err="1">
                <a:solidFill>
                  <a:schemeClr val="tx1">
                    <a:lumMod val="85000"/>
                    <a:lumOff val="15000"/>
                  </a:schemeClr>
                </a:solidFill>
                <a:latin typeface="Arial"/>
                <a:ea typeface="+mn-lt"/>
                <a:cs typeface="Arial"/>
              </a:rPr>
              <a:t>tyres</a:t>
            </a:r>
            <a:r>
              <a:rPr lang="en-US" sz="1200" kern="0" spc="100">
                <a:solidFill>
                  <a:schemeClr val="tx1">
                    <a:lumMod val="85000"/>
                    <a:lumOff val="15000"/>
                  </a:schemeClr>
                </a:solidFill>
                <a:latin typeface="Arial"/>
                <a:ea typeface="+mn-lt"/>
                <a:cs typeface="Arial"/>
              </a:rPr>
              <a:t> age, with softer compounds generally deteriorating faster than harder compounds. </a:t>
            </a:r>
            <a:endParaRPr lang="en-US" sz="1200">
              <a:solidFill>
                <a:schemeClr val="tx1">
                  <a:lumMod val="85000"/>
                  <a:lumOff val="15000"/>
                </a:schemeClr>
              </a:solidFill>
              <a:latin typeface="Arial"/>
              <a:cs typeface="Arial"/>
            </a:endParaRPr>
          </a:p>
          <a:p>
            <a:pPr marL="171450" indent="-171450">
              <a:buFont typeface="Arial"/>
              <a:buChar char="•"/>
            </a:pPr>
            <a:r>
              <a:rPr lang="en-US" sz="1200" kern="0" spc="100">
                <a:solidFill>
                  <a:schemeClr val="tx1">
                    <a:lumMod val="85000"/>
                    <a:lumOff val="15000"/>
                  </a:schemeClr>
                </a:solidFill>
                <a:latin typeface="Arial"/>
                <a:ea typeface="+mn-lt"/>
                <a:cs typeface="Arial"/>
              </a:rPr>
              <a:t>The first lap of each stint is excluded when estimating degradation to avoid the out-lap bias.</a:t>
            </a:r>
            <a:endParaRPr lang="en-US" sz="1200">
              <a:solidFill>
                <a:schemeClr val="tx1">
                  <a:lumMod val="85000"/>
                  <a:lumOff val="15000"/>
                </a:schemeClr>
              </a:solidFill>
              <a:latin typeface="Arial"/>
              <a:cs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4</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EXPLORATORY DATA ANALYSIS</a:t>
            </a:r>
            <a:endParaRPr lang="en-US" sz="1100"/>
          </a:p>
        </p:txBody>
      </p:sp>
      <p:sp>
        <p:nvSpPr>
          <p:cNvPr id="7" name="Text 4"/>
          <p:cNvSpPr/>
          <p:nvPr/>
        </p:nvSpPr>
        <p:spPr>
          <a:xfrm>
            <a:off x="548640" y="658368"/>
            <a:ext cx="7863840" cy="566928"/>
          </a:xfrm>
          <a:prstGeom prst="rect">
            <a:avLst/>
          </a:prstGeom>
          <a:noFill/>
          <a:ln/>
        </p:spPr>
        <p:txBody>
          <a:bodyPr wrap="square" lIns="0" tIns="0" rIns="0" bIns="0" rtlCol="0" anchor="ctr"/>
          <a:lstStyle/>
          <a:p>
            <a:pPr marL="0" indent="0">
              <a:buNone/>
            </a:pPr>
            <a:r>
              <a:rPr lang="en-US" sz="2600">
                <a:solidFill>
                  <a:srgbClr val="36393B"/>
                </a:solidFill>
                <a:latin typeface="Arial Black" pitchFamily="34" charset="0"/>
                <a:ea typeface="Arial Black" pitchFamily="34" charset="-122"/>
                <a:cs typeface="Arial Black" pitchFamily="34" charset="-120"/>
              </a:rPr>
              <a:t>TYRE COMPOUND USAGE</a:t>
            </a:r>
            <a:endParaRPr lang="en-US" sz="2600"/>
          </a:p>
        </p:txBody>
      </p:sp>
      <p:pic>
        <p:nvPicPr>
          <p:cNvPr id="8" name="Image 1" descr="D:/DAI/f1/dai-mission-group-k/eda_proposal/09_compound_usage.png"/>
          <p:cNvPicPr>
            <a:picLocks noChangeAspect="1"/>
          </p:cNvPicPr>
          <p:nvPr/>
        </p:nvPicPr>
        <p:blipFill>
          <a:blip r:embed="rId4"/>
          <a:stretch>
            <a:fillRect/>
          </a:stretch>
        </p:blipFill>
        <p:spPr>
          <a:xfrm>
            <a:off x="637285" y="1486989"/>
            <a:ext cx="4539491" cy="3223042"/>
          </a:xfrm>
          <a:prstGeom prst="rect">
            <a:avLst/>
          </a:prstGeom>
        </p:spPr>
      </p:pic>
      <p:sp>
        <p:nvSpPr>
          <p:cNvPr id="10" name="Text 6"/>
          <p:cNvSpPr/>
          <p:nvPr/>
        </p:nvSpPr>
        <p:spPr>
          <a:xfrm>
            <a:off x="5980392" y="2174965"/>
            <a:ext cx="1905002" cy="773538"/>
          </a:xfrm>
          <a:prstGeom prst="rect">
            <a:avLst/>
          </a:prstGeom>
          <a:noFill/>
          <a:ln/>
        </p:spPr>
        <p:txBody>
          <a:bodyPr wrap="square" lIns="0" tIns="0" rIns="0" bIns="0" rtlCol="0" anchor="ctr"/>
          <a:lstStyle/>
          <a:p>
            <a:r>
              <a:rPr lang="en-US" sz="1200" b="1" kern="0" spc="100" dirty="0">
                <a:solidFill>
                  <a:srgbClr val="4C7A00"/>
                </a:solidFill>
                <a:latin typeface="Arial"/>
                <a:ea typeface="Arial" pitchFamily="34" charset="-122"/>
                <a:cs typeface="Arial"/>
              </a:rPr>
              <a:t> </a:t>
            </a:r>
            <a:r>
              <a:rPr lang="en-US" sz="1200" kern="0" spc="100" dirty="0">
                <a:solidFill>
                  <a:schemeClr val="tx1">
                    <a:lumMod val="85000"/>
                    <a:lumOff val="15000"/>
                  </a:schemeClr>
                </a:solidFill>
                <a:latin typeface="Arial"/>
                <a:ea typeface="+mn-lt"/>
                <a:cs typeface="Arial"/>
              </a:rPr>
              <a:t>Hard and medium compounds account for most laps, while soft </a:t>
            </a:r>
            <a:r>
              <a:rPr lang="en-US" sz="1200" kern="0" spc="100" dirty="0" err="1">
                <a:solidFill>
                  <a:schemeClr val="tx1">
                    <a:lumMod val="85000"/>
                    <a:lumOff val="15000"/>
                  </a:schemeClr>
                </a:solidFill>
                <a:latin typeface="Arial"/>
                <a:ea typeface="+mn-lt"/>
                <a:cs typeface="Arial"/>
              </a:rPr>
              <a:t>tyres</a:t>
            </a:r>
            <a:r>
              <a:rPr lang="en-US" sz="1200" kern="0" spc="100" dirty="0">
                <a:solidFill>
                  <a:schemeClr val="tx1">
                    <a:lumMod val="85000"/>
                    <a:lumOff val="15000"/>
                  </a:schemeClr>
                </a:solidFill>
                <a:latin typeface="Arial"/>
                <a:ea typeface="+mn-lt"/>
                <a:cs typeface="Arial"/>
              </a:rPr>
              <a:t> are used less frequently due to their higher degradation.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6</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EXPLORATORY DATA ANALYSIS</a:t>
            </a:r>
            <a:endParaRPr lang="en-US" sz="1100"/>
          </a:p>
        </p:txBody>
      </p:sp>
      <p:sp>
        <p:nvSpPr>
          <p:cNvPr id="7" name="Text 4"/>
          <p:cNvSpPr/>
          <p:nvPr/>
        </p:nvSpPr>
        <p:spPr>
          <a:xfrm>
            <a:off x="548640" y="658368"/>
            <a:ext cx="7863840" cy="566928"/>
          </a:xfrm>
          <a:prstGeom prst="rect">
            <a:avLst/>
          </a:prstGeom>
          <a:noFill/>
          <a:ln/>
        </p:spPr>
        <p:txBody>
          <a:bodyPr wrap="square" lIns="0" tIns="0" rIns="0" bIns="0" rtlCol="0" anchor="ctr"/>
          <a:lstStyle/>
          <a:p>
            <a:pPr marL="0" indent="0">
              <a:buNone/>
            </a:pPr>
            <a:r>
              <a:rPr lang="en-US" sz="2600">
                <a:solidFill>
                  <a:srgbClr val="36393B"/>
                </a:solidFill>
                <a:latin typeface="Arial Black" pitchFamily="34" charset="0"/>
                <a:ea typeface="Arial Black" pitchFamily="34" charset="-122"/>
                <a:cs typeface="Arial Black" pitchFamily="34" charset="-120"/>
              </a:rPr>
              <a:t>WHEN TEAMS MAKE THE FIRST STOP</a:t>
            </a:r>
            <a:endParaRPr lang="en-US" sz="2600"/>
          </a:p>
        </p:txBody>
      </p:sp>
      <p:pic>
        <p:nvPicPr>
          <p:cNvPr id="8" name="Image 1" descr="D:/DAI/f1/dai-mission-group-k/eda_proposal/03_pit_timing.png"/>
          <p:cNvPicPr>
            <a:picLocks noChangeAspect="1"/>
          </p:cNvPicPr>
          <p:nvPr/>
        </p:nvPicPr>
        <p:blipFill>
          <a:blip r:embed="rId4"/>
          <a:stretch>
            <a:fillRect/>
          </a:stretch>
        </p:blipFill>
        <p:spPr>
          <a:xfrm>
            <a:off x="456491" y="1574074"/>
            <a:ext cx="4677922" cy="2836599"/>
          </a:xfrm>
          <a:prstGeom prst="rect">
            <a:avLst/>
          </a:prstGeom>
        </p:spPr>
      </p:pic>
      <p:sp>
        <p:nvSpPr>
          <p:cNvPr id="10" name="Text 6"/>
          <p:cNvSpPr/>
          <p:nvPr/>
        </p:nvSpPr>
        <p:spPr>
          <a:xfrm>
            <a:off x="5876979" y="2555965"/>
            <a:ext cx="2536372" cy="729996"/>
          </a:xfrm>
          <a:prstGeom prst="rect">
            <a:avLst/>
          </a:prstGeom>
          <a:noFill/>
          <a:ln/>
        </p:spPr>
        <p:txBody>
          <a:bodyPr wrap="square" lIns="0" tIns="0" rIns="0" bIns="0" rtlCol="0" anchor="ctr"/>
          <a:lstStyle/>
          <a:p>
            <a:r>
              <a:rPr lang="en-US" sz="1200" b="1" kern="0" spc="100">
                <a:solidFill>
                  <a:srgbClr val="4C7A00"/>
                </a:solidFill>
                <a:latin typeface="Arial"/>
                <a:ea typeface="Arial" pitchFamily="34" charset="-122"/>
                <a:cs typeface="Arial"/>
              </a:rPr>
              <a:t> </a:t>
            </a:r>
            <a:r>
              <a:rPr lang="en-US" sz="1200" kern="0" spc="100">
                <a:solidFill>
                  <a:schemeClr val="tx1">
                    <a:lumMod val="85000"/>
                    <a:lumOff val="15000"/>
                  </a:schemeClr>
                </a:solidFill>
                <a:latin typeface="Arial"/>
                <a:ea typeface="+mn-lt"/>
                <a:cs typeface="Arial"/>
              </a:rPr>
              <a:t>First pit stops occur across a wide range of the race, indicating substantial variation in pit timing. The 40% race-progress threshold defines the treatment variable, classifying stops as early or late for the causal analysis.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7</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EXPLORATORY DATA ANALYSIS</a:t>
            </a:r>
            <a:endParaRPr lang="en-US" sz="1100"/>
          </a:p>
        </p:txBody>
      </p:sp>
      <p:sp>
        <p:nvSpPr>
          <p:cNvPr id="7" name="Text 4"/>
          <p:cNvSpPr/>
          <p:nvPr/>
        </p:nvSpPr>
        <p:spPr>
          <a:xfrm>
            <a:off x="548640" y="658368"/>
            <a:ext cx="7863840" cy="566928"/>
          </a:xfrm>
          <a:prstGeom prst="rect">
            <a:avLst/>
          </a:prstGeom>
          <a:noFill/>
          <a:ln/>
        </p:spPr>
        <p:txBody>
          <a:bodyPr wrap="square" lIns="0" tIns="0" rIns="0" bIns="0" rtlCol="0" anchor="ctr"/>
          <a:lstStyle/>
          <a:p>
            <a:pPr marL="0" indent="0">
              <a:buNone/>
            </a:pPr>
            <a:r>
              <a:rPr lang="en-US" sz="2600">
                <a:solidFill>
                  <a:srgbClr val="36393B"/>
                </a:solidFill>
                <a:latin typeface="Arial Black" pitchFamily="34" charset="0"/>
                <a:ea typeface="Arial Black" pitchFamily="34" charset="-122"/>
                <a:cs typeface="Arial Black" pitchFamily="34" charset="-120"/>
              </a:rPr>
              <a:t>THE GRID CEILING</a:t>
            </a:r>
            <a:endParaRPr lang="en-US" sz="2600"/>
          </a:p>
        </p:txBody>
      </p:sp>
      <p:pic>
        <p:nvPicPr>
          <p:cNvPr id="8" name="Image 1" descr="D:/DAI/f1/dai-mission-group-k/eda_proposal/12_outcome_vs_grid.png"/>
          <p:cNvPicPr>
            <a:picLocks noChangeAspect="1"/>
          </p:cNvPicPr>
          <p:nvPr/>
        </p:nvPicPr>
        <p:blipFill>
          <a:blip r:embed="rId4"/>
          <a:stretch>
            <a:fillRect/>
          </a:stretch>
        </p:blipFill>
        <p:spPr>
          <a:xfrm>
            <a:off x="750405" y="1361803"/>
            <a:ext cx="4569065" cy="2803942"/>
          </a:xfrm>
          <a:prstGeom prst="rect">
            <a:avLst/>
          </a:prstGeom>
        </p:spPr>
      </p:pic>
      <p:sp>
        <p:nvSpPr>
          <p:cNvPr id="10" name="Text 6"/>
          <p:cNvSpPr/>
          <p:nvPr/>
        </p:nvSpPr>
        <p:spPr>
          <a:xfrm>
            <a:off x="5882422" y="2011680"/>
            <a:ext cx="2084615" cy="762654"/>
          </a:xfrm>
          <a:prstGeom prst="rect">
            <a:avLst/>
          </a:prstGeom>
          <a:noFill/>
          <a:ln/>
        </p:spPr>
        <p:txBody>
          <a:bodyPr wrap="square" lIns="0" tIns="0" rIns="0" bIns="0" rtlCol="0" anchor="ctr"/>
          <a:lstStyle/>
          <a:p>
            <a:r>
              <a:rPr lang="en-US" sz="1200">
                <a:solidFill>
                  <a:srgbClr val="36393B"/>
                </a:solidFill>
                <a:latin typeface="Arial"/>
                <a:ea typeface="+mn-lt"/>
                <a:cs typeface="Arial"/>
              </a:rPr>
              <a:t>Net positions gained depend strongly on starting grid position, with drivers further back having greater opportunity to gain places</a:t>
            </a:r>
            <a:endParaRPr lang="en-US" sz="1200">
              <a:latin typeface="Arial"/>
              <a:cs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512064" y="914400"/>
            <a:ext cx="3108960" cy="1645920"/>
          </a:xfrm>
          <a:prstGeom prst="rect">
            <a:avLst/>
          </a:prstGeom>
          <a:noFill/>
          <a:ln/>
        </p:spPr>
        <p:txBody>
          <a:bodyPr wrap="square" lIns="0" tIns="0" rIns="0" bIns="0" rtlCol="0" anchor="ctr"/>
          <a:lstStyle/>
          <a:p>
            <a:pPr marL="0" indent="0">
              <a:buNone/>
            </a:pPr>
            <a:r>
              <a:rPr lang="en-US" sz="10400">
                <a:solidFill>
                  <a:srgbClr val="639A00"/>
                </a:solidFill>
                <a:latin typeface="Arial Black" pitchFamily="34" charset="0"/>
                <a:ea typeface="Arial Black" pitchFamily="34" charset="-122"/>
                <a:cs typeface="Arial Black" pitchFamily="34" charset="-120"/>
              </a:rPr>
              <a:t>03</a:t>
            </a:r>
            <a:endParaRPr lang="en-US" sz="10400"/>
          </a:p>
        </p:txBody>
      </p:sp>
      <p:sp>
        <p:nvSpPr>
          <p:cNvPr id="6" name="Text 3"/>
          <p:cNvSpPr/>
          <p:nvPr/>
        </p:nvSpPr>
        <p:spPr>
          <a:xfrm>
            <a:off x="566928" y="2724912"/>
            <a:ext cx="6126480" cy="822960"/>
          </a:xfrm>
          <a:prstGeom prst="rect">
            <a:avLst/>
          </a:prstGeom>
          <a:noFill/>
          <a:ln/>
        </p:spPr>
        <p:txBody>
          <a:bodyPr wrap="square" lIns="0" tIns="0" rIns="0" bIns="0" rtlCol="0" anchor="ctr"/>
          <a:lstStyle/>
          <a:p>
            <a:pPr marL="0" indent="0">
              <a:buNone/>
            </a:pPr>
            <a:r>
              <a:rPr lang="en-US" sz="3300">
                <a:solidFill>
                  <a:srgbClr val="36393B"/>
                </a:solidFill>
                <a:latin typeface="Arial Black" pitchFamily="34" charset="0"/>
                <a:ea typeface="Arial Black" pitchFamily="34" charset="-122"/>
                <a:cs typeface="Arial Black" pitchFamily="34" charset="-120"/>
              </a:rPr>
              <a:t>CAUSAL INFERENCE</a:t>
            </a:r>
            <a:endParaRPr lang="en-US" sz="33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OBJECTIVE</a:t>
            </a:r>
            <a:endParaRPr lang="en-US" sz="1100"/>
          </a:p>
        </p:txBody>
      </p:sp>
      <p:sp>
        <p:nvSpPr>
          <p:cNvPr id="7" name="Text 4"/>
          <p:cNvSpPr/>
          <p:nvPr/>
        </p:nvSpPr>
        <p:spPr>
          <a:xfrm>
            <a:off x="548640" y="658368"/>
            <a:ext cx="7863840" cy="566928"/>
          </a:xfrm>
          <a:prstGeom prst="rect">
            <a:avLst/>
          </a:prstGeom>
          <a:noFill/>
          <a:ln/>
        </p:spPr>
        <p:txBody>
          <a:bodyPr wrap="square" lIns="0" tIns="0" rIns="0" bIns="0" rtlCol="0" anchor="ctr"/>
          <a:lstStyle/>
          <a:p>
            <a:pPr marL="0" indent="0">
              <a:buNone/>
            </a:pPr>
            <a:r>
              <a:rPr lang="en-US" sz="2600">
                <a:solidFill>
                  <a:srgbClr val="36393B"/>
                </a:solidFill>
                <a:latin typeface="Arial Black" pitchFamily="34" charset="0"/>
                <a:ea typeface="Arial Black" pitchFamily="34" charset="-122"/>
                <a:cs typeface="Arial Black" pitchFamily="34" charset="-120"/>
              </a:rPr>
              <a:t>WHY THIS NEEDS CAUSAL INFERENCE</a:t>
            </a:r>
            <a:endParaRPr lang="en-US" sz="2600"/>
          </a:p>
        </p:txBody>
      </p:sp>
      <p:sp>
        <p:nvSpPr>
          <p:cNvPr id="8" name="Text 5"/>
          <p:cNvSpPr/>
          <p:nvPr/>
        </p:nvSpPr>
        <p:spPr>
          <a:xfrm>
            <a:off x="554083" y="1678577"/>
            <a:ext cx="8095704" cy="130630"/>
          </a:xfrm>
          <a:prstGeom prst="rect">
            <a:avLst/>
          </a:prstGeom>
          <a:noFill/>
          <a:ln/>
        </p:spPr>
        <p:txBody>
          <a:bodyPr wrap="square" lIns="0" tIns="0" rIns="0" bIns="0" rtlCol="0" anchor="ctr"/>
          <a:lstStyle/>
          <a:p>
            <a:pPr marL="0" indent="0">
              <a:buNone/>
            </a:pPr>
            <a:r>
              <a:rPr lang="en-US" sz="1350" b="1">
                <a:solidFill>
                  <a:srgbClr val="4C7A00"/>
                </a:solidFill>
                <a:latin typeface="Arial" pitchFamily="34" charset="0"/>
                <a:ea typeface="Arial" pitchFamily="34" charset="-122"/>
                <a:cs typeface="Arial" pitchFamily="34" charset="-120"/>
              </a:rPr>
              <a:t>Car quality is a confounder. </a:t>
            </a:r>
            <a:r>
              <a:rPr lang="en-US" sz="1350">
                <a:solidFill>
                  <a:srgbClr val="3C4043"/>
                </a:solidFill>
                <a:latin typeface="Arial" pitchFamily="34" charset="0"/>
                <a:ea typeface="Arial" pitchFamily="34" charset="-122"/>
                <a:cs typeface="Arial" pitchFamily="34" charset="-120"/>
              </a:rPr>
              <a:t>It changes both when a team pits and how the race ends.</a:t>
            </a:r>
            <a:endParaRPr lang="en-US" sz="1350"/>
          </a:p>
          <a:p>
            <a:pPr marL="0" indent="0">
              <a:buNone/>
            </a:pPr>
            <a:r>
              <a:rPr lang="en-US" sz="1350">
                <a:solidFill>
                  <a:srgbClr val="000000"/>
                </a:solidFill>
                <a:latin typeface="Arial"/>
                <a:ea typeface="Arial" pitchFamily="34" charset="-122"/>
                <a:cs typeface="Arial"/>
              </a:rPr>
              <a:t>
</a:t>
            </a:r>
            <a:endParaRPr lang="en-US" sz="1350">
              <a:latin typeface="Arial"/>
              <a:cs typeface="Arial"/>
            </a:endParaRPr>
          </a:p>
          <a:p>
            <a:pPr marL="0" indent="0">
              <a:buNone/>
            </a:pPr>
            <a:endParaRPr lang="en-US" sz="1350">
              <a:solidFill>
                <a:srgbClr val="3C4043"/>
              </a:solidFill>
              <a:latin typeface="Arial"/>
              <a:cs typeface="Arial"/>
            </a:endParaRPr>
          </a:p>
        </p:txBody>
      </p:sp>
      <p:pic>
        <p:nvPicPr>
          <p:cNvPr id="9" name="Image 1" descr="D:/DAI/f1/dai-mission-group-k/eda_confounding.png"/>
          <p:cNvPicPr>
            <a:picLocks noChangeAspect="1"/>
          </p:cNvPicPr>
          <p:nvPr/>
        </p:nvPicPr>
        <p:blipFill>
          <a:blip r:embed="rId4"/>
          <a:stretch>
            <a:fillRect/>
          </a:stretch>
        </p:blipFill>
        <p:spPr>
          <a:xfrm>
            <a:off x="653567" y="1677489"/>
            <a:ext cx="6922465" cy="2240280"/>
          </a:xfrm>
          <a:prstGeom prst="rect">
            <a:avLst/>
          </a:prstGeom>
        </p:spPr>
      </p:pic>
      <p:sp>
        <p:nvSpPr>
          <p:cNvPr id="11" name="TextBox 10">
            <a:extLst>
              <a:ext uri="{FF2B5EF4-FFF2-40B4-BE49-F238E27FC236}">
                <a16:creationId xmlns:a16="http://schemas.microsoft.com/office/drawing/2014/main" id="{8105C9DF-64D0-BB92-7B06-61F710733A34}"/>
              </a:ext>
            </a:extLst>
          </p:cNvPr>
          <p:cNvSpPr txBox="1"/>
          <p:nvPr/>
        </p:nvSpPr>
        <p:spPr>
          <a:xfrm>
            <a:off x="1190281" y="4110591"/>
            <a:ext cx="6580414"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171450" indent="-171450">
              <a:buFont typeface="Arial"/>
              <a:buChar char="•"/>
            </a:pPr>
            <a:r>
              <a:rPr lang="en-US" sz="1200">
                <a:solidFill>
                  <a:srgbClr val="3C4043"/>
                </a:solidFill>
                <a:latin typeface="Arial"/>
                <a:cs typeface="Arial"/>
              </a:rPr>
              <a:t>The early stop rate rises for weaker cars.</a:t>
            </a:r>
            <a:endParaRPr lang="en-US" sz="1200">
              <a:latin typeface="Arial"/>
              <a:ea typeface="Calibri"/>
              <a:cs typeface="Arial"/>
            </a:endParaRPr>
          </a:p>
        </p:txBody>
      </p:sp>
      <p:sp>
        <p:nvSpPr>
          <p:cNvPr id="12" name="TextBox 11">
            <a:extLst>
              <a:ext uri="{FF2B5EF4-FFF2-40B4-BE49-F238E27FC236}">
                <a16:creationId xmlns:a16="http://schemas.microsoft.com/office/drawing/2014/main" id="{4FC7AADB-0071-442F-D34C-702F42633D2E}"/>
              </a:ext>
            </a:extLst>
          </p:cNvPr>
          <p:cNvSpPr txBox="1"/>
          <p:nvPr/>
        </p:nvSpPr>
        <p:spPr>
          <a:xfrm>
            <a:off x="1199134" y="4386272"/>
            <a:ext cx="6237513"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171450" indent="-171450">
              <a:buFont typeface="Arial"/>
              <a:buChar char="•"/>
            </a:pPr>
            <a:r>
              <a:rPr lang="en-US" sz="1200">
                <a:solidFill>
                  <a:srgbClr val="3C4043"/>
                </a:solidFill>
                <a:latin typeface="Arial"/>
                <a:ea typeface="+mn-lt"/>
                <a:cs typeface="Arial"/>
              </a:rPr>
              <a:t>Weaker cars tend to pit early and finish worse, so just comparing early and late stoppers really compares cars, not strategies. </a:t>
            </a:r>
            <a:endParaRPr lang="en-US" sz="1200">
              <a:solidFill>
                <a:srgbClr val="000000"/>
              </a:solidFill>
              <a:latin typeface="Arial"/>
              <a:ea typeface="+mn-lt"/>
              <a:cs typeface="Arial"/>
            </a:endParaRPr>
          </a:p>
          <a:p>
            <a:pPr marL="171450" indent="-171450">
              <a:buFont typeface="Arial"/>
              <a:buChar char="•"/>
            </a:pPr>
            <a:r>
              <a:rPr lang="en-US" sz="1200">
                <a:solidFill>
                  <a:srgbClr val="3C4043"/>
                </a:solidFill>
                <a:latin typeface="Arial"/>
                <a:ea typeface="+mn-lt"/>
                <a:cs typeface="Arial"/>
              </a:rPr>
              <a:t>We measure the effect of the pit decision itself, with car quality held equal.</a:t>
            </a:r>
            <a:endParaRPr lang="en-US" sz="1200">
              <a:latin typeface="Arial"/>
              <a:ea typeface="+mn-lt"/>
              <a:cs typeface="Arial"/>
            </a:endParaRPr>
          </a:p>
          <a:p>
            <a:pPr marL="171450" indent="-171450" algn="l">
              <a:buFont typeface="Arial"/>
              <a:buChar char="•"/>
            </a:pPr>
            <a:endParaRPr lang="en-US" sz="1200">
              <a:latin typeface="Arial"/>
              <a:ea typeface="Calibri"/>
              <a:cs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10</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SETUP</a:t>
            </a:r>
            <a:endParaRPr lang="en-US" sz="1100"/>
          </a:p>
        </p:txBody>
      </p:sp>
      <p:sp>
        <p:nvSpPr>
          <p:cNvPr id="7" name="Text 4"/>
          <p:cNvSpPr/>
          <p:nvPr/>
        </p:nvSpPr>
        <p:spPr>
          <a:xfrm>
            <a:off x="548640" y="658368"/>
            <a:ext cx="7863840" cy="566928"/>
          </a:xfrm>
          <a:prstGeom prst="rect">
            <a:avLst/>
          </a:prstGeom>
          <a:noFill/>
          <a:ln/>
        </p:spPr>
        <p:txBody>
          <a:bodyPr wrap="square" lIns="0" tIns="0" rIns="0" bIns="0" rtlCol="0" anchor="ctr"/>
          <a:lstStyle/>
          <a:p>
            <a:pPr marL="0" indent="0">
              <a:buNone/>
            </a:pPr>
            <a:r>
              <a:rPr lang="en-US" sz="2600">
                <a:solidFill>
                  <a:srgbClr val="36393B"/>
                </a:solidFill>
                <a:latin typeface="Arial Black" pitchFamily="34" charset="0"/>
                <a:ea typeface="Arial Black" pitchFamily="34" charset="-122"/>
                <a:cs typeface="Arial Black" pitchFamily="34" charset="-120"/>
              </a:rPr>
              <a:t>TARGET, FEATURES AND ESTIMATION</a:t>
            </a:r>
            <a:endParaRPr lang="en-US" sz="2600"/>
          </a:p>
        </p:txBody>
      </p:sp>
      <p:sp>
        <p:nvSpPr>
          <p:cNvPr id="8" name="Text 5"/>
          <p:cNvSpPr/>
          <p:nvPr/>
        </p:nvSpPr>
        <p:spPr>
          <a:xfrm>
            <a:off x="548640" y="1481328"/>
            <a:ext cx="8046720" cy="566928"/>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Treatment:   </a:t>
            </a:r>
            <a:r>
              <a:rPr lang="en-US" sz="1400">
                <a:solidFill>
                  <a:srgbClr val="3C4043"/>
                </a:solidFill>
                <a:latin typeface="Arial"/>
                <a:ea typeface="Arial" pitchFamily="34" charset="-122"/>
                <a:cs typeface="Arial"/>
              </a:rPr>
              <a:t>Early pit, the first stop before 40% of the race (a binary flag).</a:t>
            </a:r>
            <a:endParaRPr lang="en-US" sz="1400">
              <a:latin typeface="Arial"/>
              <a:cs typeface="Arial"/>
            </a:endParaRPr>
          </a:p>
        </p:txBody>
      </p:sp>
      <p:sp>
        <p:nvSpPr>
          <p:cNvPr id="9" name="Text 6"/>
          <p:cNvSpPr/>
          <p:nvPr/>
        </p:nvSpPr>
        <p:spPr>
          <a:xfrm>
            <a:off x="548640" y="2139696"/>
            <a:ext cx="8046720" cy="566928"/>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Outcome (target):  </a:t>
            </a:r>
            <a:r>
              <a:rPr lang="en-US" sz="1400" err="1">
                <a:solidFill>
                  <a:srgbClr val="3C4043"/>
                </a:solidFill>
                <a:latin typeface="Arial"/>
                <a:ea typeface="Arial" pitchFamily="34" charset="-122"/>
                <a:cs typeface="Arial"/>
              </a:rPr>
              <a:t>position_vs_start</a:t>
            </a:r>
            <a:r>
              <a:rPr lang="en-US" sz="1400">
                <a:solidFill>
                  <a:srgbClr val="3C4043"/>
                </a:solidFill>
                <a:latin typeface="Arial"/>
                <a:ea typeface="Arial" pitchFamily="34" charset="-122"/>
                <a:cs typeface="Arial"/>
              </a:rPr>
              <a:t>, the net positions gained versus the grid, per driver-race.</a:t>
            </a:r>
            <a:endParaRPr lang="en-US" sz="1400">
              <a:latin typeface="Arial"/>
              <a:cs typeface="Arial"/>
            </a:endParaRPr>
          </a:p>
        </p:txBody>
      </p:sp>
      <p:sp>
        <p:nvSpPr>
          <p:cNvPr id="10" name="Text 7"/>
          <p:cNvSpPr/>
          <p:nvPr/>
        </p:nvSpPr>
        <p:spPr>
          <a:xfrm>
            <a:off x="548640" y="2798064"/>
            <a:ext cx="8046720" cy="566928"/>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Features:  </a:t>
            </a:r>
            <a:r>
              <a:rPr lang="en-US" sz="1400">
                <a:solidFill>
                  <a:srgbClr val="3C4043"/>
                </a:solidFill>
                <a:latin typeface="Arial"/>
                <a:ea typeface="Arial" pitchFamily="34" charset="-122"/>
                <a:cs typeface="Arial"/>
              </a:rPr>
              <a:t>Car tier, grid slot, track temperature and rainfall, plus race and constructor fixed effects.</a:t>
            </a:r>
            <a:endParaRPr lang="en-US" sz="1400">
              <a:latin typeface="Arial"/>
              <a:cs typeface="Arial"/>
            </a:endParaRPr>
          </a:p>
        </p:txBody>
      </p:sp>
      <p:sp>
        <p:nvSpPr>
          <p:cNvPr id="11" name="Text 8"/>
          <p:cNvSpPr/>
          <p:nvPr/>
        </p:nvSpPr>
        <p:spPr>
          <a:xfrm>
            <a:off x="548640" y="3456432"/>
            <a:ext cx="8046720" cy="566928"/>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Scope: </a:t>
            </a:r>
            <a:r>
              <a:rPr lang="en-US" sz="1400">
                <a:solidFill>
                  <a:srgbClr val="3C4043"/>
                </a:solidFill>
                <a:latin typeface="Arial"/>
                <a:ea typeface="Arial" pitchFamily="34" charset="-122"/>
                <a:cs typeface="Arial"/>
              </a:rPr>
              <a:t>The 2023 and 2024 seasons, about 660 driver races.</a:t>
            </a:r>
            <a:endParaRPr lang="en-US" sz="1400">
              <a:latin typeface="Arial"/>
              <a:cs typeface="Arial"/>
            </a:endParaRPr>
          </a:p>
        </p:txBody>
      </p:sp>
      <p:sp>
        <p:nvSpPr>
          <p:cNvPr id="12" name="Text 9"/>
          <p:cNvSpPr/>
          <p:nvPr/>
        </p:nvSpPr>
        <p:spPr>
          <a:xfrm>
            <a:off x="548640" y="4114800"/>
            <a:ext cx="8046720" cy="566928"/>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Estimation:  </a:t>
            </a:r>
            <a:r>
              <a:rPr lang="en-US" sz="1400">
                <a:solidFill>
                  <a:srgbClr val="3C4043"/>
                </a:solidFill>
                <a:latin typeface="Arial"/>
                <a:ea typeface="Arial" pitchFamily="34" charset="-122"/>
                <a:cs typeface="Arial"/>
              </a:rPr>
              <a:t>Fit each estimator, cluster errors by race, sweep the cut off, cross fit Double ML over 10 seeds.</a:t>
            </a:r>
            <a:endParaRPr lang="en-US" sz="1400">
              <a:latin typeface="Arial"/>
              <a:cs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11</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METHODOLOGY</a:t>
            </a:r>
            <a:endParaRPr lang="en-US" sz="1100"/>
          </a:p>
        </p:txBody>
      </p:sp>
      <p:sp>
        <p:nvSpPr>
          <p:cNvPr id="7" name="Text 4"/>
          <p:cNvSpPr/>
          <p:nvPr/>
        </p:nvSpPr>
        <p:spPr>
          <a:xfrm>
            <a:off x="548640" y="658368"/>
            <a:ext cx="7863840" cy="566928"/>
          </a:xfrm>
          <a:prstGeom prst="rect">
            <a:avLst/>
          </a:prstGeom>
          <a:noFill/>
          <a:ln/>
        </p:spPr>
        <p:txBody>
          <a:bodyPr wrap="square" lIns="0" tIns="0" rIns="0" bIns="0" rtlCol="0" anchor="ctr"/>
          <a:lstStyle/>
          <a:p>
            <a:pPr marL="0" indent="0">
              <a:buNone/>
            </a:pPr>
            <a:r>
              <a:rPr lang="en-US" sz="2600">
                <a:solidFill>
                  <a:srgbClr val="36393B"/>
                </a:solidFill>
                <a:latin typeface="Arial Black" pitchFamily="34" charset="0"/>
                <a:ea typeface="Arial Black" pitchFamily="34" charset="-122"/>
                <a:cs typeface="Arial Black" pitchFamily="34" charset="-120"/>
              </a:rPr>
              <a:t>FROM A DIAGRAM TO A FAIR COMPARISON</a:t>
            </a:r>
            <a:endParaRPr lang="en-US" sz="2600"/>
          </a:p>
        </p:txBody>
      </p:sp>
      <p:sp>
        <p:nvSpPr>
          <p:cNvPr id="8" name="Text 5"/>
          <p:cNvSpPr/>
          <p:nvPr/>
        </p:nvSpPr>
        <p:spPr>
          <a:xfrm>
            <a:off x="548640" y="1519645"/>
            <a:ext cx="4572000" cy="3098075"/>
          </a:xfrm>
          <a:prstGeom prst="rect">
            <a:avLst/>
          </a:prstGeom>
          <a:noFill/>
          <a:ln/>
        </p:spPr>
        <p:txBody>
          <a:bodyPr wrap="square" lIns="0" tIns="0" rIns="0" bIns="0" rtlCol="0" anchor="ctr"/>
          <a:lstStyle/>
          <a:p>
            <a:r>
              <a:rPr lang="en-US" sz="1200" b="1">
                <a:solidFill>
                  <a:srgbClr val="4C7A00"/>
                </a:solidFill>
                <a:latin typeface="Arial"/>
                <a:ea typeface="Arial" pitchFamily="34" charset="-122"/>
                <a:cs typeface="Arial"/>
              </a:rPr>
              <a:t>Backdoor set:  </a:t>
            </a:r>
            <a:endParaRPr lang="en-US" sz="1200">
              <a:solidFill>
                <a:srgbClr val="000000"/>
              </a:solidFill>
              <a:latin typeface="Arial"/>
              <a:ea typeface="Arial" pitchFamily="34" charset="-122"/>
              <a:cs typeface="Arial"/>
            </a:endParaRPr>
          </a:p>
          <a:p>
            <a:r>
              <a:rPr lang="en-US" sz="1200">
                <a:solidFill>
                  <a:srgbClr val="3C4043"/>
                </a:solidFill>
                <a:latin typeface="Arial"/>
                <a:ea typeface="Arial" pitchFamily="34" charset="-122"/>
                <a:cs typeface="Arial"/>
              </a:rPr>
              <a:t>Car tier, grid slot, track temperature and rainfall, all observed.</a:t>
            </a:r>
            <a:endParaRPr lang="en-US" sz="1200">
              <a:latin typeface="Arial"/>
              <a:cs typeface="Arial"/>
            </a:endParaRPr>
          </a:p>
          <a:p>
            <a:pPr marL="0" indent="0">
              <a:buNone/>
            </a:pPr>
            <a:r>
              <a:rPr lang="en-US" sz="1400">
                <a:solidFill>
                  <a:srgbClr val="000000"/>
                </a:solidFill>
                <a:latin typeface="Arial"/>
                <a:ea typeface="Arial" pitchFamily="34" charset="-122"/>
                <a:cs typeface="Arial"/>
              </a:rPr>
              <a:t>
</a:t>
            </a:r>
            <a:endParaRPr lang="en-US" sz="1200">
              <a:latin typeface="Arial"/>
              <a:cs typeface="Arial"/>
            </a:endParaRPr>
          </a:p>
          <a:p>
            <a:r>
              <a:rPr lang="en-US" sz="1200" b="1">
                <a:solidFill>
                  <a:srgbClr val="4C7A00"/>
                </a:solidFill>
                <a:latin typeface="Arial"/>
                <a:ea typeface="Arial" pitchFamily="34" charset="-122"/>
                <a:cs typeface="Arial"/>
              </a:rPr>
              <a:t>Standard to strict:  </a:t>
            </a:r>
            <a:endParaRPr lang="en-US" sz="1200">
              <a:solidFill>
                <a:srgbClr val="000000"/>
              </a:solidFill>
              <a:latin typeface="Arial"/>
              <a:ea typeface="Arial" pitchFamily="34" charset="-122"/>
              <a:cs typeface="Arial"/>
            </a:endParaRPr>
          </a:p>
          <a:p>
            <a:r>
              <a:rPr lang="en-US" sz="1200">
                <a:solidFill>
                  <a:srgbClr val="3C4043"/>
                </a:solidFill>
                <a:latin typeface="Arial"/>
                <a:ea typeface="Arial" pitchFamily="34" charset="-122"/>
                <a:cs typeface="Arial"/>
              </a:rPr>
              <a:t>We build up from a backdoor adjustment in </a:t>
            </a:r>
            <a:r>
              <a:rPr lang="en-US" sz="1200" err="1">
                <a:solidFill>
                  <a:srgbClr val="3C4043"/>
                </a:solidFill>
                <a:latin typeface="Arial"/>
                <a:ea typeface="Arial" pitchFamily="34" charset="-122"/>
                <a:cs typeface="Arial"/>
              </a:rPr>
              <a:t>DoWhy</a:t>
            </a:r>
            <a:r>
              <a:rPr lang="en-US" sz="1200">
                <a:solidFill>
                  <a:srgbClr val="3C4043"/>
                </a:solidFill>
                <a:latin typeface="Arial"/>
                <a:ea typeface="Arial" pitchFamily="34" charset="-122"/>
                <a:cs typeface="Arial"/>
              </a:rPr>
              <a:t>, to </a:t>
            </a:r>
            <a:r>
              <a:rPr lang="en-US" sz="1200" err="1">
                <a:solidFill>
                  <a:srgbClr val="3C4043"/>
                </a:solidFill>
                <a:latin typeface="Arial"/>
                <a:ea typeface="Arial" pitchFamily="34" charset="-122"/>
                <a:cs typeface="Arial"/>
              </a:rPr>
              <a:t>two way</a:t>
            </a:r>
            <a:r>
              <a:rPr lang="en-US" sz="1200">
                <a:solidFill>
                  <a:srgbClr val="3C4043"/>
                </a:solidFill>
                <a:latin typeface="Arial"/>
                <a:ea typeface="Arial" pitchFamily="34" charset="-122"/>
                <a:cs typeface="Arial"/>
              </a:rPr>
              <a:t> fixed effects, to Double Machine Learning.</a:t>
            </a:r>
            <a:endParaRPr lang="en-US" sz="1200">
              <a:latin typeface="Arial"/>
              <a:cs typeface="Arial"/>
            </a:endParaRPr>
          </a:p>
          <a:p>
            <a:pPr marL="0" indent="0">
              <a:buNone/>
            </a:pPr>
            <a:r>
              <a:rPr lang="en-US" sz="1400">
                <a:solidFill>
                  <a:srgbClr val="000000"/>
                </a:solidFill>
                <a:latin typeface="Arial"/>
                <a:ea typeface="Arial" pitchFamily="34" charset="-122"/>
                <a:cs typeface="Arial"/>
              </a:rPr>
              <a:t>
</a:t>
            </a:r>
            <a:endParaRPr lang="en-US" sz="1200">
              <a:latin typeface="Arial"/>
              <a:cs typeface="Arial"/>
            </a:endParaRPr>
          </a:p>
          <a:p>
            <a:r>
              <a:rPr lang="en-US" sz="1200" b="1">
                <a:solidFill>
                  <a:srgbClr val="4C7A00"/>
                </a:solidFill>
                <a:latin typeface="Arial"/>
                <a:ea typeface="Arial" pitchFamily="34" charset="-122"/>
                <a:cs typeface="Arial"/>
              </a:rPr>
              <a:t>Why fixed effects:  </a:t>
            </a:r>
            <a:endParaRPr lang="en-US" sz="1200">
              <a:solidFill>
                <a:srgbClr val="000000"/>
              </a:solidFill>
              <a:latin typeface="Arial"/>
              <a:ea typeface="Arial" pitchFamily="34" charset="-122"/>
              <a:cs typeface="Arial"/>
            </a:endParaRPr>
          </a:p>
          <a:p>
            <a:r>
              <a:rPr lang="en-US" sz="1200">
                <a:solidFill>
                  <a:srgbClr val="3C4043"/>
                </a:solidFill>
                <a:latin typeface="Arial"/>
                <a:ea typeface="Arial" pitchFamily="34" charset="-122"/>
                <a:cs typeface="Arial"/>
              </a:rPr>
              <a:t>A race fixed effect only compares early and late stoppers inside the same race. That cancels weather, safety cars and anything else specific to the race, even things we never measured. About 70% of races have both kinds of stop, so the comparison is feasible.</a:t>
            </a:r>
            <a:endParaRPr lang="en-US" sz="1200">
              <a:latin typeface="Arial"/>
              <a:cs typeface="Arial"/>
            </a:endParaRPr>
          </a:p>
        </p:txBody>
      </p:sp>
      <p:pic>
        <p:nvPicPr>
          <p:cNvPr id="9" name="Image 1" descr="D:/DAI/f1/dai-mission-group-k/causal_model.png"/>
          <p:cNvPicPr>
            <a:picLocks noChangeAspect="1"/>
          </p:cNvPicPr>
          <p:nvPr/>
        </p:nvPicPr>
        <p:blipFill>
          <a:blip r:embed="rId4"/>
          <a:stretch>
            <a:fillRect/>
          </a:stretch>
        </p:blipFill>
        <p:spPr>
          <a:xfrm>
            <a:off x="4757058" y="1518803"/>
            <a:ext cx="3891642" cy="295606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12</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RESULTS</a:t>
            </a:r>
            <a:endParaRPr lang="en-US" sz="1100"/>
          </a:p>
        </p:txBody>
      </p:sp>
      <p:sp>
        <p:nvSpPr>
          <p:cNvPr id="7" name="Text 4"/>
          <p:cNvSpPr/>
          <p:nvPr/>
        </p:nvSpPr>
        <p:spPr>
          <a:xfrm>
            <a:off x="548640" y="658368"/>
            <a:ext cx="8424454" cy="566928"/>
          </a:xfrm>
          <a:prstGeom prst="rect">
            <a:avLst/>
          </a:prstGeom>
          <a:noFill/>
          <a:ln/>
        </p:spPr>
        <p:txBody>
          <a:bodyPr wrap="square" lIns="0" tIns="0" rIns="0" bIns="0" rtlCol="0" anchor="ctr"/>
          <a:lstStyle/>
          <a:p>
            <a:pPr marL="0" indent="0">
              <a:buNone/>
            </a:pPr>
            <a:r>
              <a:rPr lang="en-US" sz="2400">
                <a:solidFill>
                  <a:srgbClr val="36393B"/>
                </a:solidFill>
                <a:latin typeface="Arial Black"/>
                <a:ea typeface="Arial Black" pitchFamily="34" charset="-122"/>
                <a:cs typeface="Arial Black" pitchFamily="34" charset="-120"/>
              </a:rPr>
              <a:t>EARLY STOPS COST POSITIONS</a:t>
            </a:r>
            <a:endParaRPr lang="en-US" sz="2400">
              <a:latin typeface="Arial Black"/>
              <a:ea typeface="Calibri"/>
              <a:cs typeface="Calibri"/>
            </a:endParaRPr>
          </a:p>
        </p:txBody>
      </p:sp>
      <p:sp>
        <p:nvSpPr>
          <p:cNvPr id="8" name="Text 5"/>
          <p:cNvSpPr/>
          <p:nvPr/>
        </p:nvSpPr>
        <p:spPr>
          <a:xfrm>
            <a:off x="548640" y="1417320"/>
            <a:ext cx="8046720" cy="731520"/>
          </a:xfrm>
          <a:prstGeom prst="rect">
            <a:avLst/>
          </a:prstGeom>
          <a:noFill/>
          <a:ln/>
        </p:spPr>
        <p:txBody>
          <a:bodyPr wrap="square" lIns="0" tIns="0" rIns="0" bIns="0" rtlCol="0" anchor="ctr"/>
          <a:lstStyle/>
          <a:p>
            <a:pPr marL="285750" indent="-285750">
              <a:buFont typeface="Arial"/>
              <a:buChar char="•"/>
            </a:pPr>
            <a:r>
              <a:rPr lang="en-US" sz="1400">
                <a:solidFill>
                  <a:srgbClr val="3C4043"/>
                </a:solidFill>
                <a:latin typeface="Arial"/>
                <a:ea typeface="Arial" pitchFamily="34" charset="-122"/>
                <a:cs typeface="Arial"/>
              </a:rPr>
              <a:t>Pitting early costs roughly 0.7 to 1.0 finishing positions. </a:t>
            </a:r>
            <a:endParaRPr lang="en-US" sz="1400">
              <a:solidFill>
                <a:srgbClr val="000000"/>
              </a:solidFill>
              <a:latin typeface="Arial" pitchFamily="34" charset="-122"/>
              <a:ea typeface="Arial" pitchFamily="34" charset="-122"/>
              <a:cs typeface="Arial"/>
            </a:endParaRPr>
          </a:p>
          <a:p>
            <a:pPr marL="285750" indent="-285750">
              <a:buFont typeface="Arial"/>
              <a:buChar char="•"/>
            </a:pPr>
            <a:r>
              <a:rPr lang="en-US" sz="1400">
                <a:solidFill>
                  <a:srgbClr val="3C4043"/>
                </a:solidFill>
                <a:latin typeface="Arial"/>
                <a:ea typeface="Arial" pitchFamily="34" charset="-122"/>
                <a:cs typeface="Arial"/>
              </a:rPr>
              <a:t>A negative number means early stoppers gain fewer places than late stoppers under the same conditions.</a:t>
            </a:r>
            <a:endParaRPr lang="en-US" sz="1400">
              <a:latin typeface="Arial"/>
              <a:cs typeface="Arial"/>
            </a:endParaRPr>
          </a:p>
        </p:txBody>
      </p:sp>
      <p:sp>
        <p:nvSpPr>
          <p:cNvPr id="10" name="Text 7"/>
          <p:cNvSpPr/>
          <p:nvPr/>
        </p:nvSpPr>
        <p:spPr>
          <a:xfrm>
            <a:off x="731520" y="2651760"/>
            <a:ext cx="2304288" cy="868680"/>
          </a:xfrm>
          <a:prstGeom prst="rect">
            <a:avLst/>
          </a:prstGeom>
          <a:noFill/>
          <a:ln/>
        </p:spPr>
        <p:txBody>
          <a:bodyPr wrap="square" lIns="0" tIns="0" rIns="0" bIns="0" rtlCol="0" anchor="ctr"/>
          <a:lstStyle/>
          <a:p>
            <a:pPr marL="0" indent="0" algn="ctr">
              <a:buNone/>
            </a:pPr>
            <a:r>
              <a:rPr lang="en-US" sz="4400">
                <a:solidFill>
                  <a:srgbClr val="4C7A00"/>
                </a:solidFill>
                <a:latin typeface="Arial Black" pitchFamily="34" charset="0"/>
                <a:ea typeface="Arial Black" pitchFamily="34" charset="-122"/>
                <a:cs typeface="Arial Black" pitchFamily="34" charset="-120"/>
              </a:rPr>
              <a:t>−0.97</a:t>
            </a:r>
            <a:endParaRPr lang="en-US" sz="4400"/>
          </a:p>
        </p:txBody>
      </p:sp>
      <p:sp>
        <p:nvSpPr>
          <p:cNvPr id="11" name="Text 8"/>
          <p:cNvSpPr/>
          <p:nvPr/>
        </p:nvSpPr>
        <p:spPr>
          <a:xfrm>
            <a:off x="749808" y="3520440"/>
            <a:ext cx="2267712" cy="713232"/>
          </a:xfrm>
          <a:prstGeom prst="rect">
            <a:avLst/>
          </a:prstGeom>
          <a:noFill/>
          <a:ln/>
        </p:spPr>
        <p:txBody>
          <a:bodyPr wrap="square" lIns="0" tIns="0" rIns="0" bIns="0" rtlCol="0" anchor="ctr"/>
          <a:lstStyle/>
          <a:p>
            <a:pPr marL="0" indent="0" algn="ctr">
              <a:buNone/>
            </a:pPr>
            <a:r>
              <a:rPr lang="en-US" sz="1100" b="1">
                <a:solidFill>
                  <a:srgbClr val="36393B"/>
                </a:solidFill>
                <a:latin typeface="Arial" pitchFamily="34" charset="0"/>
                <a:ea typeface="Arial" pitchFamily="34" charset="-122"/>
                <a:cs typeface="Arial" pitchFamily="34" charset="-120"/>
              </a:rPr>
              <a:t>Two way fixed effects
</a:t>
            </a:r>
            <a:endParaRPr lang="en-US" sz="1100"/>
          </a:p>
          <a:p>
            <a:pPr marL="0" indent="0" algn="ctr">
              <a:buNone/>
            </a:pPr>
            <a:r>
              <a:rPr lang="en-US" sz="1100">
                <a:solidFill>
                  <a:srgbClr val="8A8F8C"/>
                </a:solidFill>
                <a:latin typeface="Arial" pitchFamily="34" charset="0"/>
                <a:ea typeface="Arial" pitchFamily="34" charset="-122"/>
                <a:cs typeface="Arial" pitchFamily="34" charset="-120"/>
              </a:rPr>
              <a:t>race + constructor,  p = 0.039</a:t>
            </a:r>
            <a:endParaRPr lang="en-US" sz="1100"/>
          </a:p>
        </p:txBody>
      </p:sp>
      <p:sp>
        <p:nvSpPr>
          <p:cNvPr id="13" name="Text 10"/>
          <p:cNvSpPr/>
          <p:nvPr/>
        </p:nvSpPr>
        <p:spPr>
          <a:xfrm>
            <a:off x="3328416" y="2651760"/>
            <a:ext cx="2304288" cy="868680"/>
          </a:xfrm>
          <a:prstGeom prst="rect">
            <a:avLst/>
          </a:prstGeom>
          <a:noFill/>
          <a:ln/>
        </p:spPr>
        <p:txBody>
          <a:bodyPr wrap="square" lIns="0" tIns="0" rIns="0" bIns="0" rtlCol="0" anchor="ctr"/>
          <a:lstStyle/>
          <a:p>
            <a:pPr marL="0" indent="0" algn="ctr">
              <a:buNone/>
            </a:pPr>
            <a:r>
              <a:rPr lang="en-US" sz="4400">
                <a:solidFill>
                  <a:srgbClr val="4C7A00"/>
                </a:solidFill>
                <a:latin typeface="Arial Black" pitchFamily="34" charset="0"/>
                <a:ea typeface="Arial Black" pitchFamily="34" charset="-122"/>
                <a:cs typeface="Arial Black" pitchFamily="34" charset="-120"/>
              </a:rPr>
              <a:t>−0.74</a:t>
            </a:r>
            <a:endParaRPr lang="en-US" sz="4400"/>
          </a:p>
        </p:txBody>
      </p:sp>
      <p:sp>
        <p:nvSpPr>
          <p:cNvPr id="14" name="Text 11"/>
          <p:cNvSpPr/>
          <p:nvPr/>
        </p:nvSpPr>
        <p:spPr>
          <a:xfrm>
            <a:off x="3346704" y="3520440"/>
            <a:ext cx="2267712" cy="713232"/>
          </a:xfrm>
          <a:prstGeom prst="rect">
            <a:avLst/>
          </a:prstGeom>
          <a:noFill/>
          <a:ln/>
        </p:spPr>
        <p:txBody>
          <a:bodyPr wrap="square" lIns="0" tIns="0" rIns="0" bIns="0" rtlCol="0" anchor="ctr"/>
          <a:lstStyle/>
          <a:p>
            <a:pPr marL="0" indent="0" algn="ctr">
              <a:buNone/>
            </a:pPr>
            <a:r>
              <a:rPr lang="en-US" sz="1100" b="1">
                <a:solidFill>
                  <a:srgbClr val="36393B"/>
                </a:solidFill>
                <a:latin typeface="Arial" pitchFamily="34" charset="0"/>
                <a:ea typeface="Arial" pitchFamily="34" charset="-122"/>
                <a:cs typeface="Arial" pitchFamily="34" charset="-120"/>
              </a:rPr>
              <a:t>Double Machine Learning
</a:t>
            </a:r>
            <a:endParaRPr lang="en-US" sz="1100"/>
          </a:p>
          <a:p>
            <a:pPr marL="0" indent="0" algn="ctr">
              <a:buNone/>
            </a:pPr>
            <a:r>
              <a:rPr lang="en-US" sz="1100">
                <a:solidFill>
                  <a:srgbClr val="8A8F8C"/>
                </a:solidFill>
                <a:latin typeface="Arial" pitchFamily="34" charset="0"/>
                <a:ea typeface="Arial" pitchFamily="34" charset="-122"/>
                <a:cs typeface="Arial" pitchFamily="34" charset="-120"/>
              </a:rPr>
              <a:t>median of 10 seeds,  p ≈ 0.035</a:t>
            </a:r>
            <a:endParaRPr lang="en-US" sz="1100"/>
          </a:p>
        </p:txBody>
      </p:sp>
      <p:sp>
        <p:nvSpPr>
          <p:cNvPr id="16" name="Text 13"/>
          <p:cNvSpPr/>
          <p:nvPr/>
        </p:nvSpPr>
        <p:spPr>
          <a:xfrm>
            <a:off x="5925312" y="2651760"/>
            <a:ext cx="2304288" cy="868680"/>
          </a:xfrm>
          <a:prstGeom prst="rect">
            <a:avLst/>
          </a:prstGeom>
          <a:noFill/>
          <a:ln/>
        </p:spPr>
        <p:txBody>
          <a:bodyPr wrap="square" lIns="0" tIns="0" rIns="0" bIns="0" rtlCol="0" anchor="ctr"/>
          <a:lstStyle/>
          <a:p>
            <a:pPr marL="0" indent="0" algn="ctr">
              <a:buNone/>
            </a:pPr>
            <a:r>
              <a:rPr lang="en-US" sz="4400">
                <a:solidFill>
                  <a:srgbClr val="4C7A00"/>
                </a:solidFill>
                <a:latin typeface="Arial Black" pitchFamily="34" charset="0"/>
                <a:ea typeface="Arial Black" pitchFamily="34" charset="-122"/>
                <a:cs typeface="Arial Black" pitchFamily="34" charset="-120"/>
              </a:rPr>
              <a:t>≈ −0.5</a:t>
            </a:r>
            <a:endParaRPr lang="en-US" sz="4400"/>
          </a:p>
        </p:txBody>
      </p:sp>
      <p:sp>
        <p:nvSpPr>
          <p:cNvPr id="17" name="Text 14"/>
          <p:cNvSpPr/>
          <p:nvPr/>
        </p:nvSpPr>
        <p:spPr>
          <a:xfrm>
            <a:off x="5943600" y="3520440"/>
            <a:ext cx="2267712" cy="713232"/>
          </a:xfrm>
          <a:prstGeom prst="rect">
            <a:avLst/>
          </a:prstGeom>
          <a:noFill/>
          <a:ln/>
        </p:spPr>
        <p:txBody>
          <a:bodyPr wrap="square" lIns="0" tIns="0" rIns="0" bIns="0" rtlCol="0" anchor="ctr"/>
          <a:lstStyle/>
          <a:p>
            <a:pPr marL="0" indent="0" algn="ctr">
              <a:buNone/>
            </a:pPr>
            <a:r>
              <a:rPr lang="en-US" sz="1100" b="1">
                <a:solidFill>
                  <a:srgbClr val="36393B"/>
                </a:solidFill>
                <a:latin typeface="Arial" pitchFamily="34" charset="0"/>
                <a:ea typeface="Arial" pitchFamily="34" charset="-122"/>
                <a:cs typeface="Arial" pitchFamily="34" charset="-120"/>
              </a:rPr>
              <a:t>Backdoor adjustment
</a:t>
            </a:r>
            <a:endParaRPr lang="en-US" sz="1100"/>
          </a:p>
          <a:p>
            <a:pPr marL="0" indent="0" algn="ctr">
              <a:buNone/>
            </a:pPr>
            <a:r>
              <a:rPr lang="en-US" sz="1100">
                <a:solidFill>
                  <a:srgbClr val="8A8F8C"/>
                </a:solidFill>
                <a:latin typeface="Arial" pitchFamily="34" charset="0"/>
                <a:ea typeface="Arial" pitchFamily="34" charset="-122"/>
                <a:cs typeface="Arial" pitchFamily="34" charset="-120"/>
              </a:rPr>
              <a:t>DoWhy,  refutation passes</a:t>
            </a:r>
            <a:endParaRPr lang="en-US" sz="11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13</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EVALUATION</a:t>
            </a:r>
            <a:endParaRPr lang="en-US" sz="1100"/>
          </a:p>
        </p:txBody>
      </p:sp>
      <p:sp>
        <p:nvSpPr>
          <p:cNvPr id="7" name="Text 4"/>
          <p:cNvSpPr/>
          <p:nvPr/>
        </p:nvSpPr>
        <p:spPr>
          <a:xfrm>
            <a:off x="548640" y="658368"/>
            <a:ext cx="7863840" cy="566928"/>
          </a:xfrm>
          <a:prstGeom prst="rect">
            <a:avLst/>
          </a:prstGeom>
          <a:noFill/>
          <a:ln/>
        </p:spPr>
        <p:txBody>
          <a:bodyPr wrap="square" lIns="0" tIns="0" rIns="0" bIns="0" rtlCol="0" anchor="ctr"/>
          <a:lstStyle/>
          <a:p>
            <a:r>
              <a:rPr lang="en-US" sz="2600">
                <a:solidFill>
                  <a:srgbClr val="36393B"/>
                </a:solidFill>
                <a:latin typeface="Arial Black"/>
              </a:rPr>
              <a:t>SENSITIVITY ANALYSIS</a:t>
            </a:r>
          </a:p>
        </p:txBody>
      </p:sp>
      <p:pic>
        <p:nvPicPr>
          <p:cNvPr id="8" name="Image 1" descr="D:/DAI/f1/dai-mission-group-k/sensitivity.png"/>
          <p:cNvPicPr>
            <a:picLocks noChangeAspect="1"/>
          </p:cNvPicPr>
          <p:nvPr/>
        </p:nvPicPr>
        <p:blipFill>
          <a:blip r:embed="rId4"/>
          <a:stretch>
            <a:fillRect/>
          </a:stretch>
        </p:blipFill>
        <p:spPr>
          <a:xfrm>
            <a:off x="471350" y="1223554"/>
            <a:ext cx="3229793" cy="1981200"/>
          </a:xfrm>
          <a:prstGeom prst="rect">
            <a:avLst/>
          </a:prstGeom>
        </p:spPr>
      </p:pic>
      <p:pic>
        <p:nvPicPr>
          <p:cNvPr id="9" name="Image 2" descr="D:/DAI/f1/dai-mission-group-k/overlap.png"/>
          <p:cNvPicPr>
            <a:picLocks noChangeAspect="1"/>
          </p:cNvPicPr>
          <p:nvPr/>
        </p:nvPicPr>
        <p:blipFill>
          <a:blip r:embed="rId5"/>
          <a:stretch>
            <a:fillRect/>
          </a:stretch>
        </p:blipFill>
        <p:spPr>
          <a:xfrm>
            <a:off x="4481649" y="1249039"/>
            <a:ext cx="3977640" cy="1949824"/>
          </a:xfrm>
          <a:prstGeom prst="rect">
            <a:avLst/>
          </a:prstGeom>
        </p:spPr>
      </p:pic>
      <p:sp>
        <p:nvSpPr>
          <p:cNvPr id="10" name="Text 5"/>
          <p:cNvSpPr/>
          <p:nvPr/>
        </p:nvSpPr>
        <p:spPr>
          <a:xfrm>
            <a:off x="450669" y="3811089"/>
            <a:ext cx="7872547" cy="825139"/>
          </a:xfrm>
          <a:prstGeom prst="rect">
            <a:avLst/>
          </a:prstGeom>
          <a:noFill/>
          <a:ln/>
        </p:spPr>
        <p:txBody>
          <a:bodyPr wrap="square" lIns="0" tIns="0" rIns="0" bIns="0" rtlCol="0" anchor="ctr"/>
          <a:lstStyle/>
          <a:p>
            <a:pPr>
              <a:spcAft>
                <a:spcPts val="1600"/>
              </a:spcAft>
            </a:pPr>
            <a:r>
              <a:rPr lang="en-US" sz="1200" b="1">
                <a:solidFill>
                  <a:schemeClr val="accent6">
                    <a:lumMod val="76000"/>
                  </a:schemeClr>
                </a:solidFill>
                <a:latin typeface="Arial"/>
                <a:ea typeface="+mn-lt"/>
                <a:cs typeface="Arial"/>
              </a:rPr>
              <a:t>Threshold:</a:t>
            </a:r>
            <a:r>
              <a:rPr lang="en-US" sz="1200">
                <a:solidFill>
                  <a:srgbClr val="3C4043"/>
                </a:solidFill>
                <a:latin typeface="Arial"/>
                <a:ea typeface="+mn-lt"/>
                <a:cs typeface="Arial"/>
              </a:rPr>
              <a:t> The estimated effect remains negative across 30</a:t>
            </a:r>
            <a:br>
              <a:rPr lang="en-US" sz="1200">
                <a:latin typeface="Arial"/>
                <a:ea typeface="+mn-lt"/>
                <a:cs typeface="Arial"/>
              </a:rPr>
            </a:br>
            <a:r>
              <a:rPr lang="en-US" sz="1200">
                <a:solidFill>
                  <a:srgbClr val="3C4043"/>
                </a:solidFill>
                <a:latin typeface="Arial"/>
                <a:ea typeface="+mn-lt"/>
                <a:cs typeface="Arial"/>
              </a:rPr>
              <a:t>50% cutoffs, showing robustness to the treatment definition.</a:t>
            </a:r>
            <a:endParaRPr lang="en-US">
              <a:solidFill>
                <a:srgbClr val="000000"/>
              </a:solidFill>
              <a:latin typeface="Arial"/>
              <a:ea typeface="+mn-lt"/>
              <a:cs typeface="Arial"/>
            </a:endParaRPr>
          </a:p>
          <a:p>
            <a:pPr>
              <a:spcAft>
                <a:spcPts val="1600"/>
              </a:spcAft>
            </a:pPr>
            <a:r>
              <a:rPr lang="en-US" sz="1200" b="1">
                <a:solidFill>
                  <a:schemeClr val="accent6">
                    <a:lumMod val="76000"/>
                  </a:schemeClr>
                </a:solidFill>
                <a:latin typeface="Arial"/>
                <a:ea typeface="+mn-lt"/>
                <a:cs typeface="Arial"/>
              </a:rPr>
              <a:t>Refutation: </a:t>
            </a:r>
            <a:r>
              <a:rPr lang="en-US" sz="1200">
                <a:solidFill>
                  <a:srgbClr val="3C4043"/>
                </a:solidFill>
                <a:latin typeface="Arial"/>
                <a:ea typeface="+mn-lt"/>
                <a:cs typeface="Arial"/>
              </a:rPr>
              <a:t>Placebo, random-cause and subset tests support the estimated effect.</a:t>
            </a:r>
            <a:endParaRPr lang="en-US">
              <a:solidFill>
                <a:srgbClr val="000000"/>
              </a:solidFill>
              <a:latin typeface="Arial"/>
              <a:ea typeface="+mn-lt"/>
              <a:cs typeface="Arial"/>
            </a:endParaRPr>
          </a:p>
          <a:p>
            <a:pPr>
              <a:spcAft>
                <a:spcPts val="1600"/>
              </a:spcAft>
            </a:pPr>
            <a:r>
              <a:rPr lang="en-US" sz="1200" b="1">
                <a:solidFill>
                  <a:schemeClr val="accent6">
                    <a:lumMod val="76000"/>
                  </a:schemeClr>
                </a:solidFill>
                <a:latin typeface="Arial"/>
                <a:ea typeface="+mn-lt"/>
                <a:cs typeface="Arial"/>
              </a:rPr>
              <a:t>Overlap: </a:t>
            </a:r>
            <a:r>
              <a:rPr lang="en-US" sz="1200">
                <a:solidFill>
                  <a:srgbClr val="3C4043"/>
                </a:solidFill>
                <a:latin typeface="Arial"/>
                <a:ea typeface="+mn-lt"/>
                <a:cs typeface="Arial"/>
              </a:rPr>
              <a:t>Treated and control groups have good common support, with only </a:t>
            </a:r>
            <a:r>
              <a:rPr lang="en-US" sz="1200" b="1">
                <a:solidFill>
                  <a:srgbClr val="3C4043"/>
                </a:solidFill>
                <a:latin typeface="Arial"/>
                <a:ea typeface="+mn-lt"/>
                <a:cs typeface="Arial"/>
              </a:rPr>
              <a:t>7 of 660</a:t>
            </a:r>
            <a:r>
              <a:rPr lang="en-US" sz="1200">
                <a:solidFill>
                  <a:srgbClr val="3C4043"/>
                </a:solidFill>
                <a:latin typeface="Arial"/>
                <a:ea typeface="+mn-lt"/>
                <a:cs typeface="Arial"/>
              </a:rPr>
              <a:t> observations outside it.</a:t>
            </a:r>
            <a:endParaRPr lang="en-US">
              <a:solidFill>
                <a:srgbClr val="000000"/>
              </a:solidFill>
              <a:latin typeface="Arial"/>
              <a:ea typeface="+mn-lt"/>
              <a:cs typeface="Arial"/>
            </a:endParaRPr>
          </a:p>
          <a:p>
            <a:pPr>
              <a:spcAft>
                <a:spcPts val="1600"/>
              </a:spcAft>
            </a:pPr>
            <a:r>
              <a:rPr lang="en-US" sz="1200" b="1">
                <a:solidFill>
                  <a:schemeClr val="accent6">
                    <a:lumMod val="76000"/>
                  </a:schemeClr>
                </a:solidFill>
                <a:latin typeface="Arial"/>
                <a:ea typeface="+mn-lt"/>
                <a:cs typeface="Arial"/>
              </a:rPr>
              <a:t>Inference:</a:t>
            </a:r>
            <a:r>
              <a:rPr lang="en-US" sz="1200">
                <a:solidFill>
                  <a:srgbClr val="3C4043"/>
                </a:solidFill>
                <a:latin typeface="Arial"/>
                <a:ea typeface="+mn-lt"/>
                <a:cs typeface="Arial"/>
              </a:rPr>
              <a:t> Standard errors are clustered by race to account for within-race dependence.</a:t>
            </a:r>
            <a:endParaRPr lang="en-US">
              <a:latin typeface="Arial"/>
              <a:ea typeface="+mn-lt"/>
              <a:cs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14</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RESULTS</a:t>
            </a:r>
            <a:endParaRPr lang="en-US" sz="1100"/>
          </a:p>
        </p:txBody>
      </p:sp>
      <p:sp>
        <p:nvSpPr>
          <p:cNvPr id="7" name="Text 4"/>
          <p:cNvSpPr/>
          <p:nvPr/>
        </p:nvSpPr>
        <p:spPr>
          <a:xfrm>
            <a:off x="548640" y="658368"/>
            <a:ext cx="7863840" cy="566928"/>
          </a:xfrm>
          <a:prstGeom prst="rect">
            <a:avLst/>
          </a:prstGeom>
          <a:noFill/>
          <a:ln/>
        </p:spPr>
        <p:txBody>
          <a:bodyPr wrap="square" lIns="0" tIns="0" rIns="0" bIns="0" rtlCol="0" anchor="ctr"/>
          <a:lstStyle/>
          <a:p>
            <a:pPr marL="0" indent="0">
              <a:buNone/>
            </a:pPr>
            <a:r>
              <a:rPr lang="en-US" sz="2600">
                <a:solidFill>
                  <a:srgbClr val="36393B"/>
                </a:solidFill>
                <a:latin typeface="Arial Black" pitchFamily="34" charset="0"/>
                <a:ea typeface="Arial Black" pitchFamily="34" charset="-122"/>
                <a:cs typeface="Arial Black" pitchFamily="34" charset="-120"/>
              </a:rPr>
              <a:t>WHEN DOES AN EARLY STOP HELP?</a:t>
            </a:r>
            <a:endParaRPr lang="en-US" sz="2600"/>
          </a:p>
        </p:txBody>
      </p:sp>
      <p:sp>
        <p:nvSpPr>
          <p:cNvPr id="8" name="Text 5"/>
          <p:cNvSpPr/>
          <p:nvPr/>
        </p:nvSpPr>
        <p:spPr>
          <a:xfrm>
            <a:off x="456111" y="1347651"/>
            <a:ext cx="4114800" cy="3108960"/>
          </a:xfrm>
          <a:prstGeom prst="rect">
            <a:avLst/>
          </a:prstGeom>
          <a:noFill/>
          <a:ln/>
        </p:spPr>
        <p:txBody>
          <a:bodyPr wrap="square" lIns="0" tIns="0" rIns="0" bIns="0" rtlCol="0" anchor="ctr"/>
          <a:lstStyle/>
          <a:p>
            <a:pPr marL="0" indent="0">
              <a:buNone/>
            </a:pPr>
            <a:r>
              <a:rPr lang="en-US" sz="1200">
                <a:latin typeface="Arial"/>
                <a:ea typeface="Arial" pitchFamily="34" charset="-122"/>
                <a:cs typeface="Arial"/>
              </a:rPr>
              <a:t>After adjusting for confounders, the value of the first stop is an inverted U.</a:t>
            </a:r>
            <a:endParaRPr lang="en-US" sz="1200">
              <a:latin typeface="Arial"/>
              <a:ea typeface="Calibri"/>
              <a:cs typeface="Arial"/>
            </a:endParaRPr>
          </a:p>
          <a:p>
            <a:pPr marL="0" indent="0">
              <a:buNone/>
            </a:pPr>
            <a:endParaRPr lang="en-US" sz="1200">
              <a:latin typeface="Arial"/>
              <a:cs typeface="Arial"/>
            </a:endParaRPr>
          </a:p>
          <a:p>
            <a:pPr marL="0" indent="0">
              <a:buNone/>
            </a:pPr>
            <a:r>
              <a:rPr lang="en-US" sz="1200" b="1">
                <a:solidFill>
                  <a:srgbClr val="4C7A00"/>
                </a:solidFill>
                <a:latin typeface="Arial"/>
                <a:ea typeface="Arial" pitchFamily="34" charset="-122"/>
                <a:cs typeface="Arial"/>
              </a:rPr>
              <a:t>Before 30%: </a:t>
            </a:r>
            <a:r>
              <a:rPr lang="en-US" sz="1200" b="1">
                <a:latin typeface="Arial"/>
                <a:ea typeface="Arial" pitchFamily="34" charset="-122"/>
                <a:cs typeface="Arial"/>
              </a:rPr>
              <a:t> </a:t>
            </a:r>
            <a:r>
              <a:rPr lang="en-US" sz="1200">
                <a:latin typeface="Arial"/>
                <a:ea typeface="Arial" pitchFamily="34" charset="-122"/>
                <a:cs typeface="Arial"/>
              </a:rPr>
              <a:t>too early, value is thrown away.</a:t>
            </a:r>
            <a:endParaRPr lang="en-US" sz="1200">
              <a:latin typeface="Arial"/>
              <a:ea typeface="Calibri"/>
              <a:cs typeface="Arial"/>
            </a:endParaRPr>
          </a:p>
          <a:p>
            <a:pPr marL="0" indent="0">
              <a:buNone/>
            </a:pPr>
            <a:r>
              <a:rPr lang="en-US" sz="1200" b="1">
                <a:solidFill>
                  <a:srgbClr val="4C7A00"/>
                </a:solidFill>
                <a:latin typeface="Arial"/>
                <a:ea typeface="Arial" pitchFamily="34" charset="-122"/>
                <a:cs typeface="Arial"/>
              </a:rPr>
              <a:t>30 to 50%: </a:t>
            </a:r>
            <a:r>
              <a:rPr lang="en-US" sz="1200" b="1">
                <a:latin typeface="Arial"/>
                <a:ea typeface="Arial" pitchFamily="34" charset="-122"/>
                <a:cs typeface="Arial"/>
              </a:rPr>
              <a:t> </a:t>
            </a:r>
            <a:r>
              <a:rPr lang="en-US" sz="1200">
                <a:latin typeface="Arial"/>
                <a:ea typeface="Arial" pitchFamily="34" charset="-122"/>
                <a:cs typeface="Arial"/>
              </a:rPr>
              <a:t>the sweet spot, about plus 0.8 positions.</a:t>
            </a:r>
            <a:endParaRPr lang="en-US" sz="1200">
              <a:latin typeface="Arial"/>
              <a:cs typeface="Arial"/>
            </a:endParaRPr>
          </a:p>
          <a:p>
            <a:pPr marL="0" indent="0">
              <a:buNone/>
            </a:pPr>
            <a:r>
              <a:rPr lang="en-US" sz="1200" b="1">
                <a:solidFill>
                  <a:srgbClr val="4C7A00"/>
                </a:solidFill>
                <a:latin typeface="Arial"/>
                <a:ea typeface="Arial" pitchFamily="34" charset="-122"/>
                <a:cs typeface="Arial"/>
              </a:rPr>
              <a:t>After 50%:  </a:t>
            </a:r>
            <a:r>
              <a:rPr lang="en-US" sz="1200">
                <a:latin typeface="Arial"/>
                <a:ea typeface="Arial" pitchFamily="34" charset="-122"/>
                <a:cs typeface="Arial"/>
              </a:rPr>
              <a:t>the gain fades away again.</a:t>
            </a:r>
            <a:endParaRPr lang="en-US" sz="1200">
              <a:latin typeface="Arial"/>
              <a:cs typeface="Arial"/>
            </a:endParaRPr>
          </a:p>
          <a:p>
            <a:pPr marL="0" indent="0">
              <a:buNone/>
            </a:pPr>
            <a:r>
              <a:rPr lang="en-US" sz="1200">
                <a:solidFill>
                  <a:srgbClr val="000000"/>
                </a:solidFill>
                <a:latin typeface="Arial"/>
                <a:ea typeface="Arial" pitchFamily="34" charset="-122"/>
                <a:cs typeface="Arial"/>
              </a:rPr>
              <a:t>
</a:t>
            </a:r>
            <a:r>
              <a:rPr lang="en-US" sz="1200" i="1">
                <a:latin typeface="Arial"/>
                <a:ea typeface="Arial" pitchFamily="34" charset="-122"/>
                <a:cs typeface="Arial"/>
              </a:rPr>
              <a:t>Fresh </a:t>
            </a:r>
            <a:r>
              <a:rPr lang="en-US" sz="1200" i="1" err="1">
                <a:latin typeface="Arial"/>
                <a:ea typeface="Arial" pitchFamily="34" charset="-122"/>
                <a:cs typeface="Arial"/>
              </a:rPr>
              <a:t>tyres</a:t>
            </a:r>
            <a:r>
              <a:rPr lang="en-US" sz="1200" i="1">
                <a:latin typeface="Arial"/>
                <a:ea typeface="Arial" pitchFamily="34" charset="-122"/>
                <a:cs typeface="Arial"/>
              </a:rPr>
              <a:t> only repay the pit lane time once the old set has worn enough.</a:t>
            </a:r>
            <a:endParaRPr lang="en-US" sz="1200">
              <a:latin typeface="Arial"/>
              <a:cs typeface="Arial"/>
            </a:endParaRPr>
          </a:p>
        </p:txBody>
      </p:sp>
      <p:pic>
        <p:nvPicPr>
          <p:cNvPr id="9" name="Image 1" descr="D:/DAI/f1/dai-mission-group-k/window.png"/>
          <p:cNvPicPr>
            <a:picLocks noChangeAspect="1"/>
          </p:cNvPicPr>
          <p:nvPr/>
        </p:nvPicPr>
        <p:blipFill>
          <a:blip r:embed="rId4"/>
          <a:stretch>
            <a:fillRect/>
          </a:stretch>
        </p:blipFill>
        <p:spPr>
          <a:xfrm>
            <a:off x="4811485" y="1746109"/>
            <a:ext cx="3749040" cy="231422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512064" y="914400"/>
            <a:ext cx="3108960" cy="1645920"/>
          </a:xfrm>
          <a:prstGeom prst="rect">
            <a:avLst/>
          </a:prstGeom>
          <a:noFill/>
          <a:ln/>
        </p:spPr>
        <p:txBody>
          <a:bodyPr wrap="square" lIns="0" tIns="0" rIns="0" bIns="0" rtlCol="0" anchor="ctr"/>
          <a:lstStyle/>
          <a:p>
            <a:pPr marL="0" indent="0">
              <a:buNone/>
            </a:pPr>
            <a:r>
              <a:rPr lang="en-US" sz="10400">
                <a:solidFill>
                  <a:srgbClr val="639A00"/>
                </a:solidFill>
                <a:latin typeface="Arial Black" pitchFamily="34" charset="0"/>
                <a:ea typeface="Arial Black" pitchFamily="34" charset="-122"/>
                <a:cs typeface="Arial Black" pitchFamily="34" charset="-120"/>
              </a:rPr>
              <a:t>04</a:t>
            </a:r>
            <a:endParaRPr lang="en-US" sz="10400"/>
          </a:p>
        </p:txBody>
      </p:sp>
      <p:sp>
        <p:nvSpPr>
          <p:cNvPr id="6" name="Text 3"/>
          <p:cNvSpPr/>
          <p:nvPr/>
        </p:nvSpPr>
        <p:spPr>
          <a:xfrm>
            <a:off x="566928" y="2724912"/>
            <a:ext cx="6126480" cy="822960"/>
          </a:xfrm>
          <a:prstGeom prst="rect">
            <a:avLst/>
          </a:prstGeom>
          <a:noFill/>
          <a:ln/>
        </p:spPr>
        <p:txBody>
          <a:bodyPr wrap="square" lIns="0" tIns="0" rIns="0" bIns="0" rtlCol="0" anchor="ctr"/>
          <a:lstStyle/>
          <a:p>
            <a:pPr marL="0" indent="0">
              <a:buNone/>
            </a:pPr>
            <a:r>
              <a:rPr lang="en-US" sz="3300">
                <a:solidFill>
                  <a:srgbClr val="36393B"/>
                </a:solidFill>
                <a:latin typeface="Arial Black" pitchFamily="34" charset="0"/>
                <a:ea typeface="Arial Black" pitchFamily="34" charset="-122"/>
                <a:cs typeface="Arial Black" pitchFamily="34" charset="-120"/>
              </a:rPr>
              <a:t>SUPERVISED LEARNING</a:t>
            </a:r>
            <a:endParaRPr lang="en-US" sz="33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15</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OBJECTIVE &amp; SETUP</a:t>
            </a:r>
            <a:endParaRPr lang="en-US" sz="1100"/>
          </a:p>
        </p:txBody>
      </p:sp>
      <p:sp>
        <p:nvSpPr>
          <p:cNvPr id="7" name="Text 4"/>
          <p:cNvSpPr/>
          <p:nvPr/>
        </p:nvSpPr>
        <p:spPr>
          <a:xfrm>
            <a:off x="548640" y="658368"/>
            <a:ext cx="7863840" cy="566928"/>
          </a:xfrm>
          <a:prstGeom prst="rect">
            <a:avLst/>
          </a:prstGeom>
          <a:noFill/>
          <a:ln/>
        </p:spPr>
        <p:txBody>
          <a:bodyPr wrap="square" lIns="0" tIns="0" rIns="0" bIns="0" rtlCol="0" anchor="ctr"/>
          <a:lstStyle/>
          <a:p>
            <a:pPr marL="0" indent="0">
              <a:buNone/>
            </a:pPr>
            <a:r>
              <a:rPr lang="en-US" sz="2600">
                <a:solidFill>
                  <a:srgbClr val="36393B"/>
                </a:solidFill>
                <a:latin typeface="Arial Black" pitchFamily="34" charset="0"/>
                <a:ea typeface="Arial Black" pitchFamily="34" charset="-122"/>
                <a:cs typeface="Arial Black" pitchFamily="34" charset="-120"/>
              </a:rPr>
              <a:t>WHAT WE PREDICT</a:t>
            </a:r>
            <a:endParaRPr lang="en-US" sz="2600"/>
          </a:p>
        </p:txBody>
      </p:sp>
      <p:sp>
        <p:nvSpPr>
          <p:cNvPr id="8" name="Text 5"/>
          <p:cNvSpPr/>
          <p:nvPr/>
        </p:nvSpPr>
        <p:spPr>
          <a:xfrm>
            <a:off x="548640" y="1481328"/>
            <a:ext cx="8046720" cy="566928"/>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Objective:  </a:t>
            </a:r>
            <a:r>
              <a:rPr lang="en-US" sz="1400">
                <a:latin typeface="Arial"/>
                <a:ea typeface="Arial" pitchFamily="34" charset="-122"/>
                <a:cs typeface="Arial"/>
              </a:rPr>
              <a:t>Measure how predictable the outcome is, and whether strategy beats a grid only baseline.</a:t>
            </a:r>
            <a:endParaRPr lang="en-US" sz="1400">
              <a:latin typeface="Arial"/>
              <a:cs typeface="Arial"/>
            </a:endParaRPr>
          </a:p>
        </p:txBody>
      </p:sp>
      <p:sp>
        <p:nvSpPr>
          <p:cNvPr id="9" name="Text 6"/>
          <p:cNvSpPr/>
          <p:nvPr/>
        </p:nvSpPr>
        <p:spPr>
          <a:xfrm>
            <a:off x="548640" y="2139696"/>
            <a:ext cx="8046720" cy="566928"/>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Target:  </a:t>
            </a:r>
            <a:r>
              <a:rPr lang="en-US" sz="1400" err="1">
                <a:latin typeface="Arial"/>
                <a:ea typeface="Arial" pitchFamily="34" charset="-122"/>
                <a:cs typeface="Arial"/>
              </a:rPr>
              <a:t>position_vs_start</a:t>
            </a:r>
            <a:r>
              <a:rPr lang="en-US" sz="1400">
                <a:latin typeface="Arial"/>
                <a:ea typeface="Arial" pitchFamily="34" charset="-122"/>
                <a:cs typeface="Arial"/>
              </a:rPr>
              <a:t>, reframed to points (top 10) and to podium, points or none.</a:t>
            </a:r>
            <a:endParaRPr lang="en-US" sz="1400">
              <a:latin typeface="Arial"/>
              <a:cs typeface="Arial"/>
            </a:endParaRPr>
          </a:p>
        </p:txBody>
      </p:sp>
      <p:sp>
        <p:nvSpPr>
          <p:cNvPr id="10" name="Text 7"/>
          <p:cNvSpPr/>
          <p:nvPr/>
        </p:nvSpPr>
        <p:spPr>
          <a:xfrm>
            <a:off x="548640" y="2798064"/>
            <a:ext cx="8046720" cy="566928"/>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Mechanism target:  </a:t>
            </a:r>
            <a:r>
              <a:rPr lang="en-US" sz="1400">
                <a:latin typeface="Arial"/>
                <a:ea typeface="Arial" pitchFamily="34" charset="-122"/>
                <a:cs typeface="Arial"/>
              </a:rPr>
              <a:t>The pit decision (does the car stop next lap), to confirm the wear to pit link.</a:t>
            </a:r>
            <a:endParaRPr lang="en-US" sz="1400">
              <a:latin typeface="Arial"/>
              <a:cs typeface="Arial"/>
            </a:endParaRPr>
          </a:p>
        </p:txBody>
      </p:sp>
      <p:sp>
        <p:nvSpPr>
          <p:cNvPr id="11" name="Text 8"/>
          <p:cNvSpPr/>
          <p:nvPr/>
        </p:nvSpPr>
        <p:spPr>
          <a:xfrm>
            <a:off x="548640" y="3456432"/>
            <a:ext cx="8046720" cy="566928"/>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Features:  </a:t>
            </a:r>
            <a:r>
              <a:rPr lang="en-US" sz="1400">
                <a:latin typeface="Arial"/>
                <a:ea typeface="Arial" pitchFamily="34" charset="-122"/>
                <a:cs typeface="Arial"/>
              </a:rPr>
              <a:t>Grid slot, car tier, first pit timing, stops, compounds, track temperature, rainfall.</a:t>
            </a:r>
            <a:endParaRPr lang="en-US" sz="1400">
              <a:latin typeface="Arial"/>
              <a:cs typeface="Arial"/>
            </a:endParaRPr>
          </a:p>
        </p:txBody>
      </p:sp>
      <p:sp>
        <p:nvSpPr>
          <p:cNvPr id="12" name="Text 9"/>
          <p:cNvSpPr/>
          <p:nvPr/>
        </p:nvSpPr>
        <p:spPr>
          <a:xfrm>
            <a:off x="548640" y="4114800"/>
            <a:ext cx="8046720" cy="566928"/>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Unit:  </a:t>
            </a:r>
            <a:r>
              <a:rPr lang="en-US" sz="1400">
                <a:latin typeface="Arial"/>
                <a:ea typeface="Arial" pitchFamily="34" charset="-122"/>
                <a:cs typeface="Arial"/>
              </a:rPr>
              <a:t>One driver-race, and lap level for the pit decision.</a:t>
            </a:r>
            <a:endParaRPr lang="en-US" sz="1400">
              <a:latin typeface="Arial"/>
              <a:cs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16</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METHODOLOGY &amp; METRICS</a:t>
            </a:r>
            <a:endParaRPr lang="en-US" sz="1100"/>
          </a:p>
        </p:txBody>
      </p:sp>
      <p:sp>
        <p:nvSpPr>
          <p:cNvPr id="7" name="Text 4"/>
          <p:cNvSpPr/>
          <p:nvPr/>
        </p:nvSpPr>
        <p:spPr>
          <a:xfrm>
            <a:off x="548640" y="658368"/>
            <a:ext cx="7863840" cy="566928"/>
          </a:xfrm>
          <a:prstGeom prst="rect">
            <a:avLst/>
          </a:prstGeom>
          <a:noFill/>
          <a:ln/>
        </p:spPr>
        <p:txBody>
          <a:bodyPr wrap="square" lIns="0" tIns="0" rIns="0" bIns="0" rtlCol="0" anchor="ctr"/>
          <a:lstStyle/>
          <a:p>
            <a:pPr marL="0" indent="0">
              <a:buNone/>
            </a:pPr>
            <a:r>
              <a:rPr lang="en-US" sz="2600">
                <a:solidFill>
                  <a:srgbClr val="36393B"/>
                </a:solidFill>
                <a:latin typeface="Arial Black"/>
                <a:ea typeface="Arial Black" pitchFamily="34" charset="-122"/>
                <a:cs typeface="Arial Black" pitchFamily="34" charset="-120"/>
              </a:rPr>
              <a:t>MODEL DESCRIPTION</a:t>
            </a:r>
            <a:endParaRPr lang="en-US" sz="2600"/>
          </a:p>
        </p:txBody>
      </p:sp>
      <p:sp>
        <p:nvSpPr>
          <p:cNvPr id="8" name="Text 5"/>
          <p:cNvSpPr/>
          <p:nvPr/>
        </p:nvSpPr>
        <p:spPr>
          <a:xfrm>
            <a:off x="548640" y="1481328"/>
            <a:ext cx="8046720" cy="566928"/>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Models: </a:t>
            </a:r>
            <a:r>
              <a:rPr lang="en-US" sz="1400">
                <a:latin typeface="Arial"/>
                <a:ea typeface="Arial" pitchFamily="34" charset="-122"/>
                <a:cs typeface="Arial"/>
              </a:rPr>
              <a:t>Ridge, Random Forest, Gradient Boosting and SVR, plus gradient boosted classifiers.</a:t>
            </a:r>
            <a:endParaRPr lang="en-US" sz="1400">
              <a:latin typeface="Arial"/>
              <a:cs typeface="Arial"/>
            </a:endParaRPr>
          </a:p>
        </p:txBody>
      </p:sp>
      <p:sp>
        <p:nvSpPr>
          <p:cNvPr id="9" name="Text 6"/>
          <p:cNvSpPr/>
          <p:nvPr/>
        </p:nvSpPr>
        <p:spPr>
          <a:xfrm>
            <a:off x="548640" y="2139696"/>
            <a:ext cx="8046720" cy="566928"/>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Baseline:  </a:t>
            </a:r>
            <a:r>
              <a:rPr lang="en-US" sz="1400">
                <a:latin typeface="Arial"/>
                <a:ea typeface="Arial" pitchFamily="34" charset="-122"/>
                <a:cs typeface="Arial"/>
              </a:rPr>
              <a:t>A grid only model, the bar that everything must beat.</a:t>
            </a:r>
            <a:endParaRPr lang="en-US" sz="1400">
              <a:latin typeface="Arial"/>
              <a:cs typeface="Arial"/>
            </a:endParaRPr>
          </a:p>
        </p:txBody>
      </p:sp>
      <p:sp>
        <p:nvSpPr>
          <p:cNvPr id="10" name="Text 7"/>
          <p:cNvSpPr/>
          <p:nvPr/>
        </p:nvSpPr>
        <p:spPr>
          <a:xfrm>
            <a:off x="548640" y="2798064"/>
            <a:ext cx="8046720" cy="566928"/>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Train and test:  </a:t>
            </a:r>
            <a:r>
              <a:rPr lang="en-US" sz="1400">
                <a:latin typeface="Arial"/>
                <a:ea typeface="Arial" pitchFamily="34" charset="-122"/>
                <a:cs typeface="Arial"/>
              </a:rPr>
              <a:t>Train </a:t>
            </a:r>
            <a:r>
              <a:rPr lang="en-US" sz="1400" err="1">
                <a:latin typeface="Arial"/>
                <a:ea typeface="Arial" pitchFamily="34" charset="-122"/>
                <a:cs typeface="Arial"/>
              </a:rPr>
              <a:t>on</a:t>
            </a:r>
            <a:r>
              <a:rPr lang="en-US" sz="1400">
                <a:latin typeface="Arial"/>
                <a:ea typeface="Arial" pitchFamily="34" charset="-122"/>
                <a:cs typeface="Arial"/>
              </a:rPr>
              <a:t> 2022 to 2024, test </a:t>
            </a:r>
            <a:r>
              <a:rPr lang="en-US" sz="1400" err="1">
                <a:latin typeface="Arial"/>
                <a:ea typeface="Arial" pitchFamily="34" charset="-122"/>
                <a:cs typeface="Arial"/>
              </a:rPr>
              <a:t>on</a:t>
            </a:r>
            <a:r>
              <a:rPr lang="en-US" sz="1400">
                <a:latin typeface="Arial"/>
                <a:ea typeface="Arial" pitchFamily="34" charset="-122"/>
                <a:cs typeface="Arial"/>
              </a:rPr>
              <a:t> 2025, with </a:t>
            </a:r>
            <a:r>
              <a:rPr lang="en-US" sz="1400" err="1">
                <a:latin typeface="Arial"/>
                <a:ea typeface="Arial" pitchFamily="34" charset="-122"/>
                <a:cs typeface="Arial"/>
              </a:rPr>
              <a:t>5 fold</a:t>
            </a:r>
            <a:r>
              <a:rPr lang="en-US" sz="1400">
                <a:latin typeface="Arial"/>
                <a:ea typeface="Arial" pitchFamily="34" charset="-122"/>
                <a:cs typeface="Arial"/>
              </a:rPr>
              <a:t> time series cross validation.</a:t>
            </a:r>
            <a:endParaRPr lang="en-US" sz="1400">
              <a:latin typeface="Arial"/>
              <a:cs typeface="Arial"/>
            </a:endParaRPr>
          </a:p>
        </p:txBody>
      </p:sp>
      <p:sp>
        <p:nvSpPr>
          <p:cNvPr id="11" name="Text 8"/>
          <p:cNvSpPr/>
          <p:nvPr/>
        </p:nvSpPr>
        <p:spPr>
          <a:xfrm>
            <a:off x="548640" y="3456432"/>
            <a:ext cx="8046720" cy="566928"/>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Additional Analysis: </a:t>
            </a:r>
            <a:r>
              <a:rPr lang="en-US" sz="1400">
                <a:latin typeface="Arial"/>
                <a:ea typeface="+mn-lt"/>
                <a:cs typeface="Arial"/>
              </a:rPr>
              <a:t>Crossed mixed-effects models to quantify variance components, and feature ablation to assess the contribution of individual features.</a:t>
            </a:r>
          </a:p>
        </p:txBody>
      </p:sp>
      <p:sp>
        <p:nvSpPr>
          <p:cNvPr id="12" name="Text 9"/>
          <p:cNvSpPr/>
          <p:nvPr/>
        </p:nvSpPr>
        <p:spPr>
          <a:xfrm>
            <a:off x="548640" y="4114800"/>
            <a:ext cx="8046720" cy="566928"/>
          </a:xfrm>
          <a:prstGeom prst="rect">
            <a:avLst/>
          </a:prstGeom>
          <a:noFill/>
          <a:ln/>
        </p:spPr>
        <p:txBody>
          <a:bodyPr wrap="square" lIns="0" tIns="0" rIns="0" bIns="0" rtlCol="0" anchor="ctr"/>
          <a:lstStyle/>
          <a:p>
            <a:r>
              <a:rPr lang="en-US" sz="1400" b="1">
                <a:solidFill>
                  <a:srgbClr val="4C7A00"/>
                </a:solidFill>
                <a:latin typeface="Arial"/>
                <a:ea typeface="Arial" pitchFamily="34" charset="-122"/>
                <a:cs typeface="Arial"/>
              </a:rPr>
              <a:t>Metrics: </a:t>
            </a:r>
            <a:r>
              <a:rPr lang="en-US" sz="1400">
                <a:latin typeface="Arial"/>
                <a:ea typeface="Arial" pitchFamily="34" charset="-122"/>
                <a:cs typeface="Arial"/>
              </a:rPr>
              <a:t>RMSE and R squared for regression, ROC AUC for classification.</a:t>
            </a:r>
            <a:endParaRPr lang="en-US" sz="1400">
              <a:latin typeface="Arial"/>
              <a:cs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txBody>
          <a:bodyPr/>
          <a:lstStyle/>
          <a:p>
            <a:endParaRPr lang="en-US"/>
          </a:p>
        </p:txBody>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17</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RESULTS</a:t>
            </a:r>
            <a:endParaRPr lang="en-US" sz="1100"/>
          </a:p>
        </p:txBody>
      </p:sp>
      <p:sp>
        <p:nvSpPr>
          <p:cNvPr id="7" name="Text 4"/>
          <p:cNvSpPr/>
          <p:nvPr/>
        </p:nvSpPr>
        <p:spPr>
          <a:xfrm>
            <a:off x="548640" y="658368"/>
            <a:ext cx="7863840" cy="566928"/>
          </a:xfrm>
          <a:prstGeom prst="rect">
            <a:avLst/>
          </a:prstGeom>
          <a:noFill/>
          <a:ln/>
        </p:spPr>
        <p:txBody>
          <a:bodyPr wrap="square" lIns="0" tIns="0" rIns="0" bIns="0" rtlCol="0" anchor="ctr"/>
          <a:lstStyle/>
          <a:p>
            <a:pPr marL="0" indent="0">
              <a:buNone/>
            </a:pPr>
            <a:r>
              <a:rPr lang="en-US" sz="2600">
                <a:solidFill>
                  <a:srgbClr val="36393B"/>
                </a:solidFill>
                <a:latin typeface="Arial Black" pitchFamily="34" charset="0"/>
                <a:ea typeface="Arial Black" pitchFamily="34" charset="-122"/>
                <a:cs typeface="Arial Black" pitchFamily="34" charset="-120"/>
              </a:rPr>
              <a:t>HOW PREDICTABLE IS THE OUTCOME?</a:t>
            </a:r>
            <a:endParaRPr lang="en-US" sz="2600"/>
          </a:p>
        </p:txBody>
      </p:sp>
      <p:pic>
        <p:nvPicPr>
          <p:cNvPr id="8" name="Image 1" descr="D:/DAI/f1/dai-mission-group-k/supervised.png"/>
          <p:cNvPicPr>
            <a:picLocks noChangeAspect="1"/>
          </p:cNvPicPr>
          <p:nvPr/>
        </p:nvPicPr>
        <p:blipFill>
          <a:blip r:embed="rId4"/>
          <a:srcRect t="290" r="46661" b="-65"/>
          <a:stretch>
            <a:fillRect/>
          </a:stretch>
        </p:blipFill>
        <p:spPr>
          <a:xfrm>
            <a:off x="316394" y="1360715"/>
            <a:ext cx="3779496" cy="2082571"/>
          </a:xfrm>
          <a:prstGeom prst="rect">
            <a:avLst/>
          </a:prstGeom>
        </p:spPr>
      </p:pic>
      <p:sp>
        <p:nvSpPr>
          <p:cNvPr id="9" name="Text 5"/>
          <p:cNvSpPr/>
          <p:nvPr/>
        </p:nvSpPr>
        <p:spPr>
          <a:xfrm>
            <a:off x="869768" y="3543300"/>
            <a:ext cx="7039790" cy="2209799"/>
          </a:xfrm>
          <a:prstGeom prst="rect">
            <a:avLst/>
          </a:prstGeom>
          <a:noFill/>
          <a:ln/>
        </p:spPr>
        <p:txBody>
          <a:bodyPr wrap="square" lIns="0" tIns="0" rIns="0" bIns="0" rtlCol="0" anchor="ctr"/>
          <a:lstStyle/>
          <a:p>
            <a:r>
              <a:rPr lang="en-US" sz="1200" b="1">
                <a:solidFill>
                  <a:schemeClr val="accent6">
                    <a:lumMod val="76000"/>
                  </a:schemeClr>
                </a:solidFill>
                <a:latin typeface="Arial"/>
                <a:ea typeface="Calibri"/>
                <a:cs typeface="Arial"/>
              </a:rPr>
              <a:t>Grid position dominates prediction:</a:t>
            </a:r>
            <a:r>
              <a:rPr lang="en-US" sz="1200" b="1" dirty="0">
                <a:solidFill>
                  <a:srgbClr val="000000"/>
                </a:solidFill>
                <a:latin typeface="Arial"/>
                <a:ea typeface="Calibri"/>
                <a:cs typeface="Arial"/>
              </a:rPr>
              <a:t> </a:t>
            </a:r>
            <a:endParaRPr lang="en-US" sz="1200" dirty="0">
              <a:solidFill>
                <a:srgbClr val="000000"/>
              </a:solidFill>
              <a:latin typeface="Arial"/>
              <a:ea typeface="Calibri"/>
              <a:cs typeface="Arial"/>
            </a:endParaRPr>
          </a:p>
          <a:p>
            <a:r>
              <a:rPr lang="en-US" sz="1200">
                <a:solidFill>
                  <a:srgbClr val="3C4043"/>
                </a:solidFill>
                <a:latin typeface="Arial"/>
                <a:ea typeface="Calibri"/>
                <a:cs typeface="Arial"/>
              </a:rPr>
              <a:t>Starting</a:t>
            </a:r>
            <a:r>
              <a:rPr lang="en-US" sz="1200">
                <a:solidFill>
                  <a:srgbClr val="3C4043"/>
                </a:solidFill>
                <a:latin typeface="Arial"/>
                <a:ea typeface="+mn-lt"/>
                <a:cs typeface="Arial"/>
              </a:rPr>
              <a:t> position is the strongest predictor, followed by car tier and first pit timing.</a:t>
            </a:r>
            <a:endParaRPr lang="en-US" sz="1200">
              <a:latin typeface="Arial"/>
              <a:ea typeface="Calibri"/>
              <a:cs typeface="Arial"/>
            </a:endParaRPr>
          </a:p>
          <a:p>
            <a:endParaRPr lang="en-US" sz="1200" dirty="0">
              <a:solidFill>
                <a:srgbClr val="3C4043"/>
              </a:solidFill>
              <a:latin typeface="Arial"/>
              <a:ea typeface="Calibri"/>
              <a:cs typeface="Arial"/>
            </a:endParaRPr>
          </a:p>
          <a:p>
            <a:r>
              <a:rPr lang="en-US" sz="1200" b="1">
                <a:solidFill>
                  <a:schemeClr val="accent6">
                    <a:lumMod val="76000"/>
                  </a:schemeClr>
                </a:solidFill>
                <a:latin typeface="Arial"/>
                <a:ea typeface="Calibri"/>
                <a:cs typeface="Arial"/>
              </a:rPr>
              <a:t>Strategy adds modest predictive value:</a:t>
            </a:r>
            <a:r>
              <a:rPr lang="en-US" sz="1200" b="1" dirty="0">
                <a:solidFill>
                  <a:schemeClr val="accent6">
                    <a:lumMod val="76000"/>
                  </a:schemeClr>
                </a:solidFill>
                <a:latin typeface="Arial"/>
                <a:ea typeface="+mn-lt"/>
                <a:cs typeface="Arial"/>
              </a:rPr>
              <a:t> </a:t>
            </a:r>
            <a:endParaRPr lang="en-US" sz="1200" dirty="0">
              <a:solidFill>
                <a:schemeClr val="accent6">
                  <a:lumMod val="76000"/>
                </a:schemeClr>
              </a:solidFill>
              <a:latin typeface="Arial"/>
              <a:ea typeface="+mn-lt"/>
              <a:cs typeface="Arial"/>
            </a:endParaRPr>
          </a:p>
          <a:p>
            <a:r>
              <a:rPr lang="en-US" sz="1200">
                <a:solidFill>
                  <a:srgbClr val="3C4043"/>
                </a:solidFill>
                <a:latin typeface="Arial"/>
                <a:ea typeface="+mn-lt"/>
                <a:cs typeface="Arial"/>
              </a:rPr>
              <a:t>The full model improves RMSE from </a:t>
            </a:r>
            <a:r>
              <a:rPr lang="en-US" sz="1200" b="1">
                <a:solidFill>
                  <a:srgbClr val="3C4043"/>
                </a:solidFill>
                <a:latin typeface="Arial"/>
                <a:ea typeface="+mn-lt"/>
                <a:cs typeface="Arial"/>
              </a:rPr>
              <a:t>3.35</a:t>
            </a:r>
            <a:r>
              <a:rPr lang="en-US" sz="1200">
                <a:solidFill>
                  <a:srgbClr val="3C4043"/>
                </a:solidFill>
                <a:latin typeface="Arial"/>
                <a:ea typeface="+mn-lt"/>
                <a:cs typeface="Arial"/>
              </a:rPr>
              <a:t> (grid-only baseline) to </a:t>
            </a:r>
            <a:r>
              <a:rPr lang="en-US" sz="1200" b="1">
                <a:solidFill>
                  <a:srgbClr val="3C4043"/>
                </a:solidFill>
                <a:latin typeface="Arial"/>
                <a:ea typeface="+mn-lt"/>
                <a:cs typeface="Arial"/>
              </a:rPr>
              <a:t>3.05</a:t>
            </a:r>
            <a:r>
              <a:rPr lang="en-US" sz="1200">
                <a:solidFill>
                  <a:srgbClr val="3C4043"/>
                </a:solidFill>
                <a:latin typeface="Arial"/>
                <a:ea typeface="+mn-lt"/>
                <a:cs typeface="Arial"/>
              </a:rPr>
              <a:t>, but </a:t>
            </a:r>
            <a:r>
              <a:rPr lang="en-US" sz="1200" b="1">
                <a:solidFill>
                  <a:srgbClr val="3C4043"/>
                </a:solidFill>
                <a:latin typeface="Arial"/>
                <a:ea typeface="+mn-lt"/>
                <a:cs typeface="Arial"/>
              </a:rPr>
              <a:t>R² remains around 0.10</a:t>
            </a:r>
            <a:r>
              <a:rPr lang="en-US" sz="1200">
                <a:solidFill>
                  <a:srgbClr val="3C4043"/>
                </a:solidFill>
                <a:latin typeface="Arial"/>
                <a:ea typeface="+mn-lt"/>
                <a:cs typeface="Arial"/>
              </a:rPr>
              <a:t>, indicating that only a small fraction of the variation is predictable.</a:t>
            </a:r>
            <a:endParaRPr lang="en-US" sz="1200">
              <a:latin typeface="Arial"/>
              <a:ea typeface="+mn-lt"/>
              <a:cs typeface="Arial"/>
            </a:endParaRPr>
          </a:p>
          <a:p>
            <a:pPr marL="0" indent="0">
              <a:buNone/>
            </a:pPr>
            <a:endParaRPr lang="en-US" sz="1200" dirty="0">
              <a:solidFill>
                <a:srgbClr val="3C4043"/>
              </a:solidFill>
              <a:latin typeface="Arial"/>
              <a:cs typeface="Arial"/>
            </a:endParaRPr>
          </a:p>
          <a:p>
            <a:pPr marL="0" indent="0">
              <a:buNone/>
            </a:pPr>
            <a:r>
              <a:rPr lang="en-US" sz="1250" dirty="0">
                <a:solidFill>
                  <a:srgbClr val="000000"/>
                </a:solidFill>
                <a:latin typeface="Arial"/>
                <a:ea typeface="Arial" pitchFamily="34" charset="-122"/>
                <a:cs typeface="Arial"/>
              </a:rPr>
              <a:t>
</a:t>
            </a:r>
            <a:endParaRPr lang="en-US" sz="1200">
              <a:latin typeface="Arial"/>
              <a:ea typeface="Calibri"/>
              <a:cs typeface="Arial"/>
            </a:endParaRPr>
          </a:p>
        </p:txBody>
      </p:sp>
      <p:sp>
        <p:nvSpPr>
          <p:cNvPr id="11" name="TextBox 10">
            <a:extLst>
              <a:ext uri="{FF2B5EF4-FFF2-40B4-BE49-F238E27FC236}">
                <a16:creationId xmlns:a16="http://schemas.microsoft.com/office/drawing/2014/main" id="{F7976D0C-F557-FD52-23D4-CA828C296B54}"/>
              </a:ext>
            </a:extLst>
          </p:cNvPr>
          <p:cNvSpPr txBox="1"/>
          <p:nvPr/>
        </p:nvSpPr>
        <p:spPr>
          <a:xfrm>
            <a:off x="962357" y="3409076"/>
            <a:ext cx="2852056"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latin typeface="Calibri"/>
                <a:ea typeface="+mn-lt"/>
                <a:cs typeface="Calibri"/>
              </a:rPr>
              <a:t>Random Forest Feature Importance</a:t>
            </a:r>
            <a:endParaRPr lang="en-US" sz="1200">
              <a:latin typeface="Calibri"/>
              <a:ea typeface="Calibri"/>
              <a:cs typeface="Calibri"/>
            </a:endParaRPr>
          </a:p>
        </p:txBody>
      </p:sp>
      <p:sp>
        <p:nvSpPr>
          <p:cNvPr id="13" name="TextBox 12">
            <a:extLst>
              <a:ext uri="{FF2B5EF4-FFF2-40B4-BE49-F238E27FC236}">
                <a16:creationId xmlns:a16="http://schemas.microsoft.com/office/drawing/2014/main" id="{89C3060D-57C4-820A-BC18-9B3824A440B5}"/>
              </a:ext>
            </a:extLst>
          </p:cNvPr>
          <p:cNvSpPr txBox="1"/>
          <p:nvPr/>
        </p:nvSpPr>
        <p:spPr>
          <a:xfrm>
            <a:off x="5358337" y="3404455"/>
            <a:ext cx="3292928"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latin typeface="Calibri"/>
                <a:ea typeface="+mn-lt"/>
                <a:cs typeface="Calibri"/>
              </a:rPr>
              <a:t>Predicted vs Actual (RF, 2025)</a:t>
            </a:r>
            <a:endParaRPr lang="en-US" sz="1200">
              <a:latin typeface="Calibri"/>
              <a:ea typeface="Calibri"/>
              <a:cs typeface="Calibri"/>
            </a:endParaRPr>
          </a:p>
        </p:txBody>
      </p:sp>
      <p:pic>
        <p:nvPicPr>
          <p:cNvPr id="10" name="Image 1" descr="D:/DAI/f1/dai-mission-group-k/supervised.png">
            <a:extLst>
              <a:ext uri="{FF2B5EF4-FFF2-40B4-BE49-F238E27FC236}">
                <a16:creationId xmlns:a16="http://schemas.microsoft.com/office/drawing/2014/main" id="{3AABFB14-9371-C208-CAF5-DE363079728A}"/>
              </a:ext>
            </a:extLst>
          </p:cNvPr>
          <p:cNvPicPr>
            <a:picLocks noChangeAspect="1"/>
          </p:cNvPicPr>
          <p:nvPr/>
        </p:nvPicPr>
        <p:blipFill>
          <a:blip r:embed="rId4"/>
          <a:srcRect l="53361" t="291" r="-7025" b="-356"/>
          <a:stretch>
            <a:fillRect/>
          </a:stretch>
        </p:blipFill>
        <p:spPr>
          <a:xfrm>
            <a:off x="4470694" y="1360714"/>
            <a:ext cx="3750907" cy="207167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7E462381-A281-72C7-CE8A-45D48F027279}"/>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FBAAA749-905D-965F-CC0C-98D07C4C292D}"/>
              </a:ext>
            </a:extLst>
          </p:cNvPr>
          <p:cNvSpPr/>
          <p:nvPr/>
        </p:nvSpPr>
        <p:spPr>
          <a:xfrm>
            <a:off x="8796528" y="0"/>
            <a:ext cx="347472" cy="5143500"/>
          </a:xfrm>
          <a:prstGeom prst="rect">
            <a:avLst/>
          </a:prstGeom>
          <a:solidFill>
            <a:srgbClr val="639A00"/>
          </a:solidFill>
          <a:ln/>
        </p:spPr>
      </p:sp>
      <p:sp>
        <p:nvSpPr>
          <p:cNvPr id="3" name="Text 1">
            <a:extLst>
              <a:ext uri="{FF2B5EF4-FFF2-40B4-BE49-F238E27FC236}">
                <a16:creationId xmlns:a16="http://schemas.microsoft.com/office/drawing/2014/main" id="{43EA673E-4C9A-A2A1-F781-3302137E9C74}"/>
              </a:ext>
            </a:extLst>
          </p:cNvPr>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a:extLst>
              <a:ext uri="{FF2B5EF4-FFF2-40B4-BE49-F238E27FC236}">
                <a16:creationId xmlns:a16="http://schemas.microsoft.com/office/drawing/2014/main" id="{7AC425B1-25B8-3E23-07CC-6CAC8A3156BA}"/>
              </a:ext>
            </a:extLst>
          </p:cNvPr>
          <p:cNvPicPr>
            <a:picLocks noChangeAspect="1"/>
          </p:cNvPicPr>
          <p:nvPr/>
        </p:nvPicPr>
        <p:blipFill>
          <a:blip r:embed="rId3"/>
          <a:stretch>
            <a:fillRect/>
          </a:stretch>
        </p:blipFill>
        <p:spPr>
          <a:xfrm>
            <a:off x="7479792" y="274320"/>
            <a:ext cx="1170432" cy="205740"/>
          </a:xfrm>
          <a:prstGeom prst="rect">
            <a:avLst/>
          </a:prstGeom>
        </p:spPr>
      </p:pic>
      <p:sp>
        <p:nvSpPr>
          <p:cNvPr id="5" name="Text 2">
            <a:extLst>
              <a:ext uri="{FF2B5EF4-FFF2-40B4-BE49-F238E27FC236}">
                <a16:creationId xmlns:a16="http://schemas.microsoft.com/office/drawing/2014/main" id="{AF8B2E4E-FB85-42D2-36F9-78653BD8B672}"/>
              </a:ext>
            </a:extLst>
          </p:cNvPr>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17</a:t>
            </a:r>
            <a:endParaRPr lang="en-US" sz="1000"/>
          </a:p>
        </p:txBody>
      </p:sp>
      <p:sp>
        <p:nvSpPr>
          <p:cNvPr id="6" name="Text 3">
            <a:extLst>
              <a:ext uri="{FF2B5EF4-FFF2-40B4-BE49-F238E27FC236}">
                <a16:creationId xmlns:a16="http://schemas.microsoft.com/office/drawing/2014/main" id="{B665E1D2-CF0A-97E9-6960-5EA64060BD4D}"/>
              </a:ext>
            </a:extLst>
          </p:cNvPr>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RESULTS</a:t>
            </a:r>
            <a:endParaRPr lang="en-US" sz="1100"/>
          </a:p>
        </p:txBody>
      </p:sp>
      <p:sp>
        <p:nvSpPr>
          <p:cNvPr id="7" name="Text 4">
            <a:extLst>
              <a:ext uri="{FF2B5EF4-FFF2-40B4-BE49-F238E27FC236}">
                <a16:creationId xmlns:a16="http://schemas.microsoft.com/office/drawing/2014/main" id="{31822C08-6725-72F6-889F-145F03C91CB8}"/>
              </a:ext>
            </a:extLst>
          </p:cNvPr>
          <p:cNvSpPr/>
          <p:nvPr/>
        </p:nvSpPr>
        <p:spPr>
          <a:xfrm>
            <a:off x="548640" y="658368"/>
            <a:ext cx="7863840" cy="566928"/>
          </a:xfrm>
          <a:prstGeom prst="rect">
            <a:avLst/>
          </a:prstGeom>
          <a:noFill/>
          <a:ln/>
        </p:spPr>
        <p:txBody>
          <a:bodyPr wrap="square" lIns="0" tIns="0" rIns="0" bIns="0" rtlCol="0" anchor="ctr"/>
          <a:lstStyle/>
          <a:p>
            <a:r>
              <a:rPr lang="en-US" sz="2600" b="1">
                <a:solidFill>
                  <a:srgbClr val="36393B"/>
                </a:solidFill>
                <a:latin typeface="Arial Black"/>
                <a:ea typeface="+mn-lt"/>
                <a:cs typeface="+mn-lt"/>
              </a:rPr>
              <a:t>WHY IS PREDICTION DIFFICULT?</a:t>
            </a:r>
            <a:endParaRPr lang="en-US" b="1">
              <a:latin typeface="Arial Black"/>
              <a:ea typeface="+mn-lt"/>
              <a:cs typeface="+mn-lt"/>
            </a:endParaRPr>
          </a:p>
        </p:txBody>
      </p:sp>
      <p:sp>
        <p:nvSpPr>
          <p:cNvPr id="11" name="TextBox 10">
            <a:extLst>
              <a:ext uri="{FF2B5EF4-FFF2-40B4-BE49-F238E27FC236}">
                <a16:creationId xmlns:a16="http://schemas.microsoft.com/office/drawing/2014/main" id="{92D63562-16AA-849F-659E-F1EE4A373146}"/>
              </a:ext>
            </a:extLst>
          </p:cNvPr>
          <p:cNvSpPr txBox="1"/>
          <p:nvPr/>
        </p:nvSpPr>
        <p:spPr>
          <a:xfrm>
            <a:off x="548700" y="1433320"/>
            <a:ext cx="7815941" cy="343940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accent6">
                    <a:lumMod val="76000"/>
                  </a:schemeClr>
                </a:solidFill>
                <a:latin typeface="Arial"/>
                <a:cs typeface="Arial"/>
              </a:rPr>
              <a:t>Most variation is noise</a:t>
            </a:r>
            <a:endParaRPr lang="en-US" sz="1400">
              <a:solidFill>
                <a:schemeClr val="accent6">
                  <a:lumMod val="76000"/>
                </a:schemeClr>
              </a:solidFill>
              <a:latin typeface="Arial"/>
              <a:ea typeface="Calibri"/>
              <a:cs typeface="Arial"/>
            </a:endParaRPr>
          </a:p>
          <a:p>
            <a:endParaRPr lang="en-US" sz="1400" b="1">
              <a:solidFill>
                <a:schemeClr val="accent6">
                  <a:lumMod val="76000"/>
                </a:schemeClr>
              </a:solidFill>
              <a:latin typeface="Arial"/>
              <a:ea typeface="+mn-lt"/>
              <a:cs typeface="Arial"/>
            </a:endParaRPr>
          </a:p>
          <a:p>
            <a:r>
              <a:rPr lang="en-US" sz="1400">
                <a:ea typeface="+mn-lt"/>
                <a:cs typeface="+mn-lt"/>
              </a:rPr>
              <a:t>Mixed-effects modelling attributes roughly </a:t>
            </a:r>
            <a:r>
              <a:rPr lang="en-US" sz="1400" b="1">
                <a:ea typeface="+mn-lt"/>
                <a:cs typeface="+mn-lt"/>
              </a:rPr>
              <a:t>80% </a:t>
            </a:r>
            <a:r>
              <a:rPr lang="en-US" sz="1400">
                <a:ea typeface="+mn-lt"/>
                <a:cs typeface="+mn-lt"/>
              </a:rPr>
              <a:t>of the variance to residual variation not explained by the available predictors.</a:t>
            </a:r>
            <a:endParaRPr lang="en-US">
              <a:ea typeface="+mn-lt"/>
              <a:cs typeface="+mn-lt"/>
            </a:endParaRPr>
          </a:p>
          <a:p>
            <a:endParaRPr lang="en-US" sz="1400">
              <a:latin typeface="Arial"/>
              <a:ea typeface="Calibri"/>
              <a:cs typeface="Arial"/>
            </a:endParaRPr>
          </a:p>
          <a:p>
            <a:r>
              <a:rPr lang="en-US" sz="1400" b="1">
                <a:solidFill>
                  <a:schemeClr val="accent6">
                    <a:lumMod val="76000"/>
                  </a:schemeClr>
                </a:solidFill>
                <a:latin typeface="Arial"/>
                <a:cs typeface="Arial"/>
              </a:rPr>
              <a:t>We are close to the prediction ceiling</a:t>
            </a:r>
            <a:endParaRPr lang="en-US" sz="1400">
              <a:solidFill>
                <a:schemeClr val="accent6">
                  <a:lumMod val="76000"/>
                </a:schemeClr>
              </a:solidFill>
              <a:latin typeface="Arial"/>
              <a:ea typeface="Calibri"/>
              <a:cs typeface="Arial"/>
            </a:endParaRPr>
          </a:p>
          <a:p>
            <a:endParaRPr lang="en-US" sz="1400" b="1">
              <a:solidFill>
                <a:schemeClr val="accent6">
                  <a:lumMod val="76000"/>
                </a:schemeClr>
              </a:solidFill>
              <a:latin typeface="Arial"/>
              <a:ea typeface="+mn-lt"/>
              <a:cs typeface="Arial"/>
            </a:endParaRPr>
          </a:p>
          <a:p>
            <a:r>
              <a:rPr lang="en-US" sz="1400">
                <a:latin typeface="Arial"/>
                <a:ea typeface="+mn-lt"/>
                <a:cs typeface="Arial"/>
              </a:rPr>
              <a:t>Feature ablation shows that adding more engineered features provides only small improvements, with RMSE </a:t>
            </a:r>
            <a:r>
              <a:rPr lang="en-US" sz="1400" err="1">
                <a:latin typeface="Arial"/>
                <a:ea typeface="+mn-lt"/>
                <a:cs typeface="Arial"/>
              </a:rPr>
              <a:t>stabilising</a:t>
            </a:r>
            <a:r>
              <a:rPr lang="en-US" sz="1400">
                <a:latin typeface="Arial"/>
                <a:ea typeface="+mn-lt"/>
                <a:cs typeface="Arial"/>
              </a:rPr>
              <a:t> around </a:t>
            </a:r>
            <a:r>
              <a:rPr lang="en-US" sz="1400" b="1">
                <a:latin typeface="Arial"/>
                <a:ea typeface="+mn-lt"/>
                <a:cs typeface="Arial"/>
              </a:rPr>
              <a:t>3.0</a:t>
            </a:r>
            <a:r>
              <a:rPr lang="en-US" sz="1400">
                <a:latin typeface="Arial"/>
                <a:ea typeface="+mn-lt"/>
                <a:cs typeface="Arial"/>
              </a:rPr>
              <a:t>.</a:t>
            </a:r>
            <a:endParaRPr lang="en-US" sz="1400">
              <a:latin typeface="Arial"/>
              <a:ea typeface="Calibri"/>
              <a:cs typeface="Arial"/>
            </a:endParaRPr>
          </a:p>
          <a:p>
            <a:endParaRPr lang="en-US" sz="1400">
              <a:latin typeface="Arial"/>
              <a:ea typeface="Calibri"/>
              <a:cs typeface="Arial"/>
            </a:endParaRPr>
          </a:p>
          <a:p>
            <a:r>
              <a:rPr lang="en-US" sz="1400" b="1">
                <a:solidFill>
                  <a:schemeClr val="accent6">
                    <a:lumMod val="76000"/>
                  </a:schemeClr>
                </a:solidFill>
                <a:latin typeface="Arial"/>
                <a:cs typeface="Arial"/>
              </a:rPr>
              <a:t>Some decisions are much easier to predict</a:t>
            </a:r>
            <a:endParaRPr lang="en-US" sz="1400">
              <a:solidFill>
                <a:schemeClr val="accent6">
                  <a:lumMod val="76000"/>
                </a:schemeClr>
              </a:solidFill>
              <a:latin typeface="Arial"/>
              <a:ea typeface="Calibri"/>
              <a:cs typeface="Arial"/>
            </a:endParaRPr>
          </a:p>
          <a:p>
            <a:endParaRPr lang="en-US" sz="1400" b="1">
              <a:solidFill>
                <a:schemeClr val="accent6">
                  <a:lumMod val="76000"/>
                </a:schemeClr>
              </a:solidFill>
              <a:latin typeface="Arial"/>
              <a:ea typeface="+mn-lt"/>
              <a:cs typeface="Arial"/>
            </a:endParaRPr>
          </a:p>
          <a:p>
            <a:r>
              <a:rPr lang="en-US" sz="1400">
                <a:latin typeface="Arial"/>
                <a:ea typeface="+mn-lt"/>
                <a:cs typeface="Arial"/>
              </a:rPr>
              <a:t>While race outcome is noisy, the </a:t>
            </a:r>
            <a:r>
              <a:rPr lang="en-US" sz="1400" b="1">
                <a:latin typeface="Arial"/>
                <a:ea typeface="+mn-lt"/>
                <a:cs typeface="Arial"/>
              </a:rPr>
              <a:t>pit-stop decision</a:t>
            </a:r>
            <a:r>
              <a:rPr lang="en-US" sz="1400">
                <a:latin typeface="Arial"/>
                <a:ea typeface="+mn-lt"/>
                <a:cs typeface="Arial"/>
              </a:rPr>
              <a:t> is highly predictable, achieving an </a:t>
            </a:r>
            <a:r>
              <a:rPr lang="en-US" sz="1400" b="1">
                <a:latin typeface="Arial"/>
                <a:ea typeface="+mn-lt"/>
                <a:cs typeface="Arial"/>
              </a:rPr>
              <a:t>AUC of 0.96</a:t>
            </a:r>
            <a:r>
              <a:rPr lang="en-US" sz="1400">
                <a:latin typeface="Arial"/>
                <a:ea typeface="+mn-lt"/>
                <a:cs typeface="Arial"/>
              </a:rPr>
              <a:t>.</a:t>
            </a:r>
            <a:endParaRPr lang="en-US" sz="1400">
              <a:latin typeface="Arial"/>
              <a:ea typeface="Calibri"/>
              <a:cs typeface="Arial"/>
            </a:endParaRPr>
          </a:p>
          <a:p>
            <a:endParaRPr lang="en-US" sz="1400">
              <a:ea typeface="Calibri"/>
              <a:cs typeface="Calibri"/>
            </a:endParaRPr>
          </a:p>
        </p:txBody>
      </p:sp>
    </p:spTree>
    <p:extLst>
      <p:ext uri="{BB962C8B-B14F-4D97-AF65-F5344CB8AC3E}">
        <p14:creationId xmlns:p14="http://schemas.microsoft.com/office/powerpoint/2010/main" val="101435188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18</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RESULTS</a:t>
            </a:r>
            <a:endParaRPr lang="en-US" sz="1100"/>
          </a:p>
        </p:txBody>
      </p:sp>
      <p:sp>
        <p:nvSpPr>
          <p:cNvPr id="7" name="Text 4"/>
          <p:cNvSpPr/>
          <p:nvPr/>
        </p:nvSpPr>
        <p:spPr>
          <a:xfrm>
            <a:off x="548640" y="658368"/>
            <a:ext cx="7863840" cy="566928"/>
          </a:xfrm>
          <a:prstGeom prst="rect">
            <a:avLst/>
          </a:prstGeom>
          <a:noFill/>
          <a:ln/>
        </p:spPr>
        <p:txBody>
          <a:bodyPr wrap="square" lIns="0" tIns="0" rIns="0" bIns="0" rtlCol="0" anchor="ctr"/>
          <a:lstStyle/>
          <a:p>
            <a:r>
              <a:rPr lang="en-US" sz="2600">
                <a:solidFill>
                  <a:srgbClr val="36393B"/>
                </a:solidFill>
                <a:latin typeface="Arial Black"/>
              </a:rPr>
              <a:t>PREDICTING RACE ACHIEVEMENTS</a:t>
            </a:r>
            <a:endParaRPr lang="en-US" sz="2600"/>
          </a:p>
        </p:txBody>
      </p:sp>
      <p:sp>
        <p:nvSpPr>
          <p:cNvPr id="8" name="Text 5"/>
          <p:cNvSpPr/>
          <p:nvPr/>
        </p:nvSpPr>
        <p:spPr>
          <a:xfrm>
            <a:off x="548640" y="1508760"/>
            <a:ext cx="4114800" cy="3017520"/>
          </a:xfrm>
          <a:prstGeom prst="rect">
            <a:avLst/>
          </a:prstGeom>
          <a:noFill/>
          <a:ln/>
        </p:spPr>
        <p:txBody>
          <a:bodyPr wrap="square" lIns="0" tIns="0" rIns="0" bIns="0" rtlCol="0" anchor="ctr"/>
          <a:lstStyle/>
          <a:p>
            <a:r>
              <a:rPr lang="en-US" sz="1200" b="1">
                <a:solidFill>
                  <a:schemeClr val="accent6">
                    <a:lumMod val="76000"/>
                  </a:schemeClr>
                </a:solidFill>
                <a:latin typeface="Arial"/>
                <a:cs typeface="Arial"/>
              </a:rPr>
              <a:t>Race achievements are highly predictable.</a:t>
            </a:r>
            <a:endParaRPr lang="en-US" sz="1200" b="1">
              <a:solidFill>
                <a:schemeClr val="accent6">
                  <a:lumMod val="76000"/>
                </a:schemeClr>
              </a:solidFill>
              <a:latin typeface="Arial"/>
              <a:ea typeface="Calibri" panose="020F0502020204030204"/>
              <a:cs typeface="Arial"/>
            </a:endParaRPr>
          </a:p>
          <a:p>
            <a:endParaRPr lang="en-US" sz="1200" b="1">
              <a:solidFill>
                <a:srgbClr val="000000"/>
              </a:solidFill>
              <a:latin typeface="Arial"/>
              <a:ea typeface="+mn-lt"/>
              <a:cs typeface="Arial"/>
            </a:endParaRPr>
          </a:p>
          <a:p>
            <a:r>
              <a:rPr lang="en-US" sz="1200">
                <a:latin typeface="Arial"/>
                <a:ea typeface="+mn-lt"/>
                <a:cs typeface="Arial"/>
              </a:rPr>
              <a:t>The classifiers achieve </a:t>
            </a:r>
            <a:r>
              <a:rPr lang="en-US" sz="1200" b="1">
                <a:latin typeface="Arial"/>
                <a:ea typeface="+mn-lt"/>
                <a:cs typeface="Arial"/>
              </a:rPr>
              <a:t>AUC ≈ 0.87</a:t>
            </a:r>
            <a:r>
              <a:rPr lang="en-US" sz="1200">
                <a:latin typeface="Arial"/>
                <a:ea typeface="+mn-lt"/>
                <a:cs typeface="Arial"/>
              </a:rPr>
              <a:t> for points finishes and three-class outcomes, and </a:t>
            </a:r>
            <a:r>
              <a:rPr lang="en-US" sz="1200" b="1">
                <a:latin typeface="Arial"/>
                <a:ea typeface="+mn-lt"/>
                <a:cs typeface="Arial"/>
              </a:rPr>
              <a:t>AUC ≈ 0.95</a:t>
            </a:r>
            <a:r>
              <a:rPr lang="en-US" sz="1200">
                <a:latin typeface="Arial"/>
                <a:ea typeface="+mn-lt"/>
                <a:cs typeface="Arial"/>
              </a:rPr>
              <a:t> for podium finishes.</a:t>
            </a:r>
          </a:p>
          <a:p>
            <a:endParaRPr lang="en-US" sz="1200">
              <a:solidFill>
                <a:srgbClr val="3C4043"/>
              </a:solidFill>
              <a:latin typeface="Arial"/>
              <a:ea typeface="Calibri"/>
              <a:cs typeface="Arial"/>
            </a:endParaRPr>
          </a:p>
          <a:p>
            <a:pPr>
              <a:buNone/>
            </a:pPr>
            <a:r>
              <a:rPr lang="en-US" sz="1200" b="1">
                <a:solidFill>
                  <a:schemeClr val="accent6">
                    <a:lumMod val="76000"/>
                  </a:schemeClr>
                </a:solidFill>
                <a:latin typeface="Arial"/>
                <a:cs typeface="Arial"/>
              </a:rPr>
              <a:t>The strongest signal is the starting grid.</a:t>
            </a:r>
            <a:endParaRPr lang="en-US" sz="1200" b="1">
              <a:solidFill>
                <a:schemeClr val="accent6">
                  <a:lumMod val="76000"/>
                </a:schemeClr>
              </a:solidFill>
              <a:latin typeface="Arial"/>
              <a:ea typeface="Calibri"/>
              <a:cs typeface="Arial"/>
            </a:endParaRPr>
          </a:p>
          <a:p>
            <a:endParaRPr lang="en-US" sz="1200" b="1">
              <a:solidFill>
                <a:srgbClr val="000000"/>
              </a:solidFill>
              <a:latin typeface="Arial"/>
              <a:ea typeface="+mn-lt"/>
              <a:cs typeface="Arial"/>
            </a:endParaRPr>
          </a:p>
          <a:p>
            <a:r>
              <a:rPr lang="en-US" sz="1200">
                <a:latin typeface="Arial"/>
                <a:ea typeface="+mn-lt"/>
                <a:cs typeface="Arial"/>
              </a:rPr>
              <a:t>A grid-only classifier performs nearly as well as the full model, showing that grid position and car quality dominate prediction, while pit strategy contributes comparatively little.</a:t>
            </a:r>
          </a:p>
          <a:p>
            <a:pPr marL="0" indent="0">
              <a:buNone/>
            </a:pPr>
            <a:endParaRPr lang="en-US" sz="1200">
              <a:solidFill>
                <a:srgbClr val="3C4043"/>
              </a:solidFill>
              <a:latin typeface="Arial"/>
              <a:cs typeface="Arial"/>
            </a:endParaRPr>
          </a:p>
        </p:txBody>
      </p:sp>
      <p:graphicFrame>
        <p:nvGraphicFramePr>
          <p:cNvPr id="9" name="Chart 0"/>
          <p:cNvGraphicFramePr/>
          <p:nvPr>
            <p:extLst>
              <p:ext uri="{D42A27DB-BD31-4B8C-83A1-F6EECF244321}">
                <p14:modId xmlns:p14="http://schemas.microsoft.com/office/powerpoint/2010/main" val="1031502306"/>
              </p:ext>
            </p:extLst>
          </p:nvPr>
        </p:nvGraphicFramePr>
        <p:xfrm>
          <a:off x="4807131" y="1369423"/>
          <a:ext cx="3840480" cy="301752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512064" y="914400"/>
            <a:ext cx="3108960" cy="1645920"/>
          </a:xfrm>
          <a:prstGeom prst="rect">
            <a:avLst/>
          </a:prstGeom>
          <a:noFill/>
          <a:ln/>
        </p:spPr>
        <p:txBody>
          <a:bodyPr wrap="square" lIns="0" tIns="0" rIns="0" bIns="0" rtlCol="0" anchor="ctr"/>
          <a:lstStyle/>
          <a:p>
            <a:pPr marL="0" indent="0">
              <a:buNone/>
            </a:pPr>
            <a:r>
              <a:rPr lang="en-US" sz="10400">
                <a:solidFill>
                  <a:srgbClr val="639A00"/>
                </a:solidFill>
                <a:latin typeface="Arial Black" pitchFamily="34" charset="0"/>
                <a:ea typeface="Arial Black" pitchFamily="34" charset="-122"/>
                <a:cs typeface="Arial Black" pitchFamily="34" charset="-120"/>
              </a:rPr>
              <a:t>05</a:t>
            </a:r>
            <a:endParaRPr lang="en-US" sz="10400"/>
          </a:p>
        </p:txBody>
      </p:sp>
      <p:sp>
        <p:nvSpPr>
          <p:cNvPr id="6" name="Text 3"/>
          <p:cNvSpPr/>
          <p:nvPr/>
        </p:nvSpPr>
        <p:spPr>
          <a:xfrm>
            <a:off x="539714" y="2724912"/>
            <a:ext cx="6638108" cy="822960"/>
          </a:xfrm>
          <a:prstGeom prst="rect">
            <a:avLst/>
          </a:prstGeom>
          <a:noFill/>
          <a:ln/>
        </p:spPr>
        <p:txBody>
          <a:bodyPr wrap="square" lIns="0" tIns="0" rIns="0" bIns="0" rtlCol="0" anchor="ctr"/>
          <a:lstStyle/>
          <a:p>
            <a:r>
              <a:rPr lang="en-US" sz="3300">
                <a:solidFill>
                  <a:srgbClr val="36393B"/>
                </a:solidFill>
                <a:latin typeface="Arial Black"/>
                <a:ea typeface="Arial Black" pitchFamily="34" charset="-122"/>
                <a:cs typeface="Arial Black" pitchFamily="34" charset="-120"/>
              </a:rPr>
              <a:t>UNSUPERVISED LEARNING</a:t>
            </a:r>
            <a:endParaRPr lang="en-US" sz="33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19</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OBJECTIVE &amp; SETUP</a:t>
            </a:r>
            <a:endParaRPr lang="en-US" sz="1100"/>
          </a:p>
        </p:txBody>
      </p:sp>
      <p:sp>
        <p:nvSpPr>
          <p:cNvPr id="7" name="Text 4"/>
          <p:cNvSpPr/>
          <p:nvPr/>
        </p:nvSpPr>
        <p:spPr>
          <a:xfrm>
            <a:off x="548640" y="658368"/>
            <a:ext cx="7863840" cy="566928"/>
          </a:xfrm>
          <a:prstGeom prst="rect">
            <a:avLst/>
          </a:prstGeom>
          <a:noFill/>
          <a:ln/>
        </p:spPr>
        <p:txBody>
          <a:bodyPr wrap="square" lIns="0" tIns="0" rIns="0" bIns="0" rtlCol="0" anchor="ctr"/>
          <a:lstStyle/>
          <a:p>
            <a:r>
              <a:rPr lang="en-US" sz="2600">
                <a:solidFill>
                  <a:srgbClr val="36393B"/>
                </a:solidFill>
                <a:latin typeface="Arial Black"/>
              </a:rPr>
              <a:t>WHY UNSUPERVISED LEARNING</a:t>
            </a:r>
            <a:endParaRPr lang="en-US"/>
          </a:p>
        </p:txBody>
      </p:sp>
      <p:sp>
        <p:nvSpPr>
          <p:cNvPr id="8" name="Text 5"/>
          <p:cNvSpPr/>
          <p:nvPr/>
        </p:nvSpPr>
        <p:spPr>
          <a:xfrm>
            <a:off x="548640" y="1481328"/>
            <a:ext cx="8046720" cy="2673313"/>
          </a:xfrm>
          <a:prstGeom prst="rect">
            <a:avLst/>
          </a:prstGeom>
          <a:noFill/>
          <a:ln/>
        </p:spPr>
        <p:txBody>
          <a:bodyPr wrap="square" lIns="0" tIns="0" rIns="0" bIns="0" rtlCol="0" anchor="ctr"/>
          <a:lstStyle/>
          <a:p>
            <a:r>
              <a:rPr lang="en-US" sz="1400">
                <a:latin typeface="Arial"/>
                <a:ea typeface="+mn-lt"/>
                <a:cs typeface="Arial"/>
              </a:rPr>
              <a:t>The causal block asks </a:t>
            </a:r>
            <a:r>
              <a:rPr lang="en-US" sz="1400" b="1">
                <a:latin typeface="Arial"/>
                <a:ea typeface="+mn-lt"/>
                <a:cs typeface="Arial"/>
              </a:rPr>
              <a:t>whether</a:t>
            </a:r>
            <a:r>
              <a:rPr lang="en-US" sz="1400">
                <a:latin typeface="Arial"/>
                <a:ea typeface="+mn-lt"/>
                <a:cs typeface="Arial"/>
              </a:rPr>
              <a:t> an early pit stop works.</a:t>
            </a:r>
          </a:p>
          <a:p>
            <a:br>
              <a:rPr lang="en-US" sz="1400">
                <a:latin typeface="Arial"/>
                <a:ea typeface="+mn-lt"/>
                <a:cs typeface="Arial"/>
              </a:rPr>
            </a:br>
            <a:r>
              <a:rPr lang="en-US" sz="1400">
                <a:latin typeface="Arial"/>
                <a:ea typeface="+mn-lt"/>
                <a:cs typeface="Arial"/>
              </a:rPr>
              <a:t>This block asks: </a:t>
            </a:r>
            <a:r>
              <a:rPr lang="en-US" sz="1400" b="1">
                <a:latin typeface="Arial"/>
                <a:ea typeface="+mn-lt"/>
                <a:cs typeface="Arial"/>
              </a:rPr>
              <a:t>what strategy patterns actually exist?</a:t>
            </a:r>
            <a:endParaRPr lang="en-US" sz="1400">
              <a:latin typeface="Arial"/>
              <a:cs typeface="Arial"/>
            </a:endParaRPr>
          </a:p>
          <a:p>
            <a:pPr marL="285750" indent="-285750">
              <a:buFont typeface="Arial"/>
              <a:buChar char="•"/>
            </a:pPr>
            <a:r>
              <a:rPr lang="en-US" sz="1400">
                <a:latin typeface="Arial"/>
                <a:ea typeface="+mn-lt"/>
                <a:cs typeface="Arial"/>
              </a:rPr>
              <a:t>3,324 dry-compound stints across 2022–2025</a:t>
            </a:r>
            <a:endParaRPr lang="en-US" sz="1400">
              <a:latin typeface="Arial"/>
              <a:cs typeface="Arial"/>
            </a:endParaRPr>
          </a:p>
          <a:p>
            <a:pPr marL="285750" indent="-285750">
              <a:buFont typeface="Arial"/>
              <a:buChar char="•"/>
            </a:pPr>
            <a:r>
              <a:rPr lang="en-US" sz="1400">
                <a:latin typeface="Arial"/>
                <a:ea typeface="+mn-lt"/>
                <a:cs typeface="Arial"/>
              </a:rPr>
              <a:t>No labels -drivers and teams make choices, we discover structure</a:t>
            </a:r>
            <a:endParaRPr lang="en-US" sz="1400">
              <a:latin typeface="Arial"/>
              <a:cs typeface="Arial"/>
            </a:endParaRPr>
          </a:p>
          <a:p>
            <a:pPr marL="285750" indent="-285750">
              <a:buFont typeface="Arial"/>
              <a:buChar char="•"/>
            </a:pPr>
            <a:r>
              <a:rPr lang="en-US" sz="1400">
                <a:latin typeface="Arial"/>
                <a:ea typeface="+mn-lt"/>
                <a:cs typeface="Arial"/>
              </a:rPr>
              <a:t>Goal: </a:t>
            </a:r>
            <a:r>
              <a:rPr lang="en-US" sz="1400" b="1">
                <a:latin typeface="Arial"/>
                <a:ea typeface="+mn-lt"/>
                <a:cs typeface="Arial"/>
              </a:rPr>
              <a:t>interpretable archetypes</a:t>
            </a:r>
            <a:r>
              <a:rPr lang="en-US" sz="1400">
                <a:latin typeface="Arial"/>
                <a:ea typeface="+mn-lt"/>
                <a:cs typeface="Arial"/>
              </a:rPr>
              <a:t> that connect back to the causal treatment definition</a:t>
            </a:r>
            <a:endParaRPr lang="en-US" sz="1400">
              <a:latin typeface="Arial"/>
              <a:cs typeface="Arial"/>
            </a:endParaRPr>
          </a:p>
          <a:p>
            <a:pPr marL="285750" indent="-285750">
              <a:buFont typeface="Arial"/>
              <a:buChar char="•"/>
            </a:pPr>
            <a:endParaRPr lang="en-US" sz="1400" b="1">
              <a:solidFill>
                <a:srgbClr val="000000"/>
              </a:solidFill>
              <a:latin typeface="Arial"/>
              <a:ea typeface="+mn-lt"/>
              <a:cs typeface="Arial"/>
            </a:endParaRPr>
          </a:p>
          <a:p>
            <a:r>
              <a:rPr lang="en-US" sz="1400" b="1">
                <a:solidFill>
                  <a:srgbClr val="000000"/>
                </a:solidFill>
                <a:latin typeface="Arial"/>
                <a:ea typeface="+mn-lt"/>
                <a:cs typeface="Arial"/>
              </a:rPr>
              <a:t>Key question:</a:t>
            </a:r>
            <a:r>
              <a:rPr lang="en-US" sz="1400">
                <a:solidFill>
                  <a:srgbClr val="000000"/>
                </a:solidFill>
                <a:latin typeface="Arial"/>
                <a:ea typeface="+mn-lt"/>
                <a:cs typeface="Arial"/>
              </a:rPr>
              <a:t> Does the `</a:t>
            </a:r>
            <a:r>
              <a:rPr lang="en-US" sz="1400" err="1">
                <a:solidFill>
                  <a:srgbClr val="000000"/>
                </a:solidFill>
                <a:latin typeface="Arial"/>
                <a:ea typeface="+mn-lt"/>
                <a:cs typeface="Arial"/>
              </a:rPr>
              <a:t>early_pit</a:t>
            </a:r>
            <a:r>
              <a:rPr lang="en-US" sz="1400">
                <a:solidFill>
                  <a:srgbClr val="000000"/>
                </a:solidFill>
                <a:latin typeface="Arial"/>
                <a:ea typeface="+mn-lt"/>
                <a:cs typeface="Arial"/>
              </a:rPr>
              <a:t> binary` (&lt; 40%) correspond to a real, distinct cluster?</a:t>
            </a:r>
            <a:endParaRPr lang="en-US" sz="1400">
              <a:latin typeface="Arial"/>
              <a:ea typeface="Calibri"/>
              <a:cs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txBody>
          <a:bodyPr/>
          <a:lstStyle/>
          <a:p>
            <a:endParaRPr lang="en-US"/>
          </a:p>
        </p:txBody>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20</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METHODOLOGY &amp; METRICS</a:t>
            </a:r>
            <a:endParaRPr lang="en-US" sz="1100"/>
          </a:p>
        </p:txBody>
      </p:sp>
      <p:sp>
        <p:nvSpPr>
          <p:cNvPr id="7" name="Text 4"/>
          <p:cNvSpPr/>
          <p:nvPr/>
        </p:nvSpPr>
        <p:spPr>
          <a:xfrm>
            <a:off x="548640" y="658368"/>
            <a:ext cx="7863840" cy="746542"/>
          </a:xfrm>
          <a:prstGeom prst="rect">
            <a:avLst/>
          </a:prstGeom>
          <a:noFill/>
          <a:ln/>
        </p:spPr>
        <p:txBody>
          <a:bodyPr wrap="square" lIns="0" tIns="0" rIns="0" bIns="0" rtlCol="0" anchor="ctr"/>
          <a:lstStyle/>
          <a:p>
            <a:r>
              <a:rPr lang="en-US" sz="2600">
                <a:solidFill>
                  <a:srgbClr val="36393B"/>
                </a:solidFill>
                <a:latin typeface="Arial Black"/>
              </a:rPr>
              <a:t>Choosing Clusters</a:t>
            </a:r>
            <a:endParaRPr lang="en-US"/>
          </a:p>
        </p:txBody>
      </p:sp>
      <p:sp>
        <p:nvSpPr>
          <p:cNvPr id="14" name="TextBox 13">
            <a:extLst>
              <a:ext uri="{FF2B5EF4-FFF2-40B4-BE49-F238E27FC236}">
                <a16:creationId xmlns:a16="http://schemas.microsoft.com/office/drawing/2014/main" id="{3AFA86CA-81C6-7074-F272-96441B86C243}"/>
              </a:ext>
            </a:extLst>
          </p:cNvPr>
          <p:cNvSpPr txBox="1"/>
          <p:nvPr/>
        </p:nvSpPr>
        <p:spPr>
          <a:xfrm>
            <a:off x="992729" y="4059897"/>
            <a:ext cx="6783456"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b="1">
                <a:ea typeface="+mn-lt"/>
                <a:cs typeface="+mn-lt"/>
              </a:rPr>
              <a:t>Elbow:</a:t>
            </a:r>
            <a:r>
              <a:rPr lang="en-US" sz="1200">
                <a:ea typeface="+mn-lt"/>
                <a:cs typeface="+mn-lt"/>
              </a:rPr>
              <a:t> inertia curve bends sharply at </a:t>
            </a:r>
            <a:r>
              <a:rPr lang="en-US" sz="1200" b="1">
                <a:ea typeface="+mn-lt"/>
                <a:cs typeface="+mn-lt"/>
              </a:rPr>
              <a:t>k = 3 </a:t>
            </a:r>
            <a:r>
              <a:rPr lang="en-US" sz="1200">
                <a:ea typeface="+mn-lt"/>
                <a:cs typeface="+mn-lt"/>
              </a:rPr>
              <a:t>and flattens beyond it</a:t>
            </a:r>
          </a:p>
          <a:p>
            <a:r>
              <a:rPr lang="en-US" sz="1200" b="1">
                <a:ea typeface="+mn-lt"/>
                <a:cs typeface="+mn-lt"/>
              </a:rPr>
              <a:t>Silhouette:</a:t>
            </a:r>
            <a:r>
              <a:rPr lang="en-US" sz="1200">
                <a:ea typeface="+mn-lt"/>
                <a:cs typeface="+mn-lt"/>
              </a:rPr>
              <a:t> peaks at </a:t>
            </a:r>
            <a:r>
              <a:rPr lang="en-US" sz="1200" b="1">
                <a:ea typeface="+mn-lt"/>
                <a:cs typeface="+mn-lt"/>
              </a:rPr>
              <a:t>k = 3</a:t>
            </a:r>
            <a:r>
              <a:rPr lang="en-US" sz="1200">
                <a:ea typeface="+mn-lt"/>
                <a:cs typeface="+mn-lt"/>
              </a:rPr>
              <a:t> (score ≈ 0.358 &gt; 0.30 threshold), drops for k &gt; 4</a:t>
            </a:r>
            <a:endParaRPr lang="en-US" sz="1200">
              <a:ea typeface="Calibri"/>
              <a:cs typeface="Calibri"/>
            </a:endParaRPr>
          </a:p>
          <a:p>
            <a:r>
              <a:rPr lang="en-US" sz="1200" b="1">
                <a:ea typeface="+mn-lt"/>
                <a:cs typeface="+mn-lt"/>
              </a:rPr>
              <a:t>Decision: k = 3 </a:t>
            </a:r>
            <a:r>
              <a:rPr lang="en-US" sz="1200">
                <a:ea typeface="+mn-lt"/>
                <a:cs typeface="+mn-lt"/>
              </a:rPr>
              <a:t>agreed by both criteria; interpretable (3 natural strategy types)</a:t>
            </a:r>
            <a:endParaRPr lang="en-US" sz="1200">
              <a:ea typeface="Calibri"/>
              <a:cs typeface="Calibri"/>
            </a:endParaRPr>
          </a:p>
        </p:txBody>
      </p:sp>
      <p:pic>
        <p:nvPicPr>
          <p:cNvPr id="16" name="Picture 15">
            <a:extLst>
              <a:ext uri="{FF2B5EF4-FFF2-40B4-BE49-F238E27FC236}">
                <a16:creationId xmlns:a16="http://schemas.microsoft.com/office/drawing/2014/main" id="{D5C21810-5181-9496-7FB6-7F8B23D88A18}"/>
              </a:ext>
            </a:extLst>
          </p:cNvPr>
          <p:cNvPicPr>
            <a:picLocks noChangeAspect="1"/>
          </p:cNvPicPr>
          <p:nvPr/>
        </p:nvPicPr>
        <p:blipFill>
          <a:blip r:embed="rId4"/>
          <a:stretch>
            <a:fillRect/>
          </a:stretch>
        </p:blipFill>
        <p:spPr>
          <a:xfrm>
            <a:off x="664029" y="1606432"/>
            <a:ext cx="7113814" cy="2344292"/>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txBody>
          <a:bodyPr/>
          <a:lstStyle/>
          <a:p>
            <a:endParaRPr lang="en-US"/>
          </a:p>
        </p:txBody>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21</a:t>
            </a:r>
            <a:endParaRPr lang="en-US" sz="1000"/>
          </a:p>
        </p:txBody>
      </p:sp>
      <p:sp>
        <p:nvSpPr>
          <p:cNvPr id="6" name="Text 3"/>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RESULTS</a:t>
            </a:r>
            <a:endParaRPr lang="en-US" sz="1100"/>
          </a:p>
        </p:txBody>
      </p:sp>
      <p:sp>
        <p:nvSpPr>
          <p:cNvPr id="7" name="Text 4"/>
          <p:cNvSpPr/>
          <p:nvPr/>
        </p:nvSpPr>
        <p:spPr>
          <a:xfrm>
            <a:off x="548640" y="658368"/>
            <a:ext cx="7863840" cy="566928"/>
          </a:xfrm>
          <a:prstGeom prst="rect">
            <a:avLst/>
          </a:prstGeom>
          <a:noFill/>
          <a:ln/>
        </p:spPr>
        <p:txBody>
          <a:bodyPr wrap="square" lIns="0" tIns="0" rIns="0" bIns="0" rtlCol="0" anchor="ctr"/>
          <a:lstStyle/>
          <a:p>
            <a:r>
              <a:rPr lang="en-US" sz="2600">
                <a:solidFill>
                  <a:srgbClr val="36393B"/>
                </a:solidFill>
                <a:latin typeface="Arial Black"/>
                <a:ea typeface="+mn-lt"/>
                <a:cs typeface="+mn-lt"/>
              </a:rPr>
              <a:t>PCA Projection</a:t>
            </a:r>
            <a:endParaRPr lang="en-US" sz="2600">
              <a:solidFill>
                <a:srgbClr val="36393B"/>
              </a:solidFill>
              <a:latin typeface="Arial Black"/>
              <a:ea typeface="Calibri"/>
              <a:cs typeface="Calibri"/>
            </a:endParaRPr>
          </a:p>
        </p:txBody>
      </p:sp>
      <p:sp>
        <p:nvSpPr>
          <p:cNvPr id="10" name="Text 5"/>
          <p:cNvSpPr/>
          <p:nvPr/>
        </p:nvSpPr>
        <p:spPr>
          <a:xfrm>
            <a:off x="5049884" y="1222466"/>
            <a:ext cx="3596638" cy="3648891"/>
          </a:xfrm>
          <a:prstGeom prst="rect">
            <a:avLst/>
          </a:prstGeom>
          <a:noFill/>
          <a:ln/>
        </p:spPr>
        <p:txBody>
          <a:bodyPr wrap="square" lIns="0" tIns="0" rIns="0" bIns="0" rtlCol="0" anchor="ctr"/>
          <a:lstStyle/>
          <a:p>
            <a:pPr marL="171450" indent="-171450">
              <a:buFont typeface="Arial"/>
              <a:buChar char="•"/>
            </a:pPr>
            <a:r>
              <a:rPr lang="en-US" sz="1200">
                <a:solidFill>
                  <a:srgbClr val="3C4043"/>
                </a:solidFill>
                <a:ea typeface="+mn-lt"/>
                <a:cs typeface="+mn-lt"/>
              </a:rPr>
              <a:t>PC1 + PC2 together explain 72% of the stint-space variance (44.8% + 27.2%), so this 2D view captures most of the structure</a:t>
            </a:r>
            <a:endParaRPr lang="en-US">
              <a:ea typeface="Calibri" panose="020F0502020204030204"/>
              <a:cs typeface="Calibri" panose="020F0502020204030204"/>
            </a:endParaRPr>
          </a:p>
          <a:p>
            <a:pPr marL="171450" indent="-171450">
              <a:buFont typeface="Arial"/>
              <a:buChar char="•"/>
            </a:pPr>
            <a:r>
              <a:rPr lang="en-US" sz="1200">
                <a:solidFill>
                  <a:srgbClr val="3C4043"/>
                </a:solidFill>
                <a:ea typeface="+mn-lt"/>
                <a:cs typeface="+mn-lt"/>
              </a:rPr>
              <a:t>Aggressive (orange) separates leftward on PC1 -  shorter stints, earlier pit timing pull it toward negative PC1</a:t>
            </a:r>
            <a:endParaRPr lang="en-US">
              <a:ea typeface="Calibri" panose="020F0502020204030204"/>
              <a:cs typeface="Calibri" panose="020F0502020204030204"/>
            </a:endParaRPr>
          </a:p>
          <a:p>
            <a:pPr marL="171450" indent="-171450">
              <a:buFont typeface="Arial"/>
              <a:buChar char="•"/>
            </a:pPr>
            <a:r>
              <a:rPr lang="en-US" sz="1200">
                <a:solidFill>
                  <a:srgbClr val="3C4043"/>
                </a:solidFill>
                <a:ea typeface="+mn-lt"/>
                <a:cs typeface="+mn-lt"/>
              </a:rPr>
              <a:t>Conservative (purple) separates downward on PC2 -  distinct compound hardness / degradation profile, not just stint length</a:t>
            </a:r>
            <a:endParaRPr lang="en-US">
              <a:ea typeface="+mn-lt"/>
              <a:cs typeface="+mn-lt"/>
            </a:endParaRPr>
          </a:p>
          <a:p>
            <a:pPr marL="171450" indent="-171450">
              <a:buFont typeface="Arial"/>
              <a:buChar char="•"/>
            </a:pPr>
            <a:r>
              <a:rPr lang="en-US" sz="1200">
                <a:solidFill>
                  <a:srgbClr val="3C4043"/>
                </a:solidFill>
                <a:ea typeface="+mn-lt"/>
                <a:cs typeface="+mn-lt"/>
              </a:rPr>
              <a:t>Standard (green) is the largest cluster and occupies the central-right region, overlapping slightly with both others at the boundaries - expected for a "baseline" strategy type</a:t>
            </a:r>
            <a:endParaRPr lang="en-US">
              <a:ea typeface="Calibri" panose="020F0502020204030204"/>
              <a:cs typeface="Calibri" panose="020F0502020204030204"/>
            </a:endParaRPr>
          </a:p>
          <a:p>
            <a:pPr marL="171450" indent="-171450">
              <a:buFont typeface="Arial"/>
              <a:buChar char="•"/>
            </a:pPr>
            <a:r>
              <a:rPr lang="en-US" sz="1200">
                <a:solidFill>
                  <a:srgbClr val="3C4043"/>
                </a:solidFill>
                <a:ea typeface="+mn-lt"/>
                <a:cs typeface="+mn-lt"/>
              </a:rPr>
              <a:t>Centroids (×) are well-spaced with no two sitting on top of each other - confirms k = 3 is not over-splitting</a:t>
            </a:r>
            <a:endParaRPr lang="en-US">
              <a:ea typeface="Calibri" panose="020F0502020204030204"/>
              <a:cs typeface="Calibri" panose="020F0502020204030204"/>
            </a:endParaRPr>
          </a:p>
          <a:p>
            <a:pPr marL="171450" indent="-171450">
              <a:buFont typeface="Arial"/>
              <a:buChar char="•"/>
            </a:pPr>
            <a:r>
              <a:rPr lang="en-US" sz="1200">
                <a:solidFill>
                  <a:srgbClr val="3C4043"/>
                </a:solidFill>
                <a:ea typeface="+mn-lt"/>
                <a:cs typeface="+mn-lt"/>
              </a:rPr>
              <a:t>The overlap zone between Aggressive and Standard around PC1 ≈ 0 corresponds to stints near the 40% race-progress boundary, which is exactly where the causal treatment definition sits</a:t>
            </a:r>
            <a:endParaRPr lang="en-US">
              <a:ea typeface="Calibri" panose="020F0502020204030204"/>
              <a:cs typeface="Calibri" panose="020F0502020204030204"/>
            </a:endParaRPr>
          </a:p>
        </p:txBody>
      </p:sp>
      <p:pic>
        <p:nvPicPr>
          <p:cNvPr id="11" name="Picture 10" descr="A diagram of a cluster of dots&#10;&#10;AI-generated content may be incorrect.">
            <a:extLst>
              <a:ext uri="{FF2B5EF4-FFF2-40B4-BE49-F238E27FC236}">
                <a16:creationId xmlns:a16="http://schemas.microsoft.com/office/drawing/2014/main" id="{4A86D832-B932-53A7-B156-589A32619E0F}"/>
              </a:ext>
            </a:extLst>
          </p:cNvPr>
          <p:cNvPicPr>
            <a:picLocks noChangeAspect="1"/>
          </p:cNvPicPr>
          <p:nvPr/>
        </p:nvPicPr>
        <p:blipFill>
          <a:blip r:embed="rId4"/>
          <a:stretch>
            <a:fillRect/>
          </a:stretch>
        </p:blipFill>
        <p:spPr>
          <a:xfrm>
            <a:off x="150365" y="1496786"/>
            <a:ext cx="4641384" cy="3102428"/>
          </a:xfrm>
          <a:prstGeom prst="rect">
            <a:avLst/>
          </a:prstGeom>
        </p:spPr>
      </p:pic>
      <p:sp>
        <p:nvSpPr>
          <p:cNvPr id="8" name="TextBox 7">
            <a:extLst>
              <a:ext uri="{FF2B5EF4-FFF2-40B4-BE49-F238E27FC236}">
                <a16:creationId xmlns:a16="http://schemas.microsoft.com/office/drawing/2014/main" id="{8BA482AE-EAF4-4C6E-BB31-A6652E6834E8}"/>
              </a:ext>
            </a:extLst>
          </p:cNvPr>
          <p:cNvSpPr txBox="1"/>
          <p:nvPr/>
        </p:nvSpPr>
        <p:spPr>
          <a:xfrm>
            <a:off x="342900" y="4874078"/>
            <a:ext cx="8088085" cy="57933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0" i="1">
                <a:solidFill>
                  <a:srgbClr val="639A00"/>
                </a:solidFill>
                <a:latin typeface="Calibri"/>
                <a:ea typeface="Calibri"/>
                <a:cs typeface="Calibri"/>
              </a:rPr>
              <a:t>Three real strategy types — the clustering finds geometric structure, not arbitrary label boundaries.</a:t>
            </a:r>
            <a:endParaRPr lang="en-US" sz="1400" i="1">
              <a:solidFill>
                <a:srgbClr val="639A00"/>
              </a:solidFill>
              <a:latin typeface="Calibri"/>
              <a:ea typeface="Calibri"/>
              <a:cs typeface="Calibri"/>
            </a:endParaRPr>
          </a:p>
          <a:p>
            <a:pPr algn="ctr"/>
            <a:endParaRPr lang="en-US" i="1">
              <a:latin typeface="Calibri"/>
              <a:ea typeface="Calibri"/>
              <a:cs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0A1ADCBA-0688-9C41-F4DA-91C7BE49519A}"/>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12193C6-C865-20C1-7A0F-6D7DAAEC5C81}"/>
              </a:ext>
            </a:extLst>
          </p:cNvPr>
          <p:cNvSpPr/>
          <p:nvPr/>
        </p:nvSpPr>
        <p:spPr>
          <a:xfrm>
            <a:off x="8796528" y="0"/>
            <a:ext cx="347472" cy="5143500"/>
          </a:xfrm>
          <a:prstGeom prst="rect">
            <a:avLst/>
          </a:prstGeom>
          <a:solidFill>
            <a:srgbClr val="639A00"/>
          </a:solidFill>
          <a:ln/>
        </p:spPr>
        <p:txBody>
          <a:bodyPr/>
          <a:lstStyle/>
          <a:p>
            <a:endParaRPr lang="en-US"/>
          </a:p>
        </p:txBody>
      </p:sp>
      <p:sp>
        <p:nvSpPr>
          <p:cNvPr id="3" name="Text 1">
            <a:extLst>
              <a:ext uri="{FF2B5EF4-FFF2-40B4-BE49-F238E27FC236}">
                <a16:creationId xmlns:a16="http://schemas.microsoft.com/office/drawing/2014/main" id="{159A75AD-7AC9-C187-D250-598C2538E967}"/>
              </a:ext>
            </a:extLst>
          </p:cNvPr>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a:extLst>
              <a:ext uri="{FF2B5EF4-FFF2-40B4-BE49-F238E27FC236}">
                <a16:creationId xmlns:a16="http://schemas.microsoft.com/office/drawing/2014/main" id="{422F1C1D-18F5-4B2F-9D38-080812AE96BD}"/>
              </a:ext>
            </a:extLst>
          </p:cNvPr>
          <p:cNvPicPr>
            <a:picLocks noChangeAspect="1"/>
          </p:cNvPicPr>
          <p:nvPr/>
        </p:nvPicPr>
        <p:blipFill>
          <a:blip r:embed="rId3"/>
          <a:stretch>
            <a:fillRect/>
          </a:stretch>
        </p:blipFill>
        <p:spPr>
          <a:xfrm>
            <a:off x="7479792" y="274320"/>
            <a:ext cx="1170432" cy="205740"/>
          </a:xfrm>
          <a:prstGeom prst="rect">
            <a:avLst/>
          </a:prstGeom>
        </p:spPr>
      </p:pic>
      <p:sp>
        <p:nvSpPr>
          <p:cNvPr id="5" name="Text 2">
            <a:extLst>
              <a:ext uri="{FF2B5EF4-FFF2-40B4-BE49-F238E27FC236}">
                <a16:creationId xmlns:a16="http://schemas.microsoft.com/office/drawing/2014/main" id="{DF660C17-B5AD-FD6D-6C03-140F06169392}"/>
              </a:ext>
            </a:extLst>
          </p:cNvPr>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21</a:t>
            </a:r>
            <a:endParaRPr lang="en-US" sz="1000"/>
          </a:p>
        </p:txBody>
      </p:sp>
      <p:sp>
        <p:nvSpPr>
          <p:cNvPr id="6" name="Text 3">
            <a:extLst>
              <a:ext uri="{FF2B5EF4-FFF2-40B4-BE49-F238E27FC236}">
                <a16:creationId xmlns:a16="http://schemas.microsoft.com/office/drawing/2014/main" id="{EE62690A-5F96-1A68-C923-50FA05B9781D}"/>
              </a:ext>
            </a:extLst>
          </p:cNvPr>
          <p:cNvSpPr/>
          <p:nvPr/>
        </p:nvSpPr>
        <p:spPr>
          <a:xfrm>
            <a:off x="548640" y="329184"/>
            <a:ext cx="7680960" cy="237744"/>
          </a:xfrm>
          <a:prstGeom prst="rect">
            <a:avLst/>
          </a:prstGeom>
          <a:noFill/>
          <a:ln/>
        </p:spPr>
        <p:txBody>
          <a:bodyPr wrap="square" lIns="0" tIns="0" rIns="0" bIns="0" rtlCol="0" anchor="ctr"/>
          <a:lstStyle/>
          <a:p>
            <a:pPr marL="0" indent="0">
              <a:buNone/>
            </a:pPr>
            <a:r>
              <a:rPr lang="en-US" sz="1100" b="1" kern="0" spc="200">
                <a:solidFill>
                  <a:srgbClr val="4C7A00"/>
                </a:solidFill>
                <a:latin typeface="Arial" pitchFamily="34" charset="0"/>
                <a:ea typeface="Arial" pitchFamily="34" charset="-122"/>
                <a:cs typeface="Arial" pitchFamily="34" charset="-120"/>
              </a:rPr>
              <a:t>RESULTS</a:t>
            </a:r>
            <a:endParaRPr lang="en-US" sz="1100"/>
          </a:p>
        </p:txBody>
      </p:sp>
      <p:sp>
        <p:nvSpPr>
          <p:cNvPr id="7" name="Text 4">
            <a:extLst>
              <a:ext uri="{FF2B5EF4-FFF2-40B4-BE49-F238E27FC236}">
                <a16:creationId xmlns:a16="http://schemas.microsoft.com/office/drawing/2014/main" id="{971354F6-1BAE-5759-07D9-5F267A1B24A0}"/>
              </a:ext>
            </a:extLst>
          </p:cNvPr>
          <p:cNvSpPr/>
          <p:nvPr/>
        </p:nvSpPr>
        <p:spPr>
          <a:xfrm>
            <a:off x="548640" y="658368"/>
            <a:ext cx="7602582" cy="790085"/>
          </a:xfrm>
          <a:prstGeom prst="rect">
            <a:avLst/>
          </a:prstGeom>
          <a:noFill/>
          <a:ln/>
        </p:spPr>
        <p:txBody>
          <a:bodyPr wrap="square" lIns="0" tIns="0" rIns="0" bIns="0" rtlCol="0" anchor="ctr"/>
          <a:lstStyle/>
          <a:p>
            <a:r>
              <a:rPr lang="en-US" sz="2600">
                <a:solidFill>
                  <a:srgbClr val="36393B"/>
                </a:solidFill>
                <a:latin typeface="Arial Black"/>
                <a:ea typeface="+mn-lt"/>
                <a:cs typeface="+mn-lt"/>
              </a:rPr>
              <a:t>ANOVA </a:t>
            </a:r>
          </a:p>
        </p:txBody>
      </p:sp>
      <p:sp>
        <p:nvSpPr>
          <p:cNvPr id="10" name="Text 5">
            <a:extLst>
              <a:ext uri="{FF2B5EF4-FFF2-40B4-BE49-F238E27FC236}">
                <a16:creationId xmlns:a16="http://schemas.microsoft.com/office/drawing/2014/main" id="{61E10DD2-2E43-ACB1-6DF7-008B50A11268}"/>
              </a:ext>
            </a:extLst>
          </p:cNvPr>
          <p:cNvSpPr/>
          <p:nvPr/>
        </p:nvSpPr>
        <p:spPr>
          <a:xfrm>
            <a:off x="5175069" y="1554480"/>
            <a:ext cx="3471453" cy="3017520"/>
          </a:xfrm>
          <a:prstGeom prst="rect">
            <a:avLst/>
          </a:prstGeom>
          <a:noFill/>
          <a:ln/>
        </p:spPr>
        <p:txBody>
          <a:bodyPr wrap="square" lIns="0" tIns="0" rIns="0" bIns="0" rtlCol="0" anchor="ctr"/>
          <a:lstStyle/>
          <a:p>
            <a:pPr marL="171450" indent="-171450">
              <a:buFont typeface="Arial"/>
              <a:buChar char="•"/>
            </a:pPr>
            <a:r>
              <a:rPr lang="en-US" sz="1200">
                <a:solidFill>
                  <a:srgbClr val="3C4043"/>
                </a:solidFill>
                <a:ea typeface="+mn-lt"/>
                <a:cs typeface="+mn-lt"/>
              </a:rPr>
              <a:t>One-way ANOVA tests whether the three clusters differ significantly on each raw feature, all four pass with p &lt; 0.001</a:t>
            </a:r>
          </a:p>
          <a:p>
            <a:pPr marL="171450" indent="-171450">
              <a:buFont typeface="Arial"/>
              <a:buChar char="•"/>
            </a:pPr>
            <a:r>
              <a:rPr lang="en-US" sz="1200">
                <a:solidFill>
                  <a:srgbClr val="3C4043"/>
                </a:solidFill>
                <a:ea typeface="+mn-lt"/>
                <a:cs typeface="+mn-lt"/>
              </a:rPr>
              <a:t>Partial η² measures how much of each feature's variance the cluster label explains, the benchmark lines: medium = 0.06, large = 0.14</a:t>
            </a:r>
          </a:p>
          <a:p>
            <a:pPr marL="171450" indent="-171450">
              <a:buFont typeface="Arial"/>
              <a:buChar char="•"/>
            </a:pPr>
            <a:r>
              <a:rPr lang="en-US" sz="1200" err="1">
                <a:solidFill>
                  <a:srgbClr val="3C4043"/>
                </a:solidFill>
                <a:ea typeface="+mn-lt"/>
                <a:cs typeface="+mn-lt"/>
              </a:rPr>
              <a:t>deg_mean</a:t>
            </a:r>
            <a:r>
              <a:rPr lang="en-US" sz="1200">
                <a:solidFill>
                  <a:srgbClr val="3C4043"/>
                </a:solidFill>
                <a:ea typeface="+mn-lt"/>
                <a:cs typeface="+mn-lt"/>
              </a:rPr>
              <a:t>, </a:t>
            </a:r>
            <a:r>
              <a:rPr lang="en-US" sz="1200" err="1">
                <a:solidFill>
                  <a:srgbClr val="3C4043"/>
                </a:solidFill>
                <a:ea typeface="+mn-lt"/>
                <a:cs typeface="+mn-lt"/>
              </a:rPr>
              <a:t>compound_hardness</a:t>
            </a:r>
            <a:r>
              <a:rPr lang="en-US" sz="1200">
                <a:solidFill>
                  <a:srgbClr val="3C4043"/>
                </a:solidFill>
                <a:ea typeface="+mn-lt"/>
                <a:cs typeface="+mn-lt"/>
              </a:rPr>
              <a:t>, </a:t>
            </a:r>
            <a:r>
              <a:rPr lang="en-US" sz="1200" err="1">
                <a:solidFill>
                  <a:srgbClr val="3C4043"/>
                </a:solidFill>
                <a:ea typeface="+mn-lt"/>
                <a:cs typeface="+mn-lt"/>
              </a:rPr>
              <a:t>first_pit_progress</a:t>
            </a:r>
            <a:r>
              <a:rPr lang="en-US" sz="1200">
                <a:solidFill>
                  <a:srgbClr val="3C4043"/>
                </a:solidFill>
                <a:ea typeface="+mn-lt"/>
                <a:cs typeface="+mn-lt"/>
              </a:rPr>
              <a:t> all reach η² ≈ 0.50-0.55, the clusters account for roughly half the variance in each, a very large effect</a:t>
            </a:r>
          </a:p>
          <a:p>
            <a:pPr marL="171450" indent="-171450">
              <a:buFont typeface="Arial"/>
              <a:buChar char="•"/>
            </a:pPr>
            <a:r>
              <a:rPr lang="en-US" sz="1200">
                <a:solidFill>
                  <a:srgbClr val="3C4043"/>
                </a:solidFill>
                <a:ea typeface="+mn-lt"/>
                <a:cs typeface="+mn-lt"/>
              </a:rPr>
              <a:t>Even the weakest feature, </a:t>
            </a:r>
            <a:r>
              <a:rPr lang="en-US" sz="1200" err="1">
                <a:solidFill>
                  <a:srgbClr val="3C4043"/>
                </a:solidFill>
                <a:ea typeface="+mn-lt"/>
                <a:cs typeface="+mn-lt"/>
              </a:rPr>
              <a:t>stint_length</a:t>
            </a:r>
            <a:r>
              <a:rPr lang="en-US" sz="1200">
                <a:solidFill>
                  <a:srgbClr val="3C4043"/>
                </a:solidFill>
                <a:ea typeface="+mn-lt"/>
                <a:cs typeface="+mn-lt"/>
              </a:rPr>
              <a:t>, sits at η² ≈ 0.22 still well above the "large" threshold</a:t>
            </a:r>
          </a:p>
          <a:p>
            <a:pPr marL="171450" indent="-171450">
              <a:buFont typeface="Arial"/>
              <a:buChar char="•"/>
            </a:pPr>
            <a:r>
              <a:rPr lang="en-US" sz="1200">
                <a:solidFill>
                  <a:srgbClr val="3C4043"/>
                </a:solidFill>
                <a:ea typeface="+mn-lt"/>
                <a:cs typeface="+mn-lt"/>
              </a:rPr>
              <a:t>Every bar clears the dotted large-effect line by a wide margin, the separation is not a statistical artefact of sample size</a:t>
            </a:r>
          </a:p>
          <a:p>
            <a:endParaRPr lang="en-US" sz="1200">
              <a:solidFill>
                <a:srgbClr val="3C4043"/>
              </a:solidFill>
              <a:latin typeface="Arial"/>
              <a:cs typeface="Arial"/>
            </a:endParaRPr>
          </a:p>
        </p:txBody>
      </p:sp>
      <p:sp>
        <p:nvSpPr>
          <p:cNvPr id="8" name="TextBox 7">
            <a:extLst>
              <a:ext uri="{FF2B5EF4-FFF2-40B4-BE49-F238E27FC236}">
                <a16:creationId xmlns:a16="http://schemas.microsoft.com/office/drawing/2014/main" id="{80DE43F7-E703-FE28-E5A1-6DA39C1565E2}"/>
              </a:ext>
            </a:extLst>
          </p:cNvPr>
          <p:cNvSpPr txBox="1"/>
          <p:nvPr/>
        </p:nvSpPr>
        <p:spPr>
          <a:xfrm>
            <a:off x="130629" y="4721679"/>
            <a:ext cx="8839197"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i="1">
                <a:solidFill>
                  <a:srgbClr val="639A00"/>
                </a:solidFill>
                <a:latin typeface="Calibri"/>
                <a:ea typeface="Calibri"/>
                <a:cs typeface="Calibri"/>
              </a:rPr>
              <a:t>Clusters explain 22–55% of feature variance the three archetypes capture real, large </a:t>
            </a:r>
            <a:r>
              <a:rPr lang="en-US" sz="1400" i="1" err="1">
                <a:solidFill>
                  <a:srgbClr val="639A00"/>
                </a:solidFill>
                <a:latin typeface="Calibri"/>
                <a:ea typeface="Calibri"/>
                <a:cs typeface="Calibri"/>
              </a:rPr>
              <a:t>behavioural</a:t>
            </a:r>
            <a:r>
              <a:rPr lang="en-US" sz="1400" i="1">
                <a:solidFill>
                  <a:srgbClr val="639A00"/>
                </a:solidFill>
                <a:latin typeface="Calibri"/>
                <a:ea typeface="Calibri"/>
                <a:cs typeface="Calibri"/>
              </a:rPr>
              <a:t> differences, not noise</a:t>
            </a:r>
          </a:p>
          <a:p>
            <a:pPr algn="ctr"/>
            <a:endParaRPr lang="en-US"/>
          </a:p>
        </p:txBody>
      </p:sp>
      <p:pic>
        <p:nvPicPr>
          <p:cNvPr id="9" name="Picture 8">
            <a:extLst>
              <a:ext uri="{FF2B5EF4-FFF2-40B4-BE49-F238E27FC236}">
                <a16:creationId xmlns:a16="http://schemas.microsoft.com/office/drawing/2014/main" id="{C2CD1FF7-7542-E1E8-0BBE-A09E64D631D9}"/>
              </a:ext>
            </a:extLst>
          </p:cNvPr>
          <p:cNvPicPr>
            <a:picLocks noChangeAspect="1"/>
          </p:cNvPicPr>
          <p:nvPr/>
        </p:nvPicPr>
        <p:blipFill>
          <a:blip r:embed="rId4"/>
          <a:stretch>
            <a:fillRect/>
          </a:stretch>
        </p:blipFill>
        <p:spPr>
          <a:xfrm>
            <a:off x="130629" y="1753960"/>
            <a:ext cx="4686300" cy="2615294"/>
          </a:xfrm>
          <a:prstGeom prst="rect">
            <a:avLst/>
          </a:prstGeom>
        </p:spPr>
      </p:pic>
    </p:spTree>
    <p:extLst>
      <p:ext uri="{BB962C8B-B14F-4D97-AF65-F5344CB8AC3E}">
        <p14:creationId xmlns:p14="http://schemas.microsoft.com/office/powerpoint/2010/main" val="18407739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512064" y="914400"/>
            <a:ext cx="3108960" cy="1645920"/>
          </a:xfrm>
          <a:prstGeom prst="rect">
            <a:avLst/>
          </a:prstGeom>
          <a:noFill/>
          <a:ln/>
        </p:spPr>
        <p:txBody>
          <a:bodyPr wrap="square" lIns="0" tIns="0" rIns="0" bIns="0" rtlCol="0" anchor="ctr"/>
          <a:lstStyle/>
          <a:p>
            <a:pPr marL="0" indent="0">
              <a:buNone/>
            </a:pPr>
            <a:r>
              <a:rPr lang="en-US" sz="10400">
                <a:solidFill>
                  <a:srgbClr val="639A00"/>
                </a:solidFill>
                <a:latin typeface="Arial Black" pitchFamily="34" charset="0"/>
                <a:ea typeface="Arial Black" pitchFamily="34" charset="-122"/>
                <a:cs typeface="Arial Black" pitchFamily="34" charset="-120"/>
              </a:rPr>
              <a:t>06</a:t>
            </a:r>
            <a:endParaRPr lang="en-US" sz="10400"/>
          </a:p>
        </p:txBody>
      </p:sp>
      <p:sp>
        <p:nvSpPr>
          <p:cNvPr id="6" name="Text 3"/>
          <p:cNvSpPr/>
          <p:nvPr/>
        </p:nvSpPr>
        <p:spPr>
          <a:xfrm>
            <a:off x="566928" y="2724912"/>
            <a:ext cx="6126480" cy="822960"/>
          </a:xfrm>
          <a:prstGeom prst="rect">
            <a:avLst/>
          </a:prstGeom>
          <a:noFill/>
          <a:ln/>
        </p:spPr>
        <p:txBody>
          <a:bodyPr wrap="square" lIns="0" tIns="0" rIns="0" bIns="0" rtlCol="0" anchor="ctr"/>
          <a:lstStyle/>
          <a:p>
            <a:pPr marL="0" indent="0">
              <a:buNone/>
            </a:pPr>
            <a:r>
              <a:rPr lang="en-US" sz="3300">
                <a:solidFill>
                  <a:srgbClr val="36393B"/>
                </a:solidFill>
                <a:latin typeface="Arial Black" pitchFamily="34" charset="0"/>
                <a:ea typeface="Arial Black" pitchFamily="34" charset="-122"/>
                <a:cs typeface="Arial Black" pitchFamily="34" charset="-120"/>
              </a:rPr>
              <a:t>CONCLUSION</a:t>
            </a:r>
            <a:endParaRPr lang="en-US" sz="33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23</a:t>
            </a:r>
            <a:endParaRPr lang="en-US" sz="1000"/>
          </a:p>
        </p:txBody>
      </p:sp>
      <p:sp>
        <p:nvSpPr>
          <p:cNvPr id="6" name="Text 3"/>
          <p:cNvSpPr/>
          <p:nvPr/>
        </p:nvSpPr>
        <p:spPr>
          <a:xfrm>
            <a:off x="548640" y="658368"/>
            <a:ext cx="7863840" cy="566928"/>
          </a:xfrm>
          <a:prstGeom prst="rect">
            <a:avLst/>
          </a:prstGeom>
          <a:noFill/>
          <a:ln/>
        </p:spPr>
        <p:txBody>
          <a:bodyPr wrap="square" lIns="0" tIns="0" rIns="0" bIns="0" rtlCol="0" anchor="ctr"/>
          <a:lstStyle/>
          <a:p>
            <a:pPr marL="0" indent="0">
              <a:buNone/>
            </a:pPr>
            <a:r>
              <a:rPr lang="en-US" sz="2600">
                <a:solidFill>
                  <a:srgbClr val="36393B"/>
                </a:solidFill>
                <a:latin typeface="Arial Black"/>
              </a:rPr>
              <a:t>TL;DR</a:t>
            </a:r>
          </a:p>
        </p:txBody>
      </p:sp>
      <p:sp>
        <p:nvSpPr>
          <p:cNvPr id="7" name="Shape 4"/>
          <p:cNvSpPr/>
          <p:nvPr/>
        </p:nvSpPr>
        <p:spPr>
          <a:xfrm>
            <a:off x="548640" y="1554480"/>
            <a:ext cx="420624" cy="420624"/>
          </a:xfrm>
          <a:prstGeom prst="ellipse">
            <a:avLst/>
          </a:prstGeom>
          <a:solidFill>
            <a:srgbClr val="F1F6E4"/>
          </a:solidFill>
          <a:ln/>
        </p:spPr>
      </p:sp>
      <p:sp>
        <p:nvSpPr>
          <p:cNvPr id="8" name="Text 5"/>
          <p:cNvSpPr/>
          <p:nvPr/>
        </p:nvSpPr>
        <p:spPr>
          <a:xfrm>
            <a:off x="548640" y="1554480"/>
            <a:ext cx="420624" cy="420624"/>
          </a:xfrm>
          <a:prstGeom prst="rect">
            <a:avLst/>
          </a:prstGeom>
          <a:noFill/>
          <a:ln/>
        </p:spPr>
        <p:txBody>
          <a:bodyPr wrap="square" lIns="0" tIns="0" rIns="0" bIns="0" rtlCol="0" anchor="ctr"/>
          <a:lstStyle/>
          <a:p>
            <a:pPr marL="0" indent="0" algn="ctr">
              <a:buNone/>
            </a:pPr>
            <a:r>
              <a:rPr lang="en-US" sz="1800">
                <a:solidFill>
                  <a:srgbClr val="639A00"/>
                </a:solidFill>
                <a:latin typeface="Arial Black" pitchFamily="34" charset="0"/>
                <a:ea typeface="Arial Black" pitchFamily="34" charset="-122"/>
                <a:cs typeface="Arial Black" pitchFamily="34" charset="-120"/>
              </a:rPr>
              <a:t>1</a:t>
            </a:r>
            <a:endParaRPr lang="en-US" sz="1800"/>
          </a:p>
        </p:txBody>
      </p:sp>
      <p:sp>
        <p:nvSpPr>
          <p:cNvPr id="9" name="Text 6"/>
          <p:cNvSpPr/>
          <p:nvPr/>
        </p:nvSpPr>
        <p:spPr>
          <a:xfrm>
            <a:off x="1143000" y="1508760"/>
            <a:ext cx="7315200" cy="512064"/>
          </a:xfrm>
          <a:prstGeom prst="rect">
            <a:avLst/>
          </a:prstGeom>
          <a:noFill/>
          <a:ln/>
        </p:spPr>
        <p:txBody>
          <a:bodyPr wrap="square" lIns="0" tIns="0" rIns="0" bIns="0" rtlCol="0" anchor="ctr"/>
          <a:lstStyle/>
          <a:p>
            <a:pPr marL="0" indent="0">
              <a:buNone/>
            </a:pPr>
            <a:r>
              <a:rPr lang="en-US" sz="1400">
                <a:solidFill>
                  <a:srgbClr val="3C4043"/>
                </a:solidFill>
                <a:latin typeface="Arial"/>
                <a:ea typeface="Arial" pitchFamily="34" charset="-122"/>
                <a:cs typeface="Arial"/>
              </a:rPr>
              <a:t>Strategy matters, but only a little. Grid slot and car quality dominate.</a:t>
            </a:r>
            <a:endParaRPr lang="en-US" sz="1400">
              <a:latin typeface="Arial"/>
              <a:cs typeface="Arial"/>
            </a:endParaRPr>
          </a:p>
        </p:txBody>
      </p:sp>
      <p:sp>
        <p:nvSpPr>
          <p:cNvPr id="10" name="Shape 7"/>
          <p:cNvSpPr/>
          <p:nvPr/>
        </p:nvSpPr>
        <p:spPr>
          <a:xfrm>
            <a:off x="548640" y="2157984"/>
            <a:ext cx="420624" cy="420624"/>
          </a:xfrm>
          <a:prstGeom prst="ellipse">
            <a:avLst/>
          </a:prstGeom>
          <a:solidFill>
            <a:srgbClr val="F1F6E4"/>
          </a:solidFill>
          <a:ln/>
        </p:spPr>
      </p:sp>
      <p:sp>
        <p:nvSpPr>
          <p:cNvPr id="11" name="Text 8"/>
          <p:cNvSpPr/>
          <p:nvPr/>
        </p:nvSpPr>
        <p:spPr>
          <a:xfrm>
            <a:off x="548640" y="2157984"/>
            <a:ext cx="420624" cy="420624"/>
          </a:xfrm>
          <a:prstGeom prst="rect">
            <a:avLst/>
          </a:prstGeom>
          <a:noFill/>
          <a:ln/>
        </p:spPr>
        <p:txBody>
          <a:bodyPr wrap="square" lIns="0" tIns="0" rIns="0" bIns="0" rtlCol="0" anchor="ctr"/>
          <a:lstStyle/>
          <a:p>
            <a:pPr marL="0" indent="0" algn="ctr">
              <a:buNone/>
            </a:pPr>
            <a:r>
              <a:rPr lang="en-US" sz="1800">
                <a:solidFill>
                  <a:srgbClr val="639A00"/>
                </a:solidFill>
                <a:latin typeface="Arial Black" pitchFamily="34" charset="0"/>
                <a:ea typeface="Arial Black" pitchFamily="34" charset="-122"/>
                <a:cs typeface="Arial Black" pitchFamily="34" charset="-120"/>
              </a:rPr>
              <a:t>2</a:t>
            </a:r>
            <a:endParaRPr lang="en-US" sz="1800"/>
          </a:p>
        </p:txBody>
      </p:sp>
      <p:sp>
        <p:nvSpPr>
          <p:cNvPr id="12" name="Text 9"/>
          <p:cNvSpPr/>
          <p:nvPr/>
        </p:nvSpPr>
        <p:spPr>
          <a:xfrm>
            <a:off x="1143000" y="2112264"/>
            <a:ext cx="7315200" cy="512064"/>
          </a:xfrm>
          <a:prstGeom prst="rect">
            <a:avLst/>
          </a:prstGeom>
          <a:noFill/>
          <a:ln/>
        </p:spPr>
        <p:txBody>
          <a:bodyPr wrap="square" lIns="0" tIns="0" rIns="0" bIns="0" rtlCol="0" anchor="ctr"/>
          <a:lstStyle/>
          <a:p>
            <a:pPr marL="0" indent="0">
              <a:buNone/>
            </a:pPr>
            <a:r>
              <a:rPr lang="en-US" sz="1400">
                <a:solidFill>
                  <a:srgbClr val="3C4043"/>
                </a:solidFill>
                <a:latin typeface="Arial"/>
                <a:ea typeface="Arial" pitchFamily="34" charset="-122"/>
                <a:cs typeface="Arial"/>
              </a:rPr>
              <a:t>Pitting early does not pay. It costs about 0.7 to 1.0 positions, and three methods agree.</a:t>
            </a:r>
            <a:endParaRPr lang="en-US" sz="1400">
              <a:latin typeface="Arial"/>
              <a:cs typeface="Arial"/>
            </a:endParaRPr>
          </a:p>
        </p:txBody>
      </p:sp>
      <p:sp>
        <p:nvSpPr>
          <p:cNvPr id="13" name="Shape 10"/>
          <p:cNvSpPr/>
          <p:nvPr/>
        </p:nvSpPr>
        <p:spPr>
          <a:xfrm>
            <a:off x="548640" y="2761488"/>
            <a:ext cx="420624" cy="420624"/>
          </a:xfrm>
          <a:prstGeom prst="ellipse">
            <a:avLst/>
          </a:prstGeom>
          <a:solidFill>
            <a:srgbClr val="F1F6E4"/>
          </a:solidFill>
          <a:ln/>
        </p:spPr>
      </p:sp>
      <p:sp>
        <p:nvSpPr>
          <p:cNvPr id="14" name="Text 11"/>
          <p:cNvSpPr/>
          <p:nvPr/>
        </p:nvSpPr>
        <p:spPr>
          <a:xfrm>
            <a:off x="548640" y="2761488"/>
            <a:ext cx="420624" cy="420624"/>
          </a:xfrm>
          <a:prstGeom prst="rect">
            <a:avLst/>
          </a:prstGeom>
          <a:noFill/>
          <a:ln/>
        </p:spPr>
        <p:txBody>
          <a:bodyPr wrap="square" lIns="0" tIns="0" rIns="0" bIns="0" rtlCol="0" anchor="ctr"/>
          <a:lstStyle/>
          <a:p>
            <a:pPr marL="0" indent="0" algn="ctr">
              <a:buNone/>
            </a:pPr>
            <a:r>
              <a:rPr lang="en-US" sz="1800">
                <a:solidFill>
                  <a:srgbClr val="639A00"/>
                </a:solidFill>
                <a:latin typeface="Arial Black" pitchFamily="34" charset="0"/>
                <a:ea typeface="Arial Black" pitchFamily="34" charset="-122"/>
                <a:cs typeface="Arial Black" pitchFamily="34" charset="-120"/>
              </a:rPr>
              <a:t>3</a:t>
            </a:r>
            <a:endParaRPr lang="en-US" sz="1800"/>
          </a:p>
        </p:txBody>
      </p:sp>
      <p:sp>
        <p:nvSpPr>
          <p:cNvPr id="15" name="Text 12"/>
          <p:cNvSpPr/>
          <p:nvPr/>
        </p:nvSpPr>
        <p:spPr>
          <a:xfrm>
            <a:off x="1143000" y="2715768"/>
            <a:ext cx="7315200" cy="512064"/>
          </a:xfrm>
          <a:prstGeom prst="rect">
            <a:avLst/>
          </a:prstGeom>
          <a:noFill/>
          <a:ln/>
        </p:spPr>
        <p:txBody>
          <a:bodyPr wrap="square" lIns="0" tIns="0" rIns="0" bIns="0" rtlCol="0" anchor="ctr"/>
          <a:lstStyle/>
          <a:p>
            <a:pPr marL="0" indent="0">
              <a:buNone/>
            </a:pPr>
            <a:r>
              <a:rPr lang="en-US" sz="1400">
                <a:solidFill>
                  <a:srgbClr val="3C4043"/>
                </a:solidFill>
                <a:latin typeface="Arial"/>
                <a:ea typeface="Arial" pitchFamily="34" charset="-122"/>
                <a:cs typeface="Arial"/>
              </a:rPr>
              <a:t>The best first stop is mid race, around 30 to 50%. Going earlier than 30% wastes value.</a:t>
            </a:r>
            <a:endParaRPr lang="en-US" sz="1400">
              <a:latin typeface="Arial"/>
              <a:ea typeface="Calibri"/>
              <a:cs typeface="Arial"/>
            </a:endParaRPr>
          </a:p>
        </p:txBody>
      </p:sp>
      <p:sp>
        <p:nvSpPr>
          <p:cNvPr id="16" name="Shape 13"/>
          <p:cNvSpPr/>
          <p:nvPr/>
        </p:nvSpPr>
        <p:spPr>
          <a:xfrm>
            <a:off x="548640" y="3364992"/>
            <a:ext cx="420624" cy="420624"/>
          </a:xfrm>
          <a:prstGeom prst="ellipse">
            <a:avLst/>
          </a:prstGeom>
          <a:solidFill>
            <a:srgbClr val="F1F6E4"/>
          </a:solidFill>
          <a:ln/>
        </p:spPr>
      </p:sp>
      <p:sp>
        <p:nvSpPr>
          <p:cNvPr id="17" name="Text 14"/>
          <p:cNvSpPr/>
          <p:nvPr/>
        </p:nvSpPr>
        <p:spPr>
          <a:xfrm>
            <a:off x="548640" y="3364992"/>
            <a:ext cx="420624" cy="420624"/>
          </a:xfrm>
          <a:prstGeom prst="rect">
            <a:avLst/>
          </a:prstGeom>
          <a:noFill/>
          <a:ln/>
        </p:spPr>
        <p:txBody>
          <a:bodyPr wrap="square" lIns="0" tIns="0" rIns="0" bIns="0" rtlCol="0" anchor="ctr"/>
          <a:lstStyle/>
          <a:p>
            <a:pPr marL="0" indent="0" algn="ctr">
              <a:buNone/>
            </a:pPr>
            <a:r>
              <a:rPr lang="en-US" sz="1800">
                <a:solidFill>
                  <a:srgbClr val="639A00"/>
                </a:solidFill>
                <a:latin typeface="Arial Black" pitchFamily="34" charset="0"/>
                <a:ea typeface="Arial Black" pitchFamily="34" charset="-122"/>
                <a:cs typeface="Arial Black" pitchFamily="34" charset="-120"/>
              </a:rPr>
              <a:t>4</a:t>
            </a:r>
            <a:endParaRPr lang="en-US" sz="1800"/>
          </a:p>
        </p:txBody>
      </p:sp>
      <p:sp>
        <p:nvSpPr>
          <p:cNvPr id="18" name="Text 15"/>
          <p:cNvSpPr/>
          <p:nvPr/>
        </p:nvSpPr>
        <p:spPr>
          <a:xfrm>
            <a:off x="1143000" y="3319272"/>
            <a:ext cx="7315200" cy="512064"/>
          </a:xfrm>
          <a:prstGeom prst="rect">
            <a:avLst/>
          </a:prstGeom>
          <a:noFill/>
          <a:ln/>
        </p:spPr>
        <p:txBody>
          <a:bodyPr wrap="square" lIns="0" tIns="0" rIns="0" bIns="0" rtlCol="0" anchor="ctr"/>
          <a:lstStyle/>
          <a:p>
            <a:pPr marL="0" indent="0">
              <a:buNone/>
            </a:pPr>
            <a:r>
              <a:rPr lang="en-US" sz="1400">
                <a:solidFill>
                  <a:srgbClr val="3C4043"/>
                </a:solidFill>
                <a:latin typeface="Arial"/>
                <a:ea typeface="Arial" pitchFamily="34" charset="-122"/>
                <a:cs typeface="Arial"/>
              </a:rPr>
              <a:t>Strategies form a smooth spectrum, not a handful of types.</a:t>
            </a:r>
            <a:endParaRPr lang="en-US" sz="1400">
              <a:latin typeface="Arial"/>
              <a:ea typeface="Calibri"/>
              <a:cs typeface="Arial"/>
            </a:endParaRPr>
          </a:p>
        </p:txBody>
      </p:sp>
      <p:sp>
        <p:nvSpPr>
          <p:cNvPr id="19" name="Shape 16"/>
          <p:cNvSpPr/>
          <p:nvPr/>
        </p:nvSpPr>
        <p:spPr>
          <a:xfrm>
            <a:off x="548640" y="3968496"/>
            <a:ext cx="420624" cy="420624"/>
          </a:xfrm>
          <a:prstGeom prst="ellipse">
            <a:avLst/>
          </a:prstGeom>
          <a:solidFill>
            <a:srgbClr val="F1F6E4"/>
          </a:solidFill>
          <a:ln/>
        </p:spPr>
      </p:sp>
      <p:sp>
        <p:nvSpPr>
          <p:cNvPr id="20" name="Text 17"/>
          <p:cNvSpPr/>
          <p:nvPr/>
        </p:nvSpPr>
        <p:spPr>
          <a:xfrm>
            <a:off x="548640" y="3968496"/>
            <a:ext cx="420624" cy="420624"/>
          </a:xfrm>
          <a:prstGeom prst="rect">
            <a:avLst/>
          </a:prstGeom>
          <a:noFill/>
          <a:ln/>
        </p:spPr>
        <p:txBody>
          <a:bodyPr wrap="square" lIns="0" tIns="0" rIns="0" bIns="0" rtlCol="0" anchor="ctr"/>
          <a:lstStyle/>
          <a:p>
            <a:pPr marL="0" indent="0" algn="ctr">
              <a:buNone/>
            </a:pPr>
            <a:r>
              <a:rPr lang="en-US" sz="1800">
                <a:solidFill>
                  <a:srgbClr val="639A00"/>
                </a:solidFill>
                <a:latin typeface="Arial Black" pitchFamily="34" charset="0"/>
                <a:ea typeface="Arial Black" pitchFamily="34" charset="-122"/>
                <a:cs typeface="Arial Black" pitchFamily="34" charset="-120"/>
              </a:rPr>
              <a:t>5</a:t>
            </a:r>
            <a:endParaRPr lang="en-US" sz="1800"/>
          </a:p>
        </p:txBody>
      </p:sp>
      <p:sp>
        <p:nvSpPr>
          <p:cNvPr id="21" name="Text 18"/>
          <p:cNvSpPr/>
          <p:nvPr/>
        </p:nvSpPr>
        <p:spPr>
          <a:xfrm>
            <a:off x="1143000" y="3922776"/>
            <a:ext cx="7315200" cy="512064"/>
          </a:xfrm>
          <a:prstGeom prst="rect">
            <a:avLst/>
          </a:prstGeom>
          <a:noFill/>
          <a:ln/>
        </p:spPr>
        <p:txBody>
          <a:bodyPr wrap="square" lIns="0" tIns="0" rIns="0" bIns="0" rtlCol="0" anchor="ctr"/>
          <a:lstStyle/>
          <a:p>
            <a:pPr marL="0" indent="0">
              <a:buNone/>
            </a:pPr>
            <a:r>
              <a:rPr lang="en-US" sz="1400">
                <a:solidFill>
                  <a:srgbClr val="3C4043"/>
                </a:solidFill>
                <a:latin typeface="Arial"/>
                <a:ea typeface="Arial" pitchFamily="34" charset="-122"/>
                <a:cs typeface="Arial"/>
              </a:rPr>
              <a:t>Who scores is easier to predict; how many places you gain is mostly noise.</a:t>
            </a:r>
            <a:endParaRPr lang="en-US" sz="1400">
              <a:latin typeface="Arial"/>
              <a:cs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24</a:t>
            </a:r>
            <a:endParaRPr lang="en-US" sz="1000"/>
          </a:p>
        </p:txBody>
      </p:sp>
      <p:sp>
        <p:nvSpPr>
          <p:cNvPr id="6" name="Text 3"/>
          <p:cNvSpPr/>
          <p:nvPr/>
        </p:nvSpPr>
        <p:spPr>
          <a:xfrm>
            <a:off x="548640" y="658368"/>
            <a:ext cx="7863840" cy="566928"/>
          </a:xfrm>
          <a:prstGeom prst="rect">
            <a:avLst/>
          </a:prstGeom>
          <a:noFill/>
          <a:ln/>
        </p:spPr>
        <p:txBody>
          <a:bodyPr wrap="square" lIns="0" tIns="0" rIns="0" bIns="0" rtlCol="0" anchor="ctr"/>
          <a:lstStyle/>
          <a:p>
            <a:r>
              <a:rPr lang="en-US" sz="2600">
                <a:solidFill>
                  <a:srgbClr val="36393B"/>
                </a:solidFill>
                <a:latin typeface="Arial Black"/>
              </a:rPr>
              <a:t>KEY TAKEAWAY</a:t>
            </a:r>
            <a:endParaRPr lang="en-US" sz="2600">
              <a:latin typeface="Arial Black"/>
            </a:endParaRPr>
          </a:p>
        </p:txBody>
      </p:sp>
      <p:sp>
        <p:nvSpPr>
          <p:cNvPr id="7" name="Text 4"/>
          <p:cNvSpPr/>
          <p:nvPr/>
        </p:nvSpPr>
        <p:spPr>
          <a:xfrm>
            <a:off x="548640" y="1600200"/>
            <a:ext cx="7863840" cy="822960"/>
          </a:xfrm>
          <a:prstGeom prst="rect">
            <a:avLst/>
          </a:prstGeom>
          <a:noFill/>
          <a:ln/>
        </p:spPr>
        <p:txBody>
          <a:bodyPr wrap="square" lIns="0" tIns="0" rIns="0" bIns="0" rtlCol="0" anchor="ctr"/>
          <a:lstStyle/>
          <a:p>
            <a:pPr marL="0" indent="0">
              <a:buNone/>
            </a:pPr>
            <a:r>
              <a:rPr lang="en-US" sz="3400">
                <a:solidFill>
                  <a:srgbClr val="4C7A00"/>
                </a:solidFill>
                <a:latin typeface="Arial Black" pitchFamily="34" charset="0"/>
                <a:ea typeface="Arial Black" pitchFamily="34" charset="-122"/>
                <a:cs typeface="Arial Black" pitchFamily="34" charset="-120"/>
              </a:rPr>
              <a:t>Pit on tyre life, not on instinct.</a:t>
            </a:r>
            <a:endParaRPr lang="en-US" sz="3400"/>
          </a:p>
        </p:txBody>
      </p:sp>
      <p:sp>
        <p:nvSpPr>
          <p:cNvPr id="8" name="Text 5"/>
          <p:cNvSpPr/>
          <p:nvPr/>
        </p:nvSpPr>
        <p:spPr>
          <a:xfrm>
            <a:off x="548640" y="2697480"/>
            <a:ext cx="7861662" cy="1371600"/>
          </a:xfrm>
          <a:prstGeom prst="rect">
            <a:avLst/>
          </a:prstGeom>
          <a:noFill/>
          <a:ln/>
        </p:spPr>
        <p:txBody>
          <a:bodyPr wrap="square" lIns="0" tIns="0" rIns="0" bIns="0" rtlCol="0" anchor="ctr"/>
          <a:lstStyle/>
          <a:p>
            <a:pPr marL="285750" indent="-285750" algn="just">
              <a:buFont typeface="Arial"/>
              <a:buChar char="•"/>
            </a:pPr>
            <a:r>
              <a:rPr lang="en-US" sz="1400">
                <a:solidFill>
                  <a:srgbClr val="3C4043"/>
                </a:solidFill>
                <a:latin typeface="Arial"/>
                <a:ea typeface="Arial" pitchFamily="34" charset="-122"/>
                <a:cs typeface="Arial"/>
              </a:rPr>
              <a:t>The undercut is mostly a myth. </a:t>
            </a:r>
            <a:endParaRPr lang="en-US" sz="1400">
              <a:solidFill>
                <a:srgbClr val="000000"/>
              </a:solidFill>
              <a:latin typeface="Arial"/>
              <a:ea typeface="Calibri" panose="020F0502020204030204"/>
              <a:cs typeface="Arial"/>
            </a:endParaRPr>
          </a:p>
          <a:p>
            <a:pPr marL="285750" indent="-285750" algn="just">
              <a:buFont typeface="Arial"/>
              <a:buChar char="•"/>
            </a:pPr>
            <a:r>
              <a:rPr lang="en-US" sz="1400">
                <a:solidFill>
                  <a:srgbClr val="3C4043"/>
                </a:solidFill>
                <a:latin typeface="Arial"/>
                <a:ea typeface="Arial" pitchFamily="34" charset="-122"/>
                <a:cs typeface="Arial"/>
              </a:rPr>
              <a:t>Early stops cost places, the payoff sits in the middle of the race, and once </a:t>
            </a:r>
            <a:r>
              <a:rPr lang="en-US" sz="1400" err="1">
                <a:solidFill>
                  <a:srgbClr val="3C4043"/>
                </a:solidFill>
                <a:latin typeface="Arial"/>
                <a:ea typeface="Arial" pitchFamily="34" charset="-122"/>
                <a:cs typeface="Arial"/>
              </a:rPr>
              <a:t>you</a:t>
            </a:r>
            <a:r>
              <a:rPr lang="en-US" sz="1400">
                <a:solidFill>
                  <a:srgbClr val="3C4043"/>
                </a:solidFill>
                <a:latin typeface="Arial"/>
                <a:ea typeface="Arial" pitchFamily="34" charset="-122"/>
                <a:cs typeface="Arial"/>
              </a:rPr>
              <a:t> account for the car, strategy is a small lever on a noisy result. </a:t>
            </a:r>
            <a:endParaRPr lang="en-US" sz="1400">
              <a:solidFill>
                <a:srgbClr val="000000"/>
              </a:solidFill>
              <a:latin typeface="Arial"/>
              <a:ea typeface="Calibri"/>
              <a:cs typeface="Arial"/>
            </a:endParaRPr>
          </a:p>
          <a:p>
            <a:pPr marL="285750" indent="-285750" algn="just">
              <a:buFont typeface="Arial"/>
              <a:buChar char="•"/>
            </a:pPr>
            <a:r>
              <a:rPr lang="en-US" sz="1400">
                <a:solidFill>
                  <a:srgbClr val="3C4043"/>
                </a:solidFill>
                <a:latin typeface="Arial"/>
                <a:ea typeface="Arial" pitchFamily="34" charset="-122"/>
                <a:cs typeface="Arial"/>
              </a:rPr>
              <a:t>What makes the finding credible is that three separate methods all point the same way.</a:t>
            </a:r>
            <a:endParaRPr lang="en-US" sz="1400">
              <a:latin typeface="Arial"/>
              <a:ea typeface="Calibri"/>
              <a:cs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512064" y="914400"/>
            <a:ext cx="3108960" cy="1645920"/>
          </a:xfrm>
          <a:prstGeom prst="rect">
            <a:avLst/>
          </a:prstGeom>
          <a:noFill/>
          <a:ln/>
        </p:spPr>
        <p:txBody>
          <a:bodyPr wrap="square" lIns="0" tIns="0" rIns="0" bIns="0" rtlCol="0" anchor="ctr"/>
          <a:lstStyle/>
          <a:p>
            <a:pPr marL="0" indent="0">
              <a:buNone/>
            </a:pPr>
            <a:r>
              <a:rPr lang="en-US" sz="10400">
                <a:solidFill>
                  <a:srgbClr val="639A00"/>
                </a:solidFill>
                <a:latin typeface="Arial Black" pitchFamily="34" charset="0"/>
                <a:ea typeface="Arial Black" pitchFamily="34" charset="-122"/>
                <a:cs typeface="Arial Black" pitchFamily="34" charset="-120"/>
              </a:rPr>
              <a:t>07</a:t>
            </a:r>
            <a:endParaRPr lang="en-US" sz="10400"/>
          </a:p>
        </p:txBody>
      </p:sp>
      <p:sp>
        <p:nvSpPr>
          <p:cNvPr id="6" name="Text 3"/>
          <p:cNvSpPr/>
          <p:nvPr/>
        </p:nvSpPr>
        <p:spPr>
          <a:xfrm>
            <a:off x="566928" y="2724912"/>
            <a:ext cx="6126480" cy="822960"/>
          </a:xfrm>
          <a:prstGeom prst="rect">
            <a:avLst/>
          </a:prstGeom>
          <a:noFill/>
          <a:ln/>
        </p:spPr>
        <p:txBody>
          <a:bodyPr wrap="square" lIns="0" tIns="0" rIns="0" bIns="0" rtlCol="0" anchor="ctr"/>
          <a:lstStyle/>
          <a:p>
            <a:pPr marL="0" indent="0">
              <a:buNone/>
            </a:pPr>
            <a:r>
              <a:rPr lang="en-US" sz="3300">
                <a:solidFill>
                  <a:srgbClr val="36393B"/>
                </a:solidFill>
                <a:latin typeface="Arial Black" pitchFamily="34" charset="0"/>
                <a:ea typeface="Arial Black" pitchFamily="34" charset="-122"/>
                <a:cs typeface="Arial Black" pitchFamily="34" charset="-120"/>
              </a:rPr>
              <a:t>FUTURE WORK</a:t>
            </a:r>
            <a:endParaRPr lang="en-US" sz="330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25</a:t>
            </a:r>
            <a:endParaRPr lang="en-US" sz="1000"/>
          </a:p>
        </p:txBody>
      </p:sp>
      <p:sp>
        <p:nvSpPr>
          <p:cNvPr id="6" name="Text 3"/>
          <p:cNvSpPr/>
          <p:nvPr/>
        </p:nvSpPr>
        <p:spPr>
          <a:xfrm>
            <a:off x="548640" y="658368"/>
            <a:ext cx="7863840" cy="566928"/>
          </a:xfrm>
          <a:prstGeom prst="rect">
            <a:avLst/>
          </a:prstGeom>
          <a:noFill/>
          <a:ln/>
        </p:spPr>
        <p:txBody>
          <a:bodyPr wrap="square" lIns="0" tIns="0" rIns="0" bIns="0" rtlCol="0" anchor="ctr"/>
          <a:lstStyle/>
          <a:p>
            <a:pPr marL="0" indent="0">
              <a:buNone/>
            </a:pPr>
            <a:r>
              <a:rPr lang="en-US" sz="2600">
                <a:solidFill>
                  <a:srgbClr val="36393B"/>
                </a:solidFill>
                <a:latin typeface="Arial Black" pitchFamily="34" charset="0"/>
                <a:ea typeface="Arial Black" pitchFamily="34" charset="-122"/>
                <a:cs typeface="Arial Black" pitchFamily="34" charset="-120"/>
              </a:rPr>
              <a:t>FUTURE WORK</a:t>
            </a:r>
            <a:endParaRPr lang="en-US" sz="2600"/>
          </a:p>
        </p:txBody>
      </p:sp>
      <p:sp>
        <p:nvSpPr>
          <p:cNvPr id="7" name="Text 4"/>
          <p:cNvSpPr/>
          <p:nvPr/>
        </p:nvSpPr>
        <p:spPr>
          <a:xfrm>
            <a:off x="548640" y="1396855"/>
            <a:ext cx="7126878" cy="605027"/>
          </a:xfrm>
          <a:prstGeom prst="rect">
            <a:avLst/>
          </a:prstGeom>
          <a:noFill/>
          <a:ln/>
        </p:spPr>
        <p:txBody>
          <a:bodyPr wrap="square" lIns="0" tIns="0" rIns="0" bIns="0" rtlCol="0" anchor="ctr"/>
          <a:lstStyle/>
          <a:p>
            <a:pPr marL="0" indent="0">
              <a:buNone/>
            </a:pPr>
            <a:r>
              <a:rPr lang="en-US" sz="1400" b="1">
                <a:solidFill>
                  <a:srgbClr val="4C7A00"/>
                </a:solidFill>
                <a:latin typeface="Arial"/>
                <a:ea typeface="Arial" pitchFamily="34" charset="-122"/>
                <a:cs typeface="Arial"/>
              </a:rPr>
              <a:t>Safety car as an instrument.  </a:t>
            </a:r>
            <a:r>
              <a:rPr lang="en-US" sz="1400">
                <a:solidFill>
                  <a:srgbClr val="3C4043"/>
                </a:solidFill>
                <a:latin typeface="Arial"/>
                <a:ea typeface="Arial" pitchFamily="34" charset="-122"/>
                <a:cs typeface="Arial"/>
              </a:rPr>
              <a:t>Recover safety car and VSC timing from FastF1; because a safety car makes a stop cheap, it can serve as an instrument and move the design from adjustment to IV.</a:t>
            </a:r>
            <a:endParaRPr lang="en-US" sz="1400">
              <a:latin typeface="Arial"/>
              <a:ea typeface="Calibri"/>
              <a:cs typeface="Arial"/>
            </a:endParaRPr>
          </a:p>
        </p:txBody>
      </p:sp>
      <p:sp>
        <p:nvSpPr>
          <p:cNvPr id="8" name="Text 5"/>
          <p:cNvSpPr/>
          <p:nvPr/>
        </p:nvSpPr>
        <p:spPr>
          <a:xfrm>
            <a:off x="548640" y="2136212"/>
            <a:ext cx="6783978" cy="566928"/>
          </a:xfrm>
          <a:prstGeom prst="rect">
            <a:avLst/>
          </a:prstGeom>
          <a:noFill/>
          <a:ln/>
        </p:spPr>
        <p:txBody>
          <a:bodyPr wrap="square" lIns="0" tIns="0" rIns="0" bIns="0" rtlCol="0" anchor="ctr"/>
          <a:lstStyle/>
          <a:p>
            <a:pPr marL="0" indent="0">
              <a:buNone/>
            </a:pPr>
            <a:r>
              <a:rPr lang="en-US" sz="1400" b="1">
                <a:solidFill>
                  <a:srgbClr val="4C7A00"/>
                </a:solidFill>
                <a:latin typeface="Arial"/>
                <a:ea typeface="Arial" pitchFamily="34" charset="-122"/>
                <a:cs typeface="Arial"/>
              </a:rPr>
              <a:t>Separate forced early stops.  </a:t>
            </a:r>
            <a:r>
              <a:rPr lang="en-US" sz="1400">
                <a:solidFill>
                  <a:srgbClr val="3C4043"/>
                </a:solidFill>
                <a:latin typeface="Arial"/>
                <a:ea typeface="Arial" pitchFamily="34" charset="-122"/>
                <a:cs typeface="Arial"/>
              </a:rPr>
              <a:t>Flag first lap incidents such as damage and punctures, so a stop that was forced is not mistaken for a strategic choice.</a:t>
            </a:r>
            <a:endParaRPr lang="en-US" sz="1400">
              <a:latin typeface="Arial"/>
              <a:ea typeface="Calibri"/>
              <a:cs typeface="Arial"/>
            </a:endParaRPr>
          </a:p>
        </p:txBody>
      </p:sp>
      <p:sp>
        <p:nvSpPr>
          <p:cNvPr id="9" name="Text 6"/>
          <p:cNvSpPr/>
          <p:nvPr/>
        </p:nvSpPr>
        <p:spPr>
          <a:xfrm>
            <a:off x="548640" y="2706842"/>
            <a:ext cx="6952706" cy="572370"/>
          </a:xfrm>
          <a:prstGeom prst="rect">
            <a:avLst/>
          </a:prstGeom>
          <a:noFill/>
          <a:ln/>
        </p:spPr>
        <p:txBody>
          <a:bodyPr wrap="square" lIns="0" tIns="0" rIns="0" bIns="0" rtlCol="0" anchor="ctr"/>
          <a:lstStyle/>
          <a:p>
            <a:pPr marL="0" indent="0">
              <a:buNone/>
            </a:pPr>
            <a:r>
              <a:rPr lang="en-US" sz="1400" b="1">
                <a:solidFill>
                  <a:srgbClr val="4C7A00"/>
                </a:solidFill>
                <a:latin typeface="Arial"/>
                <a:ea typeface="Arial" pitchFamily="34" charset="-122"/>
                <a:cs typeface="Arial"/>
              </a:rPr>
              <a:t>Dynamic car quality.  </a:t>
            </a:r>
            <a:r>
              <a:rPr lang="en-US" sz="1400">
                <a:solidFill>
                  <a:srgbClr val="3C4043"/>
                </a:solidFill>
                <a:latin typeface="Arial"/>
                <a:ea typeface="Arial" pitchFamily="34" charset="-122"/>
                <a:cs typeface="Arial"/>
              </a:rPr>
              <a:t>Replace the static yearly tier with rolling, race by race form, so </a:t>
            </a:r>
            <a:r>
              <a:rPr lang="en-US" sz="1400" err="1">
                <a:solidFill>
                  <a:srgbClr val="3C4043"/>
                </a:solidFill>
                <a:latin typeface="Arial"/>
                <a:ea typeface="Arial" pitchFamily="34" charset="-122"/>
                <a:cs typeface="Arial"/>
              </a:rPr>
              <a:t>mid season</a:t>
            </a:r>
            <a:r>
              <a:rPr lang="en-US" sz="1400">
                <a:solidFill>
                  <a:srgbClr val="3C4043"/>
                </a:solidFill>
                <a:latin typeface="Arial"/>
                <a:ea typeface="Arial" pitchFamily="34" charset="-122"/>
                <a:cs typeface="Arial"/>
              </a:rPr>
              <a:t> upgrades and slumps enter the controls.</a:t>
            </a:r>
            <a:endParaRPr lang="en-US" sz="1400">
              <a:latin typeface="Arial"/>
              <a:ea typeface="Calibri"/>
              <a:cs typeface="Arial"/>
            </a:endParaRPr>
          </a:p>
        </p:txBody>
      </p:sp>
      <p:sp>
        <p:nvSpPr>
          <p:cNvPr id="10" name="Text 7"/>
          <p:cNvSpPr/>
          <p:nvPr/>
        </p:nvSpPr>
        <p:spPr>
          <a:xfrm>
            <a:off x="548640" y="3380885"/>
            <a:ext cx="7039792" cy="566928"/>
          </a:xfrm>
          <a:prstGeom prst="rect">
            <a:avLst/>
          </a:prstGeom>
          <a:noFill/>
          <a:ln/>
        </p:spPr>
        <p:txBody>
          <a:bodyPr wrap="square" lIns="0" tIns="0" rIns="0" bIns="0" rtlCol="0" anchor="ctr"/>
          <a:lstStyle/>
          <a:p>
            <a:pPr marL="0" indent="0">
              <a:buNone/>
            </a:pPr>
            <a:r>
              <a:rPr lang="en-US" sz="1400" b="1">
                <a:solidFill>
                  <a:srgbClr val="4C7A00"/>
                </a:solidFill>
                <a:latin typeface="Arial"/>
                <a:ea typeface="Arial" pitchFamily="34" charset="-122"/>
                <a:cs typeface="Arial"/>
              </a:rPr>
              <a:t>Heterogeneous effects.  </a:t>
            </a:r>
            <a:r>
              <a:rPr lang="en-US" sz="1400">
                <a:solidFill>
                  <a:srgbClr val="3C4043"/>
                </a:solidFill>
                <a:latin typeface="Arial"/>
                <a:ea typeface="Arial" pitchFamily="34" charset="-122"/>
                <a:cs typeface="Arial"/>
              </a:rPr>
              <a:t>Use causal forests to learn which drivers and tracks actually gain, turning the average effect into a conditional policy.</a:t>
            </a:r>
            <a:endParaRPr lang="en-US" sz="1400">
              <a:latin typeface="Arial"/>
              <a:ea typeface="Calibri"/>
              <a:cs typeface="Arial"/>
            </a:endParaRPr>
          </a:p>
        </p:txBody>
      </p:sp>
      <p:sp>
        <p:nvSpPr>
          <p:cNvPr id="12" name="Text 9"/>
          <p:cNvSpPr/>
          <p:nvPr/>
        </p:nvSpPr>
        <p:spPr>
          <a:xfrm>
            <a:off x="548640" y="4103043"/>
            <a:ext cx="6925492" cy="566928"/>
          </a:xfrm>
          <a:prstGeom prst="rect">
            <a:avLst/>
          </a:prstGeom>
          <a:noFill/>
          <a:ln/>
        </p:spPr>
        <p:txBody>
          <a:bodyPr wrap="square" lIns="0" tIns="0" rIns="0" bIns="0" rtlCol="0" anchor="ctr"/>
          <a:lstStyle/>
          <a:p>
            <a:pPr marL="0" indent="0">
              <a:buNone/>
            </a:pPr>
            <a:r>
              <a:rPr lang="en-US" sz="1400" b="1">
                <a:solidFill>
                  <a:srgbClr val="4C7A00"/>
                </a:solidFill>
                <a:latin typeface="Arial"/>
                <a:ea typeface="Arial" pitchFamily="34" charset="-122"/>
                <a:cs typeface="Arial"/>
              </a:rPr>
              <a:t>Broader conditions.  </a:t>
            </a:r>
            <a:r>
              <a:rPr lang="en-US" sz="1400">
                <a:solidFill>
                  <a:srgbClr val="3C4043"/>
                </a:solidFill>
                <a:latin typeface="Arial"/>
                <a:ea typeface="Arial" pitchFamily="34" charset="-122"/>
                <a:cs typeface="Arial"/>
              </a:rPr>
              <a:t>Bring wet races back </a:t>
            </a:r>
            <a:r>
              <a:rPr lang="en-US" sz="1400" err="1">
                <a:solidFill>
                  <a:srgbClr val="3C4043"/>
                </a:solidFill>
                <a:latin typeface="Arial"/>
                <a:ea typeface="Arial" pitchFamily="34" charset="-122"/>
                <a:cs typeface="Arial"/>
              </a:rPr>
              <a:t>in, and</a:t>
            </a:r>
            <a:r>
              <a:rPr lang="en-US" sz="1400">
                <a:solidFill>
                  <a:srgbClr val="3C4043"/>
                </a:solidFill>
                <a:latin typeface="Arial"/>
                <a:ea typeface="Arial" pitchFamily="34" charset="-122"/>
                <a:cs typeface="Arial"/>
              </a:rPr>
              <a:t> add </a:t>
            </a:r>
            <a:r>
              <a:rPr lang="en-US" sz="1400" err="1">
                <a:solidFill>
                  <a:srgbClr val="3C4043"/>
                </a:solidFill>
                <a:latin typeface="Arial"/>
                <a:ea typeface="Arial" pitchFamily="34" charset="-122"/>
                <a:cs typeface="Arial"/>
              </a:rPr>
              <a:t>tyre</a:t>
            </a:r>
            <a:r>
              <a:rPr lang="en-US" sz="1400">
                <a:solidFill>
                  <a:srgbClr val="3C4043"/>
                </a:solidFill>
                <a:latin typeface="Arial"/>
                <a:ea typeface="Arial" pitchFamily="34" charset="-122"/>
                <a:cs typeface="Arial"/>
              </a:rPr>
              <a:t> compound and circuit interactions that the dry race core leaves out.</a:t>
            </a:r>
            <a:endParaRPr lang="en-US" sz="1400">
              <a:latin typeface="Arial"/>
              <a:ea typeface="Calibri"/>
              <a:cs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512064" y="914400"/>
            <a:ext cx="3108960" cy="1645920"/>
          </a:xfrm>
          <a:prstGeom prst="rect">
            <a:avLst/>
          </a:prstGeom>
          <a:noFill/>
          <a:ln/>
        </p:spPr>
        <p:txBody>
          <a:bodyPr wrap="square" lIns="0" tIns="0" rIns="0" bIns="0" rtlCol="0" anchor="ctr"/>
          <a:lstStyle/>
          <a:p>
            <a:pPr marL="0" indent="0">
              <a:buNone/>
            </a:pPr>
            <a:r>
              <a:rPr lang="en-US" sz="10400">
                <a:solidFill>
                  <a:srgbClr val="639A00"/>
                </a:solidFill>
                <a:latin typeface="Arial Black" pitchFamily="34" charset="0"/>
                <a:ea typeface="Arial Black" pitchFamily="34" charset="-122"/>
                <a:cs typeface="Arial Black" pitchFamily="34" charset="-120"/>
              </a:rPr>
              <a:t>08</a:t>
            </a:r>
            <a:endParaRPr lang="en-US" sz="10400"/>
          </a:p>
        </p:txBody>
      </p:sp>
      <p:sp>
        <p:nvSpPr>
          <p:cNvPr id="6" name="Text 3"/>
          <p:cNvSpPr/>
          <p:nvPr/>
        </p:nvSpPr>
        <p:spPr>
          <a:xfrm>
            <a:off x="566928" y="2724912"/>
            <a:ext cx="6126480" cy="822960"/>
          </a:xfrm>
          <a:prstGeom prst="rect">
            <a:avLst/>
          </a:prstGeom>
          <a:noFill/>
          <a:ln/>
        </p:spPr>
        <p:txBody>
          <a:bodyPr wrap="square" lIns="0" tIns="0" rIns="0" bIns="0" rtlCol="0" anchor="ctr"/>
          <a:lstStyle/>
          <a:p>
            <a:pPr marL="0" indent="0">
              <a:buNone/>
            </a:pPr>
            <a:r>
              <a:rPr lang="en-US" sz="3300">
                <a:solidFill>
                  <a:srgbClr val="36393B"/>
                </a:solidFill>
                <a:latin typeface="Arial Black" pitchFamily="34" charset="0"/>
                <a:ea typeface="Arial Black" pitchFamily="34" charset="-122"/>
                <a:cs typeface="Arial Black" pitchFamily="34" charset="-120"/>
              </a:rPr>
              <a:t>LIMITATIONS</a:t>
            </a:r>
            <a:endParaRPr lang="en-US" sz="33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796528" y="0"/>
            <a:ext cx="347472" cy="5143500"/>
          </a:xfrm>
          <a:prstGeom prst="rect">
            <a:avLst/>
          </a:prstGeom>
          <a:solidFill>
            <a:srgbClr val="639A00"/>
          </a:solidFill>
          <a:ln/>
        </p:spPr>
      </p:sp>
      <p:sp>
        <p:nvSpPr>
          <p:cNvPr id="3" name="Text 1"/>
          <p:cNvSpPr/>
          <p:nvPr/>
        </p:nvSpPr>
        <p:spPr>
          <a:xfrm rot="16200000">
            <a:off x="7141464" y="2377440"/>
            <a:ext cx="3657600" cy="365760"/>
          </a:xfrm>
          <a:prstGeom prst="rect">
            <a:avLst/>
          </a:prstGeom>
          <a:noFill/>
          <a:ln/>
        </p:spPr>
        <p:txBody>
          <a:bodyPr wrap="square" lIns="0" tIns="0" rIns="0" bIns="0" rtlCol="0" anchor="ctr"/>
          <a:lstStyle/>
          <a:p>
            <a:pPr marL="0" indent="0" algn="ctr">
              <a:buNone/>
            </a:pPr>
            <a:r>
              <a:rPr lang="en-US" sz="900" b="1" kern="0" spc="200">
                <a:solidFill>
                  <a:srgbClr val="FFFFFF"/>
                </a:solidFill>
                <a:latin typeface="Arial" pitchFamily="34" charset="0"/>
                <a:ea typeface="Arial" pitchFamily="34" charset="-122"/>
                <a:cs typeface="Arial" pitchFamily="34" charset="-120"/>
              </a:rPr>
              <a:t>DOES THE UNDERCUT PAY OFF</a:t>
            </a:r>
            <a:endParaRPr lang="en-US" sz="900"/>
          </a:p>
        </p:txBody>
      </p:sp>
      <p:pic>
        <p:nvPicPr>
          <p:cNvPr id="4" name="Image 0" descr="ref_unpacked/ppt/media/image1.png"/>
          <p:cNvPicPr>
            <a:picLocks noChangeAspect="1"/>
          </p:cNvPicPr>
          <p:nvPr/>
        </p:nvPicPr>
        <p:blipFill>
          <a:blip r:embed="rId3"/>
          <a:stretch>
            <a:fillRect/>
          </a:stretch>
        </p:blipFill>
        <p:spPr>
          <a:xfrm>
            <a:off x="7479792" y="274320"/>
            <a:ext cx="1170432" cy="205740"/>
          </a:xfrm>
          <a:prstGeom prst="rect">
            <a:avLst/>
          </a:prstGeom>
        </p:spPr>
      </p:pic>
      <p:sp>
        <p:nvSpPr>
          <p:cNvPr id="5" name="Text 2"/>
          <p:cNvSpPr/>
          <p:nvPr/>
        </p:nvSpPr>
        <p:spPr>
          <a:xfrm>
            <a:off x="8796528" y="4736592"/>
            <a:ext cx="347472" cy="274320"/>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26</a:t>
            </a:r>
            <a:endParaRPr lang="en-US" sz="1000"/>
          </a:p>
        </p:txBody>
      </p:sp>
      <p:sp>
        <p:nvSpPr>
          <p:cNvPr id="6" name="Text 3"/>
          <p:cNvSpPr/>
          <p:nvPr/>
        </p:nvSpPr>
        <p:spPr>
          <a:xfrm>
            <a:off x="548640" y="658368"/>
            <a:ext cx="7863840" cy="566928"/>
          </a:xfrm>
          <a:prstGeom prst="rect">
            <a:avLst/>
          </a:prstGeom>
          <a:noFill/>
          <a:ln/>
        </p:spPr>
        <p:txBody>
          <a:bodyPr wrap="square" lIns="0" tIns="0" rIns="0" bIns="0" rtlCol="0" anchor="ctr"/>
          <a:lstStyle/>
          <a:p>
            <a:pPr marL="0" indent="0">
              <a:buNone/>
            </a:pPr>
            <a:r>
              <a:rPr lang="en-US" sz="2600">
                <a:solidFill>
                  <a:srgbClr val="36393B"/>
                </a:solidFill>
                <a:latin typeface="Arial Black" pitchFamily="34" charset="0"/>
                <a:ea typeface="Arial Black" pitchFamily="34" charset="-122"/>
                <a:cs typeface="Arial Black" pitchFamily="34" charset="-120"/>
              </a:rPr>
              <a:t>WHAT TO KEEP IN MIND</a:t>
            </a:r>
            <a:endParaRPr lang="en-US" sz="2600"/>
          </a:p>
        </p:txBody>
      </p:sp>
      <p:sp>
        <p:nvSpPr>
          <p:cNvPr id="7" name="Text 4"/>
          <p:cNvSpPr/>
          <p:nvPr/>
        </p:nvSpPr>
        <p:spPr>
          <a:xfrm>
            <a:off x="548640" y="1508760"/>
            <a:ext cx="7415349" cy="566928"/>
          </a:xfrm>
          <a:prstGeom prst="rect">
            <a:avLst/>
          </a:prstGeom>
          <a:noFill/>
          <a:ln/>
        </p:spPr>
        <p:txBody>
          <a:bodyPr wrap="square" lIns="0" tIns="0" rIns="0" bIns="0" rtlCol="0" anchor="ctr"/>
          <a:lstStyle/>
          <a:p>
            <a:r>
              <a:rPr lang="en-US" sz="1350" b="1">
                <a:solidFill>
                  <a:srgbClr val="4C7A00"/>
                </a:solidFill>
                <a:latin typeface="Arial"/>
                <a:ea typeface="Arial" pitchFamily="34" charset="-122"/>
                <a:cs typeface="Arial"/>
              </a:rPr>
              <a:t>Interference:  </a:t>
            </a:r>
            <a:r>
              <a:rPr lang="en-US" sz="1350">
                <a:solidFill>
                  <a:srgbClr val="3C4043"/>
                </a:solidFill>
                <a:latin typeface="Arial"/>
                <a:ea typeface="Arial" pitchFamily="34" charset="-122"/>
                <a:cs typeface="Arial"/>
              </a:rPr>
              <a:t>Positions are roughly zero sum, so one driver's stop changes everyone else's race. We report the individual effect and cluster errors by race.</a:t>
            </a:r>
            <a:endParaRPr lang="en-US" sz="1350">
              <a:latin typeface="Arial"/>
              <a:cs typeface="Arial"/>
            </a:endParaRPr>
          </a:p>
        </p:txBody>
      </p:sp>
      <p:sp>
        <p:nvSpPr>
          <p:cNvPr id="8" name="Text 5"/>
          <p:cNvSpPr/>
          <p:nvPr/>
        </p:nvSpPr>
        <p:spPr>
          <a:xfrm>
            <a:off x="548640" y="2167128"/>
            <a:ext cx="6958149" cy="566928"/>
          </a:xfrm>
          <a:prstGeom prst="rect">
            <a:avLst/>
          </a:prstGeom>
          <a:noFill/>
          <a:ln/>
        </p:spPr>
        <p:txBody>
          <a:bodyPr wrap="square" lIns="0" tIns="0" rIns="0" bIns="0" rtlCol="0" anchor="ctr"/>
          <a:lstStyle/>
          <a:p>
            <a:r>
              <a:rPr lang="en-US" sz="1350" b="1">
                <a:solidFill>
                  <a:srgbClr val="4C7A00"/>
                </a:solidFill>
                <a:latin typeface="Arial"/>
                <a:ea typeface="Arial" pitchFamily="34" charset="-122"/>
                <a:cs typeface="Arial"/>
              </a:rPr>
              <a:t>Selection within a race:  </a:t>
            </a:r>
            <a:r>
              <a:rPr lang="en-US" sz="1350">
                <a:solidFill>
                  <a:srgbClr val="3C4043"/>
                </a:solidFill>
                <a:latin typeface="Arial"/>
                <a:ea typeface="Arial" pitchFamily="34" charset="-122"/>
                <a:cs typeface="Arial"/>
              </a:rPr>
              <a:t>Fixed effects cannot remove a first lap incident that forces an early stop.</a:t>
            </a:r>
            <a:endParaRPr lang="en-US" sz="1350">
              <a:latin typeface="Arial"/>
              <a:cs typeface="Arial"/>
            </a:endParaRPr>
          </a:p>
        </p:txBody>
      </p:sp>
      <p:sp>
        <p:nvSpPr>
          <p:cNvPr id="9" name="Text 6"/>
          <p:cNvSpPr/>
          <p:nvPr/>
        </p:nvSpPr>
        <p:spPr>
          <a:xfrm>
            <a:off x="548640" y="2825496"/>
            <a:ext cx="7061563" cy="566928"/>
          </a:xfrm>
          <a:prstGeom prst="rect">
            <a:avLst/>
          </a:prstGeom>
          <a:noFill/>
          <a:ln/>
        </p:spPr>
        <p:txBody>
          <a:bodyPr wrap="square" lIns="0" tIns="0" rIns="0" bIns="0" rtlCol="0" anchor="ctr"/>
          <a:lstStyle/>
          <a:p>
            <a:r>
              <a:rPr lang="en-US" sz="1350" b="1">
                <a:solidFill>
                  <a:srgbClr val="4C7A00"/>
                </a:solidFill>
                <a:latin typeface="Arial"/>
                <a:ea typeface="Arial" pitchFamily="34" charset="-122"/>
                <a:cs typeface="Arial"/>
              </a:rPr>
              <a:t>No safety car data:  </a:t>
            </a:r>
            <a:r>
              <a:rPr lang="en-US" sz="1350">
                <a:solidFill>
                  <a:srgbClr val="3C4043"/>
                </a:solidFill>
                <a:latin typeface="Arial"/>
                <a:ea typeface="Arial" pitchFamily="34" charset="-122"/>
                <a:cs typeface="Arial"/>
              </a:rPr>
              <a:t>Those columns were corrupt, so we adjust for confounders rather than use them as an instrument.</a:t>
            </a:r>
            <a:endParaRPr lang="en-US" sz="1350">
              <a:latin typeface="Arial"/>
              <a:cs typeface="Arial"/>
            </a:endParaRPr>
          </a:p>
        </p:txBody>
      </p:sp>
      <p:sp>
        <p:nvSpPr>
          <p:cNvPr id="10" name="Text 7"/>
          <p:cNvSpPr/>
          <p:nvPr/>
        </p:nvSpPr>
        <p:spPr>
          <a:xfrm>
            <a:off x="548640" y="3483864"/>
            <a:ext cx="8046720" cy="566928"/>
          </a:xfrm>
          <a:prstGeom prst="rect">
            <a:avLst/>
          </a:prstGeom>
          <a:noFill/>
          <a:ln/>
        </p:spPr>
        <p:txBody>
          <a:bodyPr wrap="square" lIns="0" tIns="0" rIns="0" bIns="0" rtlCol="0" anchor="ctr"/>
          <a:lstStyle/>
          <a:p>
            <a:r>
              <a:rPr lang="en-US" sz="1350" b="1">
                <a:solidFill>
                  <a:srgbClr val="4C7A00"/>
                </a:solidFill>
                <a:latin typeface="Arial"/>
                <a:ea typeface="Arial" pitchFamily="34" charset="-122"/>
                <a:cs typeface="Arial"/>
              </a:rPr>
              <a:t>Missing 2022 weather:  </a:t>
            </a:r>
            <a:r>
              <a:rPr lang="en-US" sz="1350">
                <a:solidFill>
                  <a:srgbClr val="3C4043"/>
                </a:solidFill>
                <a:latin typeface="Arial"/>
                <a:ea typeface="Arial" pitchFamily="34" charset="-122"/>
                <a:cs typeface="Arial"/>
              </a:rPr>
              <a:t>The causal block runs on 2023 and 2024 only.</a:t>
            </a:r>
            <a:endParaRPr lang="en-US" sz="1350">
              <a:latin typeface="Arial"/>
              <a:cs typeface="Arial"/>
            </a:endParaRPr>
          </a:p>
        </p:txBody>
      </p:sp>
      <p:sp>
        <p:nvSpPr>
          <p:cNvPr id="11" name="Text 8"/>
          <p:cNvSpPr/>
          <p:nvPr/>
        </p:nvSpPr>
        <p:spPr>
          <a:xfrm>
            <a:off x="548640" y="4142232"/>
            <a:ext cx="6958149" cy="583256"/>
          </a:xfrm>
          <a:prstGeom prst="rect">
            <a:avLst/>
          </a:prstGeom>
          <a:noFill/>
          <a:ln/>
        </p:spPr>
        <p:txBody>
          <a:bodyPr wrap="square" lIns="0" tIns="0" rIns="0" bIns="0" rtlCol="0" anchor="ctr"/>
          <a:lstStyle/>
          <a:p>
            <a:r>
              <a:rPr lang="en-US" sz="1350" b="1">
                <a:solidFill>
                  <a:srgbClr val="4C7A00"/>
                </a:solidFill>
                <a:latin typeface="Arial"/>
                <a:ea typeface="Arial" pitchFamily="34" charset="-122"/>
                <a:cs typeface="Arial"/>
              </a:rPr>
              <a:t>Noise floor:  </a:t>
            </a:r>
            <a:r>
              <a:rPr lang="en-US" sz="1350">
                <a:solidFill>
                  <a:srgbClr val="3C4043"/>
                </a:solidFill>
                <a:latin typeface="Arial"/>
                <a:ea typeface="Arial" pitchFamily="34" charset="-122"/>
                <a:cs typeface="Arial"/>
              </a:rPr>
              <a:t>The low R squared is real outcome noise from crashes and retirements, reported plainly rather than hidden.</a:t>
            </a:r>
            <a:endParaRPr lang="en-US" sz="1350">
              <a:latin typeface="Arial"/>
              <a:cs typeface="Aria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36</Slides>
  <Notes>36</Notes>
  <HiddenSlides>0</HiddenSlides>
  <ScaleCrop>false</ScaleCrop>
  <HeadingPairs>
    <vt:vector size="4" baseType="variant">
      <vt:variant>
        <vt:lpstr>Theme</vt:lpstr>
      </vt:variant>
      <vt:variant>
        <vt:i4>1</vt:i4>
      </vt:variant>
      <vt:variant>
        <vt:lpstr>Slide Titles</vt:lpstr>
      </vt:variant>
      <vt:variant>
        <vt:i4>36</vt:i4>
      </vt:variant>
    </vt:vector>
  </HeadingPairs>
  <TitlesOfParts>
    <vt:vector size="37"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Impact of Pit Stop Strategy</dc:title>
  <dc:subject>PptxGenJS Presentation</dc:subject>
  <dc:creator>Group K</dc:creator>
  <cp:revision>52</cp:revision>
  <dcterms:created xsi:type="dcterms:W3CDTF">2026-06-29T19:58:54Z</dcterms:created>
  <dcterms:modified xsi:type="dcterms:W3CDTF">2026-06-30T16:49:06Z</dcterms:modified>
</cp:coreProperties>
</file>