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8A8F8C"/>
                </a:solidFill>
                <a:latin typeface="Arial"/>
              </a:defRPr>
            </a:pPr>
            <a:r>
              <a:rPr sz="1100" b="0" i="0" u="none" strike="noStrike">
                <a:solidFill>
                  <a:srgbClr val="8A8F8C"/>
                </a:solidFill>
                <a:latin typeface="Arial"/>
              </a:rPr>
              <a:t>Out of sample AUC (0.5 is a coin flip)</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639A00"/>
            </a:solidFill>
            <a:effectLst/>
          </c:spPr>
          <c:invertIfNegative val="0"/>
          <c:dLbls>
            <c:numFmt formatCode="0.00" sourceLinked="0"/>
            <c:txPr>
              <a:bodyPr/>
              <a:lstStyle/>
              <a:p>
                <a:pPr>
                  <a:defRPr b="1" i="0" strike="noStrike" sz="1200" u="none">
                    <a:solidFill>
                      <a:srgbClr val="36393B"/>
                    </a:solidFill>
                    <a:latin typeface="Arial"/>
                  </a:defRPr>
                </a:pPr>
              </a:p>
            </c:txPr>
            <c:showLegendKey val="0"/>
            <c:showVal val="1"/>
            <c:showCatName val="0"/>
            <c:showSerName val="0"/>
            <c:showPercent val="0"/>
            <c:showBubbleSize val="0"/>
            <c:showLeaderLines val="0"/>
          </c:dLbls>
          <c:dPt>
            <c:idx val="0"/>
            <c:invertIfNegative val="0"/>
            <c:bubble3D val="0"/>
            <c:spPr>
              <a:solidFill>
                <a:srgbClr val="639A00"/>
              </a:solidFill>
              <a:effectLst/>
            </c:spPr>
          </c:dPt>
          <c:dPt>
            <c:idx val="1"/>
            <c:invertIfNegative val="0"/>
            <c:bubble3D val="0"/>
            <c:spPr>
              <a:solidFill>
                <a:srgbClr val="639A00"/>
              </a:solidFill>
              <a:effectLst/>
            </c:spPr>
          </c:dPt>
          <c:dPt>
            <c:idx val="2"/>
            <c:invertIfNegative val="0"/>
            <c:bubble3D val="0"/>
            <c:spPr>
              <a:solidFill>
                <a:srgbClr val="4C7A00"/>
              </a:solidFill>
              <a:effectLst/>
            </c:spPr>
          </c:dPt>
          <c:cat>
            <c:multiLvlStrRef>
              <c:f>Sheet1!$A$2:$A$4</c:f>
              <c:multiLvlStrCache>
                <c:ptCount val="3"/>
                <c:lvl>
                  <c:pt idx="0">
                    <c:v>Points (top 10)</c:v>
                  </c:pt>
                  <c:pt idx="1">
                    <c:v>Three class</c:v>
                  </c:pt>
                  <c:pt idx="2">
                    <c:v>Podium</c:v>
                  </c:pt>
                </c:lvl>
              </c:multiLvlStrCache>
            </c:multiLvlStrRef>
          </c:cat>
          <c:val>
            <c:numRef>
              <c:f>Sheet1!$B$2:$B$4</c:f>
              <c:numCache>
                <c:formatCode>General</c:formatCode>
                <c:ptCount val="3"/>
                <c:pt idx="0">
                  <c:v>0.87</c:v>
                </c:pt>
                <c:pt idx="1">
                  <c:v>0.87</c:v>
                </c:pt>
                <c:pt idx="2">
                  <c:v>0.95</c:v>
                </c:pt>
              </c:numCache>
            </c:numRef>
          </c:val>
        </c:ser>
        <c:dLbls>
          <c:numFmt formatCode="0.00" sourceLinked="0"/>
          <c:txPr>
            <a:bodyPr/>
            <a:lstStyle/>
            <a:p>
              <a:pPr>
                <a:defRPr b="1" i="0" strike="noStrike" sz="1200" u="none">
                  <a:solidFill>
                    <a:srgbClr val="36393B"/>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3C4043"/>
                </a:solidFill>
                <a:latin typeface="Arial"/>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6350" cap="flat">
              <a:solidFill>
                <a:srgbClr val="EAEE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8F8C"/>
                </a:solidFill>
                <a:latin typeface="Arial"/>
              </a:defRPr>
            </a:pPr>
            <a:endParaRPr lang="en-US"/>
          </a:p>
        </c:txPr>
        <c:crossAx val="2094734554"/>
        <c:crosses val="autoZero"/>
        <c:crossBetween val="between"/>
        <c:majorUnit val="0.1"/>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image-13-1.png"/><Relationship Id="rId3" Type="http://schemas.openxmlformats.org/officeDocument/2006/relationships/image" Target="../media/image-13-2.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48640" y="960120"/>
            <a:ext cx="7315200" cy="274320"/>
          </a:xfrm>
          <a:prstGeom prst="rect">
            <a:avLst/>
          </a:prstGeom>
          <a:noFill/>
          <a:ln/>
        </p:spPr>
        <p:txBody>
          <a:bodyPr wrap="square" lIns="0" tIns="0" rIns="0" bIns="0" rtlCol="0" anchor="ctr"/>
          <a:lstStyle/>
          <a:p>
            <a:pPr indent="0" marL="0">
              <a:buNone/>
            </a:pPr>
            <a:r>
              <a:rPr lang="en-US" sz="1200" b="1" spc="100" kern="0" dirty="0">
                <a:solidFill>
                  <a:srgbClr val="639A00"/>
                </a:solidFill>
                <a:latin typeface="Arial" pitchFamily="34" charset="0"/>
                <a:ea typeface="Arial" pitchFamily="34" charset="-122"/>
                <a:cs typeface="Arial" pitchFamily="34" charset="-120"/>
              </a:rPr>
              <a:t>DATA &amp; AI IN ECONOMICS, TU DORTMUND</a:t>
            </a:r>
            <a:endParaRPr lang="en-US" sz="1200" dirty="0"/>
          </a:p>
        </p:txBody>
      </p:sp>
      <p:sp>
        <p:nvSpPr>
          <p:cNvPr id="6" name="Text 3"/>
          <p:cNvSpPr/>
          <p:nvPr/>
        </p:nvSpPr>
        <p:spPr>
          <a:xfrm>
            <a:off x="530352" y="1325880"/>
            <a:ext cx="5486400" cy="1737360"/>
          </a:xfrm>
          <a:prstGeom prst="rect">
            <a:avLst/>
          </a:prstGeom>
          <a:noFill/>
          <a:ln/>
        </p:spPr>
        <p:txBody>
          <a:bodyPr wrap="square" lIns="0" tIns="0" rIns="0" bIns="0" rtlCol="0" anchor="ctr"/>
          <a:lstStyle/>
          <a:p>
            <a:pPr indent="0" marL="0">
              <a:lnSpc>
                <a:spcPct val="98000"/>
              </a:lnSpc>
              <a:buNone/>
            </a:pPr>
            <a:r>
              <a:rPr lang="en-US" sz="4200" dirty="0">
                <a:solidFill>
                  <a:srgbClr val="36393B"/>
                </a:solidFill>
                <a:latin typeface="Arial Black" pitchFamily="34" charset="0"/>
                <a:ea typeface="Arial Black" pitchFamily="34" charset="-122"/>
                <a:cs typeface="Arial Black" pitchFamily="34" charset="-120"/>
              </a:rPr>
              <a:t>THE IMPACT OF</a:t>
            </a:r>
            <a:endParaRPr lang="en-US" sz="4200" dirty="0"/>
          </a:p>
          <a:p>
            <a:pPr indent="0" marL="0">
              <a:lnSpc>
                <a:spcPct val="98000"/>
              </a:lnSpc>
              <a:buNone/>
            </a:pPr>
            <a:r>
              <a:rPr lang="en-US" sz="4200" dirty="0">
                <a:solidFill>
                  <a:srgbClr val="36393B"/>
                </a:solidFill>
                <a:latin typeface="Arial Black" pitchFamily="34" charset="0"/>
                <a:ea typeface="Arial Black" pitchFamily="34" charset="-122"/>
                <a:cs typeface="Arial Black" pitchFamily="34" charset="-120"/>
              </a:rPr>
              <a:t>PIT STOP STRATEGY</a:t>
            </a:r>
            <a:endParaRPr lang="en-US" sz="4200" dirty="0"/>
          </a:p>
        </p:txBody>
      </p:sp>
      <p:sp>
        <p:nvSpPr>
          <p:cNvPr id="7" name="Text 4"/>
          <p:cNvSpPr/>
          <p:nvPr/>
        </p:nvSpPr>
        <p:spPr>
          <a:xfrm>
            <a:off x="548640" y="3154680"/>
            <a:ext cx="5029200" cy="640080"/>
          </a:xfrm>
          <a:prstGeom prst="rect">
            <a:avLst/>
          </a:prstGeom>
          <a:noFill/>
          <a:ln/>
        </p:spPr>
        <p:txBody>
          <a:bodyPr wrap="square" lIns="0" tIns="0" rIns="0" bIns="0" rtlCol="0" anchor="ctr"/>
          <a:lstStyle/>
          <a:p>
            <a:pPr indent="0" marL="0">
              <a:buNone/>
            </a:pPr>
            <a:r>
              <a:rPr lang="en-US" sz="1400" i="1" dirty="0">
                <a:solidFill>
                  <a:srgbClr val="3C4043"/>
                </a:solidFill>
                <a:latin typeface="Arial" pitchFamily="34" charset="0"/>
                <a:ea typeface="Arial" pitchFamily="34" charset="-122"/>
                <a:cs typeface="Arial" pitchFamily="34" charset="-120"/>
              </a:rPr>
              <a:t>Does the undercut pay off? The causal effect of pit timing in Formula 1, 2022 to 2025.</a:t>
            </a:r>
            <a:endParaRPr lang="en-US" sz="1400" dirty="0"/>
          </a:p>
        </p:txBody>
      </p:sp>
      <p:sp>
        <p:nvSpPr>
          <p:cNvPr id="8" name="Text 5"/>
          <p:cNvSpPr/>
          <p:nvPr/>
        </p:nvSpPr>
        <p:spPr>
          <a:xfrm>
            <a:off x="548640" y="3977640"/>
            <a:ext cx="5029200" cy="548640"/>
          </a:xfrm>
          <a:prstGeom prst="rect">
            <a:avLst/>
          </a:prstGeom>
          <a:noFill/>
          <a:ln/>
        </p:spPr>
        <p:txBody>
          <a:bodyPr wrap="square" lIns="0" tIns="0" rIns="0" bIns="0" rtlCol="0" anchor="ctr"/>
          <a:lstStyle/>
          <a:p>
            <a:pPr indent="0" marL="0">
              <a:buNone/>
            </a:pPr>
            <a:r>
              <a:rPr lang="en-US" sz="1300" b="1" dirty="0">
                <a:solidFill>
                  <a:srgbClr val="4C7A00"/>
                </a:solidFill>
                <a:latin typeface="Arial" pitchFamily="34" charset="0"/>
                <a:ea typeface="Arial" pitchFamily="34" charset="-122"/>
                <a:cs typeface="Arial" pitchFamily="34" charset="-120"/>
              </a:rPr>
              <a:t>The short answer:  </a:t>
            </a:r>
            <a:pPr indent="0" marL="0">
              <a:buNone/>
            </a:pPr>
            <a:r>
              <a:rPr lang="en-US" sz="1300" dirty="0">
                <a:solidFill>
                  <a:srgbClr val="3C4043"/>
                </a:solidFill>
                <a:latin typeface="Arial" pitchFamily="34" charset="0"/>
                <a:ea typeface="Arial" pitchFamily="34" charset="-122"/>
                <a:cs typeface="Arial" pitchFamily="34" charset="-120"/>
              </a:rPr>
              <a:t>the undercut does not pay. An early stop costs roughly one finishing position.</a:t>
            </a:r>
            <a:endParaRPr lang="en-US" sz="1300" dirty="0"/>
          </a:p>
        </p:txBody>
      </p:sp>
      <p:sp>
        <p:nvSpPr>
          <p:cNvPr id="9" name="Text 6"/>
          <p:cNvSpPr/>
          <p:nvPr/>
        </p:nvSpPr>
        <p:spPr>
          <a:xfrm>
            <a:off x="548640" y="4617720"/>
            <a:ext cx="3657600" cy="274320"/>
          </a:xfrm>
          <a:prstGeom prst="rect">
            <a:avLst/>
          </a:prstGeom>
          <a:noFill/>
          <a:ln/>
        </p:spPr>
        <p:txBody>
          <a:bodyPr wrap="square" lIns="0" tIns="0" rIns="0" bIns="0" rtlCol="0" anchor="ctr"/>
          <a:lstStyle/>
          <a:p>
            <a:pPr indent="0" marL="0">
              <a:buNone/>
            </a:pPr>
            <a:r>
              <a:rPr lang="en-US" sz="1200" b="1" dirty="0">
                <a:solidFill>
                  <a:srgbClr val="8A8F8C"/>
                </a:solidFill>
                <a:latin typeface="Arial" pitchFamily="34" charset="0"/>
                <a:ea typeface="Arial" pitchFamily="34" charset="-122"/>
                <a:cs typeface="Arial" pitchFamily="34" charset="-120"/>
              </a:rPr>
              <a:t>Group K</a:t>
            </a:r>
            <a:endParaRPr lang="en-US" sz="1200" dirty="0"/>
          </a:p>
        </p:txBody>
      </p:sp>
      <p:pic>
        <p:nvPicPr>
          <p:cNvPr id="10" name="Image 1" descr="icons/f1car_green.png">    </p:cNvPr>
          <p:cNvPicPr>
            <a:picLocks noChangeAspect="1"/>
          </p:cNvPicPr>
          <p:nvPr/>
        </p:nvPicPr>
        <p:blipFill>
          <a:blip r:embed="rId2"/>
          <a:stretch>
            <a:fillRect/>
          </a:stretch>
        </p:blipFill>
        <p:spPr>
          <a:xfrm>
            <a:off x="5440680" y="2331720"/>
            <a:ext cx="3108960" cy="3108960"/>
          </a:xfrm>
          <a:prstGeom prst="rect">
            <a:avLst/>
          </a:prstGeom>
        </p:spPr>
      </p:pic>
      <p:pic>
        <p:nvPicPr>
          <p:cNvPr id="11" name="Image 2" descr="icons/flag_dark.png">    </p:cNvPr>
          <p:cNvPicPr>
            <a:picLocks noChangeAspect="1"/>
          </p:cNvPicPr>
          <p:nvPr/>
        </p:nvPicPr>
        <p:blipFill>
          <a:blip r:embed="rId3"/>
          <a:stretch>
            <a:fillRect/>
          </a:stretch>
        </p:blipFill>
        <p:spPr>
          <a:xfrm>
            <a:off x="7818120" y="1051560"/>
            <a:ext cx="868680" cy="8686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01</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INTRODUCTION</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The question, the data, and why the answer is not obvious.</a:t>
            </a:r>
            <a:endParaRPr lang="en-US" sz="1500" dirty="0"/>
          </a:p>
        </p:txBody>
      </p:sp>
      <p:pic>
        <p:nvPicPr>
          <p:cNvPr id="8" name="Image 1" descr="icons/stopwatch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THE QUESTION</a:t>
            </a:r>
            <a:endParaRPr lang="en-US" sz="2600" dirty="0"/>
          </a:p>
        </p:txBody>
      </p:sp>
      <p:sp>
        <p:nvSpPr>
          <p:cNvPr id="7" name="Text 4"/>
          <p:cNvSpPr/>
          <p:nvPr/>
        </p:nvSpPr>
        <p:spPr>
          <a:xfrm>
            <a:off x="548640" y="1645920"/>
            <a:ext cx="7772400" cy="457200"/>
          </a:xfrm>
          <a:prstGeom prst="rect">
            <a:avLst/>
          </a:prstGeom>
          <a:noFill/>
          <a:ln/>
        </p:spPr>
        <p:txBody>
          <a:bodyPr wrap="square" lIns="0" tIns="0" rIns="0" bIns="0" rtlCol="0" anchor="ctr"/>
          <a:lstStyle/>
          <a:p>
            <a:pPr indent="0" marL="0">
              <a:buNone/>
            </a:pPr>
            <a:r>
              <a:rPr lang="en-US" sz="1500" b="1" dirty="0">
                <a:solidFill>
                  <a:srgbClr val="4C7A00"/>
                </a:solidFill>
                <a:latin typeface="Arial" pitchFamily="34" charset="0"/>
                <a:ea typeface="Arial" pitchFamily="34" charset="-122"/>
                <a:cs typeface="Arial" pitchFamily="34" charset="-120"/>
              </a:rPr>
              <a:t>Umbrella question.  </a:t>
            </a:r>
            <a:pPr indent="0" marL="0">
              <a:buNone/>
            </a:pPr>
            <a:r>
              <a:rPr lang="en-US" sz="1500" dirty="0">
                <a:solidFill>
                  <a:srgbClr val="3C4043"/>
                </a:solidFill>
                <a:latin typeface="Arial" pitchFamily="34" charset="0"/>
                <a:ea typeface="Arial" pitchFamily="34" charset="-122"/>
                <a:cs typeface="Arial" pitchFamily="34" charset="-120"/>
              </a:rPr>
              <a:t>How does pit stop strategy shape race performance?</a:t>
            </a:r>
            <a:endParaRPr lang="en-US" sz="1500" dirty="0"/>
          </a:p>
        </p:txBody>
      </p:sp>
      <p:sp>
        <p:nvSpPr>
          <p:cNvPr id="8" name="Text 5"/>
          <p:cNvSpPr/>
          <p:nvPr/>
        </p:nvSpPr>
        <p:spPr>
          <a:xfrm>
            <a:off x="548640" y="2286000"/>
            <a:ext cx="7772400" cy="1005840"/>
          </a:xfrm>
          <a:prstGeom prst="rect">
            <a:avLst/>
          </a:prstGeom>
          <a:noFill/>
          <a:ln/>
        </p:spPr>
        <p:txBody>
          <a:bodyPr wrap="square" lIns="0" tIns="0" rIns="0" bIns="0" rtlCol="0" anchor="ctr"/>
          <a:lstStyle/>
          <a:p>
            <a:pPr indent="0" marL="0">
              <a:buNone/>
            </a:pPr>
            <a:r>
              <a:rPr lang="en-US" sz="1500" b="1" dirty="0">
                <a:solidFill>
                  <a:srgbClr val="4C7A00"/>
                </a:solidFill>
                <a:latin typeface="Arial" pitchFamily="34" charset="0"/>
                <a:ea typeface="Arial" pitchFamily="34" charset="-122"/>
                <a:cs typeface="Arial" pitchFamily="34" charset="-120"/>
              </a:rPr>
              <a:t>Causal core.  </a:t>
            </a:r>
            <a:pPr indent="0" marL="0">
              <a:buNone/>
            </a:pPr>
            <a:r>
              <a:rPr lang="en-US" sz="1500" dirty="0">
                <a:solidFill>
                  <a:srgbClr val="3C4043"/>
                </a:solidFill>
                <a:latin typeface="Arial" pitchFamily="34" charset="0"/>
                <a:ea typeface="Arial" pitchFamily="34" charset="-122"/>
                <a:cs typeface="Arial" pitchFamily="34" charset="-120"/>
              </a:rPr>
              <a:t>Does pitting early, before about 40% of the race, actually improve a driver's net positions gained versus the grid, once car quality, grid slot and track conditions are held fixed?</a:t>
            </a:r>
            <a:endParaRPr lang="en-US" sz="1500" dirty="0"/>
          </a:p>
        </p:txBody>
      </p:sp>
      <p:sp>
        <p:nvSpPr>
          <p:cNvPr id="9" name="Text 6"/>
          <p:cNvSpPr/>
          <p:nvPr/>
        </p:nvSpPr>
        <p:spPr>
          <a:xfrm>
            <a:off x="548640" y="3474720"/>
            <a:ext cx="7772400" cy="914400"/>
          </a:xfrm>
          <a:prstGeom prst="rect">
            <a:avLst/>
          </a:prstGeom>
          <a:noFill/>
          <a:ln/>
        </p:spPr>
        <p:txBody>
          <a:bodyPr wrap="square" lIns="0" tIns="0" rIns="0" bIns="0" rtlCol="0" anchor="ctr"/>
          <a:lstStyle/>
          <a:p>
            <a:pPr indent="0" marL="0">
              <a:buNone/>
            </a:pPr>
            <a:r>
              <a:rPr lang="en-US" sz="1500" b="1" dirty="0">
                <a:solidFill>
                  <a:srgbClr val="4C7A00"/>
                </a:solidFill>
                <a:latin typeface="Arial" pitchFamily="34" charset="0"/>
                <a:ea typeface="Arial" pitchFamily="34" charset="-122"/>
                <a:cs typeface="Arial" pitchFamily="34" charset="-120"/>
              </a:rPr>
              <a:t>The catch.  </a:t>
            </a:r>
            <a:pPr indent="0" marL="0">
              <a:buNone/>
            </a:pPr>
            <a:r>
              <a:rPr lang="en-US" sz="1500" dirty="0">
                <a:solidFill>
                  <a:srgbClr val="3C4043"/>
                </a:solidFill>
                <a:latin typeface="Arial" pitchFamily="34" charset="0"/>
                <a:ea typeface="Arial" pitchFamily="34" charset="-122"/>
                <a:cs typeface="Arial" pitchFamily="34" charset="-120"/>
              </a:rPr>
              <a:t>Quick cars and slow cars pit at different times and finish differently, so a raw comparison confuses the strategy with the car. Pulling those two apart is the whole project.</a:t>
            </a:r>
            <a:endParaRPr lang="en-US" sz="1500" dirty="0"/>
          </a:p>
        </p:txBody>
      </p:sp>
      <p:pic>
        <p:nvPicPr>
          <p:cNvPr id="10" name="Image 1" descr="icons/stopwatch_green.png">    </p:cNvPr>
          <p:cNvPicPr>
            <a:picLocks noChangeAspect="1"/>
          </p:cNvPicPr>
          <p:nvPr/>
        </p:nvPicPr>
        <p:blipFill>
          <a:blip r:embed="rId2"/>
          <a:stretch>
            <a:fillRect/>
          </a:stretch>
        </p:blipFill>
        <p:spPr>
          <a:xfrm>
            <a:off x="7726680" y="548640"/>
            <a:ext cx="777240" cy="7772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THE DATA</a:t>
            </a:r>
            <a:endParaRPr lang="en-US" sz="2600" dirty="0"/>
          </a:p>
        </p:txBody>
      </p:sp>
      <p:sp>
        <p:nvSpPr>
          <p:cNvPr id="7" name="Text 4"/>
          <p:cNvSpPr/>
          <p:nvPr/>
        </p:nvSpPr>
        <p:spPr>
          <a:xfrm>
            <a:off x="548640" y="1600200"/>
            <a:ext cx="7863840" cy="640080"/>
          </a:xfrm>
          <a:prstGeom prst="rect">
            <a:avLst/>
          </a:prstGeom>
          <a:noFill/>
          <a:ln/>
        </p:spPr>
        <p:txBody>
          <a:bodyPr wrap="square" lIns="0" tIns="0" rIns="0" bIns="0" rtlCol="0" anchor="ctr"/>
          <a:lstStyle/>
          <a:p>
            <a:pPr indent="0" marL="0">
              <a:buNone/>
            </a:pPr>
            <a:r>
              <a:rPr lang="en-US" sz="1450" b="1" dirty="0">
                <a:solidFill>
                  <a:srgbClr val="4C7A00"/>
                </a:solidFill>
                <a:latin typeface="Arial" pitchFamily="34" charset="0"/>
                <a:ea typeface="Arial" pitchFamily="34" charset="-122"/>
                <a:cs typeface="Arial" pitchFamily="34" charset="-120"/>
              </a:rPr>
              <a:t>Dataset.  </a:t>
            </a:r>
            <a:pPr indent="0" marL="0">
              <a:buNone/>
            </a:pPr>
            <a:r>
              <a:rPr lang="en-US" sz="1450" dirty="0">
                <a:solidFill>
                  <a:srgbClr val="3C4043"/>
                </a:solidFill>
                <a:latin typeface="Arial" pitchFamily="34" charset="0"/>
                <a:ea typeface="Arial" pitchFamily="34" charset="-122"/>
                <a:cs typeface="Arial" pitchFamily="34" charset="-120"/>
              </a:rPr>
              <a:t>96,336 laps from the 2022 to 2025 seasons, enriched with OpenF1 weather and stint data.</a:t>
            </a:r>
            <a:endParaRPr lang="en-US" sz="1450" dirty="0"/>
          </a:p>
        </p:txBody>
      </p:sp>
      <p:sp>
        <p:nvSpPr>
          <p:cNvPr id="8" name="Text 5"/>
          <p:cNvSpPr/>
          <p:nvPr/>
        </p:nvSpPr>
        <p:spPr>
          <a:xfrm>
            <a:off x="548640" y="2331720"/>
            <a:ext cx="7863840" cy="640080"/>
          </a:xfrm>
          <a:prstGeom prst="rect">
            <a:avLst/>
          </a:prstGeom>
          <a:noFill/>
          <a:ln/>
        </p:spPr>
        <p:txBody>
          <a:bodyPr wrap="square" lIns="0" tIns="0" rIns="0" bIns="0" rtlCol="0" anchor="ctr"/>
          <a:lstStyle/>
          <a:p>
            <a:pPr indent="0" marL="0">
              <a:buNone/>
            </a:pPr>
            <a:r>
              <a:rPr lang="en-US" sz="1450" b="1" dirty="0">
                <a:solidFill>
                  <a:srgbClr val="4C7A00"/>
                </a:solidFill>
                <a:latin typeface="Arial" pitchFamily="34" charset="0"/>
                <a:ea typeface="Arial" pitchFamily="34" charset="-122"/>
                <a:cs typeface="Arial" pitchFamily="34" charset="-120"/>
              </a:rPr>
              <a:t>Scale.  </a:t>
            </a:r>
            <a:pPr indent="0" marL="0">
              <a:buNone/>
            </a:pPr>
            <a:r>
              <a:rPr lang="en-US" sz="1450" dirty="0">
                <a:solidFill>
                  <a:srgbClr val="3C4043"/>
                </a:solidFill>
                <a:latin typeface="Arial" pitchFamily="34" charset="0"/>
                <a:ea typeface="Arial" pitchFamily="34" charset="-122"/>
                <a:cs typeface="Arial" pitchFamily="34" charset="-120"/>
              </a:rPr>
              <a:t>25 circuits, 31 drivers, about 660 driver races for the causal work and 3,436 stints for the clustering.</a:t>
            </a:r>
            <a:endParaRPr lang="en-US" sz="1450" dirty="0"/>
          </a:p>
        </p:txBody>
      </p:sp>
      <p:sp>
        <p:nvSpPr>
          <p:cNvPr id="9" name="Text 6"/>
          <p:cNvSpPr/>
          <p:nvPr/>
        </p:nvSpPr>
        <p:spPr>
          <a:xfrm>
            <a:off x="548640" y="3200400"/>
            <a:ext cx="7863840" cy="640080"/>
          </a:xfrm>
          <a:prstGeom prst="rect">
            <a:avLst/>
          </a:prstGeom>
          <a:noFill/>
          <a:ln/>
        </p:spPr>
        <p:txBody>
          <a:bodyPr wrap="square" lIns="0" tIns="0" rIns="0" bIns="0" rtlCol="0" anchor="ctr"/>
          <a:lstStyle/>
          <a:p>
            <a:pPr indent="0" marL="0">
              <a:buNone/>
            </a:pPr>
            <a:r>
              <a:rPr lang="en-US" sz="1450" b="1" dirty="0">
                <a:solidFill>
                  <a:srgbClr val="4C7A00"/>
                </a:solidFill>
                <a:latin typeface="Arial" pitchFamily="34" charset="0"/>
                <a:ea typeface="Arial" pitchFamily="34" charset="-122"/>
                <a:cs typeface="Arial" pitchFamily="34" charset="-120"/>
              </a:rPr>
              <a:t>Unit.  </a:t>
            </a:r>
            <a:pPr indent="0" marL="0">
              <a:buNone/>
            </a:pPr>
            <a:r>
              <a:rPr lang="en-US" sz="1450" dirty="0">
                <a:solidFill>
                  <a:srgbClr val="3C4043"/>
                </a:solidFill>
                <a:latin typeface="Arial" pitchFamily="34" charset="0"/>
                <a:ea typeface="Arial" pitchFamily="34" charset="-122"/>
                <a:cs typeface="Arial" pitchFamily="34" charset="-120"/>
              </a:rPr>
              <a:t>One lap, re-aggregated to driver and race, or to stint, depending on the question.</a:t>
            </a:r>
            <a:endParaRPr lang="en-US" sz="1450" dirty="0"/>
          </a:p>
        </p:txBody>
      </p:sp>
      <p:sp>
        <p:nvSpPr>
          <p:cNvPr id="10" name="Text 7"/>
          <p:cNvSpPr/>
          <p:nvPr/>
        </p:nvSpPr>
        <p:spPr>
          <a:xfrm>
            <a:off x="548640" y="3840480"/>
            <a:ext cx="7863840" cy="640080"/>
          </a:xfrm>
          <a:prstGeom prst="rect">
            <a:avLst/>
          </a:prstGeom>
          <a:noFill/>
          <a:ln/>
        </p:spPr>
        <p:txBody>
          <a:bodyPr wrap="square" lIns="0" tIns="0" rIns="0" bIns="0" rtlCol="0" anchor="ctr"/>
          <a:lstStyle/>
          <a:p>
            <a:pPr indent="0" marL="0">
              <a:buNone/>
            </a:pPr>
            <a:r>
              <a:rPr lang="en-US" sz="1450" b="1" dirty="0">
                <a:solidFill>
                  <a:srgbClr val="4C7A00"/>
                </a:solidFill>
                <a:latin typeface="Arial" pitchFamily="34" charset="0"/>
                <a:ea typeface="Arial" pitchFamily="34" charset="-122"/>
                <a:cs typeface="Arial" pitchFamily="34" charset="-120"/>
              </a:rPr>
              <a:t>Three angles.  </a:t>
            </a:r>
            <a:pPr indent="0" marL="0">
              <a:buNone/>
            </a:pPr>
            <a:r>
              <a:rPr lang="en-US" sz="1450" dirty="0">
                <a:solidFill>
                  <a:srgbClr val="3C4043"/>
                </a:solidFill>
                <a:latin typeface="Arial" pitchFamily="34" charset="0"/>
                <a:ea typeface="Arial" pitchFamily="34" charset="-122"/>
                <a:cs typeface="Arial" pitchFamily="34" charset="-120"/>
              </a:rPr>
              <a:t>A causal block (DoWhy, fixed effects, Double Machine Learning), a supervised block (regression and classification against a grid only baseline), and an unsupervised, generative block (K-Means, PCA and a Gaussian mixture).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02</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CAUSAL INFERENCE</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The heart of the project: does early pitting cause a better result?</a:t>
            </a:r>
            <a:endParaRPr lang="en-US" sz="1500" dirty="0"/>
          </a:p>
        </p:txBody>
      </p:sp>
      <p:pic>
        <p:nvPicPr>
          <p:cNvPr id="8" name="Image 1" descr="icons/f1car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WHY THIS NEEDS CAUSAL INFERENCE</a:t>
            </a:r>
            <a:endParaRPr lang="en-US" sz="2600" dirty="0"/>
          </a:p>
        </p:txBody>
      </p:sp>
      <p:sp>
        <p:nvSpPr>
          <p:cNvPr id="7" name="Text 4"/>
          <p:cNvSpPr/>
          <p:nvPr/>
        </p:nvSpPr>
        <p:spPr>
          <a:xfrm>
            <a:off x="548640" y="1417320"/>
            <a:ext cx="8046720" cy="1143000"/>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Car quality is a confounder. </a:t>
            </a:r>
            <a:pPr indent="0" marL="0">
              <a:buNone/>
            </a:pPr>
            <a:r>
              <a:rPr lang="en-US" sz="1350" dirty="0">
                <a:solidFill>
                  <a:srgbClr val="3C4043"/>
                </a:solidFill>
                <a:latin typeface="Arial" pitchFamily="34" charset="0"/>
                <a:ea typeface="Arial" pitchFamily="34" charset="-122"/>
                <a:cs typeface="Arial" pitchFamily="34" charset="-120"/>
              </a:rPr>
              <a:t>It changes both when a team pits and how the race ends.</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a:t>
            </a:r>
            <a:endParaRPr lang="en-US" sz="1350" dirty="0"/>
          </a:p>
          <a:p>
            <a:pPr indent="0" marL="0">
              <a:buNone/>
            </a:pPr>
            <a:r>
              <a:rPr lang="en-US" sz="1350" dirty="0">
                <a:solidFill>
                  <a:srgbClr val="3C4043"/>
                </a:solidFill>
                <a:latin typeface="Arial" pitchFamily="34" charset="0"/>
                <a:ea typeface="Arial" pitchFamily="34" charset="-122"/>
                <a:cs typeface="Arial" pitchFamily="34" charset="-120"/>
              </a:rPr>
              <a:t>Left: the early stop rate rises for weaker cars. Right: positions gained shift with tier too. Because car quality moves both, a plain early versus late comparison is biased, so every method that follows is built to close that path.</a:t>
            </a:r>
            <a:endParaRPr lang="en-US" sz="1350" dirty="0"/>
          </a:p>
        </p:txBody>
      </p:sp>
      <p:pic>
        <p:nvPicPr>
          <p:cNvPr id="8" name="Image 1" descr="D:/DAI/f1/dai-mission-group-k/eda_confounding.png">    </p:cNvPr>
          <p:cNvPicPr>
            <a:picLocks noChangeAspect="1"/>
          </p:cNvPicPr>
          <p:nvPr/>
        </p:nvPicPr>
        <p:blipFill>
          <a:blip r:embed="rId2"/>
          <a:stretch>
            <a:fillRect/>
          </a:stretch>
        </p:blipFill>
        <p:spPr>
          <a:xfrm>
            <a:off x="1110767" y="2651760"/>
            <a:ext cx="6922465" cy="2240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FROM A DIAGRAM TO A FAIR COMPARISON</a:t>
            </a:r>
            <a:endParaRPr lang="en-US" sz="2600" dirty="0"/>
          </a:p>
        </p:txBody>
      </p:sp>
      <p:sp>
        <p:nvSpPr>
          <p:cNvPr id="7" name="Text 4"/>
          <p:cNvSpPr/>
          <p:nvPr/>
        </p:nvSpPr>
        <p:spPr>
          <a:xfrm>
            <a:off x="548640" y="1508760"/>
            <a:ext cx="4572000" cy="3108960"/>
          </a:xfrm>
          <a:prstGeom prst="rect">
            <a:avLst/>
          </a:prstGeom>
          <a:noFill/>
          <a:ln/>
        </p:spPr>
        <p:txBody>
          <a:bodyPr wrap="square" lIns="0" tIns="0" rIns="0" bIns="0" rtlCol="0" anchor="ctr"/>
          <a:lstStyle/>
          <a:p>
            <a:pPr indent="0" marL="0">
              <a:buNone/>
            </a:pPr>
            <a:r>
              <a:rPr lang="en-US" sz="1400" b="1" dirty="0">
                <a:solidFill>
                  <a:srgbClr val="4C7A00"/>
                </a:solidFill>
                <a:latin typeface="Arial" pitchFamily="34" charset="0"/>
                <a:ea typeface="Arial" pitchFamily="34" charset="-122"/>
                <a:cs typeface="Arial" pitchFamily="34" charset="-120"/>
              </a:rPr>
              <a:t>Backdoor set.  </a:t>
            </a:r>
            <a:pPr indent="0" marL="0">
              <a:buNone/>
            </a:pPr>
            <a:r>
              <a:rPr lang="en-US" sz="1400" dirty="0">
                <a:solidFill>
                  <a:srgbClr val="3C4043"/>
                </a:solidFill>
                <a:latin typeface="Arial" pitchFamily="34" charset="0"/>
                <a:ea typeface="Arial" pitchFamily="34" charset="-122"/>
                <a:cs typeface="Arial" pitchFamily="34" charset="-120"/>
              </a:rPr>
              <a:t>Car tier, grid slot, track temperature and rainfall, all observed.</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4C7A00"/>
                </a:solidFill>
                <a:latin typeface="Arial" pitchFamily="34" charset="0"/>
                <a:ea typeface="Arial" pitchFamily="34" charset="-122"/>
                <a:cs typeface="Arial" pitchFamily="34" charset="-120"/>
              </a:rPr>
              <a:t>Standard to strict.  </a:t>
            </a:r>
            <a:pPr indent="0" marL="0">
              <a:buNone/>
            </a:pPr>
            <a:r>
              <a:rPr lang="en-US" sz="1400" dirty="0">
                <a:solidFill>
                  <a:srgbClr val="3C4043"/>
                </a:solidFill>
                <a:latin typeface="Arial" pitchFamily="34" charset="0"/>
                <a:ea typeface="Arial" pitchFamily="34" charset="-122"/>
                <a:cs typeface="Arial" pitchFamily="34" charset="-120"/>
              </a:rPr>
              <a:t>We build up from a backdoor adjustment in DoWhy, to two way fixed effects, to Double Machine Learning.</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4C7A00"/>
                </a:solidFill>
                <a:latin typeface="Arial" pitchFamily="34" charset="0"/>
                <a:ea typeface="Arial" pitchFamily="34" charset="-122"/>
                <a:cs typeface="Arial" pitchFamily="34" charset="-120"/>
              </a:rPr>
              <a:t>Why fixed effects.  </a:t>
            </a:r>
            <a:pPr indent="0" marL="0">
              <a:buNone/>
            </a:pPr>
            <a:r>
              <a:rPr lang="en-US" sz="1400" dirty="0">
                <a:solidFill>
                  <a:srgbClr val="3C4043"/>
                </a:solidFill>
                <a:latin typeface="Arial" pitchFamily="34" charset="0"/>
                <a:ea typeface="Arial" pitchFamily="34" charset="-122"/>
                <a:cs typeface="Arial" pitchFamily="34" charset="-120"/>
              </a:rPr>
              <a:t>A race fixed effect only compares early and late stoppers inside the same race. That cancels weather, safety cars and anything else specific to the race, even things we never measured. About 70% of races have both kinds of stop, so the comparison is feasible.</a:t>
            </a:r>
            <a:endParaRPr lang="en-US" sz="1400" dirty="0"/>
          </a:p>
        </p:txBody>
      </p:sp>
      <p:pic>
        <p:nvPicPr>
          <p:cNvPr id="8" name="Image 1" descr="D:/DAI/f1/dai-mission-group-k/causal_model.png">    </p:cNvPr>
          <p:cNvPicPr>
            <a:picLocks noChangeAspect="1"/>
          </p:cNvPicPr>
          <p:nvPr/>
        </p:nvPicPr>
        <p:blipFill>
          <a:blip r:embed="rId2"/>
          <a:stretch>
            <a:fillRect/>
          </a:stretch>
        </p:blipFill>
        <p:spPr>
          <a:xfrm>
            <a:off x="5257800" y="1839930"/>
            <a:ext cx="3200400" cy="24009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THE HEADLINE: EARLY STOPS COST POSITIONS</a:t>
            </a:r>
            <a:endParaRPr lang="en-US" sz="2600" dirty="0"/>
          </a:p>
        </p:txBody>
      </p:sp>
      <p:sp>
        <p:nvSpPr>
          <p:cNvPr id="7" name="Text 4"/>
          <p:cNvSpPr/>
          <p:nvPr/>
        </p:nvSpPr>
        <p:spPr>
          <a:xfrm>
            <a:off x="548640" y="1417320"/>
            <a:ext cx="8046720" cy="731520"/>
          </a:xfrm>
          <a:prstGeom prst="rect">
            <a:avLst/>
          </a:prstGeom>
          <a:noFill/>
          <a:ln/>
        </p:spPr>
        <p:txBody>
          <a:bodyPr wrap="square" lIns="0" tIns="0" rIns="0" bIns="0" rtlCol="0" anchor="ctr"/>
          <a:lstStyle/>
          <a:p>
            <a:pPr indent="0" marL="0">
              <a:buNone/>
            </a:pPr>
            <a:r>
              <a:rPr lang="en-US" sz="1400" dirty="0">
                <a:solidFill>
                  <a:srgbClr val="3C4043"/>
                </a:solidFill>
                <a:latin typeface="Arial" pitchFamily="34" charset="0"/>
                <a:ea typeface="Arial" pitchFamily="34" charset="-122"/>
                <a:cs typeface="Arial" pitchFamily="34" charset="-120"/>
              </a:rPr>
              <a:t>Three different methods, one conclusion. Pitting early costs roughly 0.7 to 1.0 finishing positions. A negative number means early stoppers gain fewer places than late stoppers under the same conditions.</a:t>
            </a:r>
            <a:endParaRPr lang="en-US" sz="1400" dirty="0"/>
          </a:p>
        </p:txBody>
      </p:sp>
      <p:sp>
        <p:nvSpPr>
          <p:cNvPr id="8" name="Shape 5"/>
          <p:cNvSpPr/>
          <p:nvPr/>
        </p:nvSpPr>
        <p:spPr>
          <a:xfrm>
            <a:off x="640080" y="2514600"/>
            <a:ext cx="2487168" cy="1783080"/>
          </a:xfrm>
          <a:prstGeom prst="roundRect">
            <a:avLst>
              <a:gd name="adj" fmla="val 4103"/>
            </a:avLst>
          </a:prstGeom>
          <a:solidFill>
            <a:srgbClr val="F1F6E4"/>
          </a:solidFill>
          <a:ln w="12700">
            <a:solidFill>
              <a:srgbClr val="DCE0D6"/>
            </a:solidFill>
            <a:prstDash val="solid"/>
          </a:ln>
        </p:spPr>
      </p:sp>
      <p:sp>
        <p:nvSpPr>
          <p:cNvPr id="9" name="Text 6"/>
          <p:cNvSpPr/>
          <p:nvPr/>
        </p:nvSpPr>
        <p:spPr>
          <a:xfrm>
            <a:off x="731520" y="2651760"/>
            <a:ext cx="2304288" cy="868680"/>
          </a:xfrm>
          <a:prstGeom prst="rect">
            <a:avLst/>
          </a:prstGeom>
          <a:noFill/>
          <a:ln/>
        </p:spPr>
        <p:txBody>
          <a:bodyPr wrap="square" lIns="0" tIns="0" rIns="0" bIns="0" rtlCol="0" anchor="ctr"/>
          <a:lstStyle/>
          <a:p>
            <a:pPr algn="ctr" indent="0" marL="0">
              <a:buNone/>
            </a:pPr>
            <a:r>
              <a:rPr lang="en-US" sz="4400" dirty="0">
                <a:solidFill>
                  <a:srgbClr val="4C7A00"/>
                </a:solidFill>
                <a:latin typeface="Arial Black" pitchFamily="34" charset="0"/>
                <a:ea typeface="Arial Black" pitchFamily="34" charset="-122"/>
                <a:cs typeface="Arial Black" pitchFamily="34" charset="-120"/>
              </a:rPr>
              <a:t>−0.97</a:t>
            </a:r>
            <a:endParaRPr lang="en-US" sz="4400" dirty="0"/>
          </a:p>
        </p:txBody>
      </p:sp>
      <p:sp>
        <p:nvSpPr>
          <p:cNvPr id="10" name="Text 7"/>
          <p:cNvSpPr/>
          <p:nvPr/>
        </p:nvSpPr>
        <p:spPr>
          <a:xfrm>
            <a:off x="749808" y="3520440"/>
            <a:ext cx="2267712" cy="713232"/>
          </a:xfrm>
          <a:prstGeom prst="rect">
            <a:avLst/>
          </a:prstGeom>
          <a:noFill/>
          <a:ln/>
        </p:spPr>
        <p:txBody>
          <a:bodyPr wrap="square" lIns="0" tIns="0" rIns="0" bIns="0" rtlCol="0" anchor="ctr"/>
          <a:lstStyle/>
          <a:p>
            <a:pPr algn="ctr" indent="0" marL="0">
              <a:buNone/>
            </a:pPr>
            <a:r>
              <a:rPr lang="en-US" sz="1100" b="1" dirty="0">
                <a:solidFill>
                  <a:srgbClr val="36393B"/>
                </a:solidFill>
                <a:latin typeface="Arial" pitchFamily="34" charset="0"/>
                <a:ea typeface="Arial" pitchFamily="34" charset="-122"/>
                <a:cs typeface="Arial" pitchFamily="34" charset="-120"/>
              </a:rPr>
              <a:t>Two way fixed effects
</a:t>
            </a:r>
            <a:endParaRPr lang="en-US" sz="1100" dirty="0"/>
          </a:p>
          <a:p>
            <a:pPr algn="ctr" indent="0" marL="0">
              <a:buNone/>
            </a:pPr>
            <a:r>
              <a:rPr lang="en-US" sz="1100" dirty="0">
                <a:solidFill>
                  <a:srgbClr val="8A8F8C"/>
                </a:solidFill>
                <a:latin typeface="Arial" pitchFamily="34" charset="0"/>
                <a:ea typeface="Arial" pitchFamily="34" charset="-122"/>
                <a:cs typeface="Arial" pitchFamily="34" charset="-120"/>
              </a:rPr>
              <a:t>race + constructor,  p = 0.039</a:t>
            </a:r>
            <a:endParaRPr lang="en-US" sz="1100" dirty="0"/>
          </a:p>
        </p:txBody>
      </p:sp>
      <p:sp>
        <p:nvSpPr>
          <p:cNvPr id="11" name="Shape 8"/>
          <p:cNvSpPr/>
          <p:nvPr/>
        </p:nvSpPr>
        <p:spPr>
          <a:xfrm>
            <a:off x="3236976" y="2514600"/>
            <a:ext cx="2487168" cy="1783080"/>
          </a:xfrm>
          <a:prstGeom prst="roundRect">
            <a:avLst>
              <a:gd name="adj" fmla="val 4103"/>
            </a:avLst>
          </a:prstGeom>
          <a:solidFill>
            <a:srgbClr val="F1F6E4"/>
          </a:solidFill>
          <a:ln w="12700">
            <a:solidFill>
              <a:srgbClr val="DCE0D6"/>
            </a:solidFill>
            <a:prstDash val="solid"/>
          </a:ln>
        </p:spPr>
      </p:sp>
      <p:sp>
        <p:nvSpPr>
          <p:cNvPr id="12" name="Text 9"/>
          <p:cNvSpPr/>
          <p:nvPr/>
        </p:nvSpPr>
        <p:spPr>
          <a:xfrm>
            <a:off x="3328416" y="2651760"/>
            <a:ext cx="2304288" cy="868680"/>
          </a:xfrm>
          <a:prstGeom prst="rect">
            <a:avLst/>
          </a:prstGeom>
          <a:noFill/>
          <a:ln/>
        </p:spPr>
        <p:txBody>
          <a:bodyPr wrap="square" lIns="0" tIns="0" rIns="0" bIns="0" rtlCol="0" anchor="ctr"/>
          <a:lstStyle/>
          <a:p>
            <a:pPr algn="ctr" indent="0" marL="0">
              <a:buNone/>
            </a:pPr>
            <a:r>
              <a:rPr lang="en-US" sz="4400" dirty="0">
                <a:solidFill>
                  <a:srgbClr val="4C7A00"/>
                </a:solidFill>
                <a:latin typeface="Arial Black" pitchFamily="34" charset="0"/>
                <a:ea typeface="Arial Black" pitchFamily="34" charset="-122"/>
                <a:cs typeface="Arial Black" pitchFamily="34" charset="-120"/>
              </a:rPr>
              <a:t>−0.74</a:t>
            </a:r>
            <a:endParaRPr lang="en-US" sz="4400" dirty="0"/>
          </a:p>
        </p:txBody>
      </p:sp>
      <p:sp>
        <p:nvSpPr>
          <p:cNvPr id="13" name="Text 10"/>
          <p:cNvSpPr/>
          <p:nvPr/>
        </p:nvSpPr>
        <p:spPr>
          <a:xfrm>
            <a:off x="3346704" y="3520440"/>
            <a:ext cx="2267712" cy="713232"/>
          </a:xfrm>
          <a:prstGeom prst="rect">
            <a:avLst/>
          </a:prstGeom>
          <a:noFill/>
          <a:ln/>
        </p:spPr>
        <p:txBody>
          <a:bodyPr wrap="square" lIns="0" tIns="0" rIns="0" bIns="0" rtlCol="0" anchor="ctr"/>
          <a:lstStyle/>
          <a:p>
            <a:pPr algn="ctr" indent="0" marL="0">
              <a:buNone/>
            </a:pPr>
            <a:r>
              <a:rPr lang="en-US" sz="1100" b="1" dirty="0">
                <a:solidFill>
                  <a:srgbClr val="36393B"/>
                </a:solidFill>
                <a:latin typeface="Arial" pitchFamily="34" charset="0"/>
                <a:ea typeface="Arial" pitchFamily="34" charset="-122"/>
                <a:cs typeface="Arial" pitchFamily="34" charset="-120"/>
              </a:rPr>
              <a:t>Double Machine Learning
</a:t>
            </a:r>
            <a:endParaRPr lang="en-US" sz="1100" dirty="0"/>
          </a:p>
          <a:p>
            <a:pPr algn="ctr" indent="0" marL="0">
              <a:buNone/>
            </a:pPr>
            <a:r>
              <a:rPr lang="en-US" sz="1100" dirty="0">
                <a:solidFill>
                  <a:srgbClr val="8A8F8C"/>
                </a:solidFill>
                <a:latin typeface="Arial" pitchFamily="34" charset="0"/>
                <a:ea typeface="Arial" pitchFamily="34" charset="-122"/>
                <a:cs typeface="Arial" pitchFamily="34" charset="-120"/>
              </a:rPr>
              <a:t>median of 10 seeds,  p ≈ 0.035</a:t>
            </a:r>
            <a:endParaRPr lang="en-US" sz="1100" dirty="0"/>
          </a:p>
        </p:txBody>
      </p:sp>
      <p:sp>
        <p:nvSpPr>
          <p:cNvPr id="14" name="Shape 11"/>
          <p:cNvSpPr/>
          <p:nvPr/>
        </p:nvSpPr>
        <p:spPr>
          <a:xfrm>
            <a:off x="5833872" y="2514600"/>
            <a:ext cx="2487168" cy="1783080"/>
          </a:xfrm>
          <a:prstGeom prst="roundRect">
            <a:avLst>
              <a:gd name="adj" fmla="val 4103"/>
            </a:avLst>
          </a:prstGeom>
          <a:solidFill>
            <a:srgbClr val="F1F6E4"/>
          </a:solidFill>
          <a:ln w="12700">
            <a:solidFill>
              <a:srgbClr val="DCE0D6"/>
            </a:solidFill>
            <a:prstDash val="solid"/>
          </a:ln>
        </p:spPr>
      </p:sp>
      <p:sp>
        <p:nvSpPr>
          <p:cNvPr id="15" name="Text 12"/>
          <p:cNvSpPr/>
          <p:nvPr/>
        </p:nvSpPr>
        <p:spPr>
          <a:xfrm>
            <a:off x="5925312" y="2651760"/>
            <a:ext cx="2304288" cy="868680"/>
          </a:xfrm>
          <a:prstGeom prst="rect">
            <a:avLst/>
          </a:prstGeom>
          <a:noFill/>
          <a:ln/>
        </p:spPr>
        <p:txBody>
          <a:bodyPr wrap="square" lIns="0" tIns="0" rIns="0" bIns="0" rtlCol="0" anchor="ctr"/>
          <a:lstStyle/>
          <a:p>
            <a:pPr algn="ctr" indent="0" marL="0">
              <a:buNone/>
            </a:pPr>
            <a:r>
              <a:rPr lang="en-US" sz="4400" dirty="0">
                <a:solidFill>
                  <a:srgbClr val="4C7A00"/>
                </a:solidFill>
                <a:latin typeface="Arial Black" pitchFamily="34" charset="0"/>
                <a:ea typeface="Arial Black" pitchFamily="34" charset="-122"/>
                <a:cs typeface="Arial Black" pitchFamily="34" charset="-120"/>
              </a:rPr>
              <a:t>≈ −0.5</a:t>
            </a:r>
            <a:endParaRPr lang="en-US" sz="4400" dirty="0"/>
          </a:p>
        </p:txBody>
      </p:sp>
      <p:sp>
        <p:nvSpPr>
          <p:cNvPr id="16" name="Text 13"/>
          <p:cNvSpPr/>
          <p:nvPr/>
        </p:nvSpPr>
        <p:spPr>
          <a:xfrm>
            <a:off x="5943600" y="3520440"/>
            <a:ext cx="2267712" cy="713232"/>
          </a:xfrm>
          <a:prstGeom prst="rect">
            <a:avLst/>
          </a:prstGeom>
          <a:noFill/>
          <a:ln/>
        </p:spPr>
        <p:txBody>
          <a:bodyPr wrap="square" lIns="0" tIns="0" rIns="0" bIns="0" rtlCol="0" anchor="ctr"/>
          <a:lstStyle/>
          <a:p>
            <a:pPr algn="ctr" indent="0" marL="0">
              <a:buNone/>
            </a:pPr>
            <a:r>
              <a:rPr lang="en-US" sz="1100" b="1" dirty="0">
                <a:solidFill>
                  <a:srgbClr val="36393B"/>
                </a:solidFill>
                <a:latin typeface="Arial" pitchFamily="34" charset="0"/>
                <a:ea typeface="Arial" pitchFamily="34" charset="-122"/>
                <a:cs typeface="Arial" pitchFamily="34" charset="-120"/>
              </a:rPr>
              <a:t>Backdoor adjustment
</a:t>
            </a:r>
            <a:endParaRPr lang="en-US" sz="1100" dirty="0"/>
          </a:p>
          <a:p>
            <a:pPr algn="ctr" indent="0" marL="0">
              <a:buNone/>
            </a:pPr>
            <a:r>
              <a:rPr lang="en-US" sz="1100" dirty="0">
                <a:solidFill>
                  <a:srgbClr val="8A8F8C"/>
                </a:solidFill>
                <a:latin typeface="Arial" pitchFamily="34" charset="0"/>
                <a:ea typeface="Arial" pitchFamily="34" charset="-122"/>
                <a:cs typeface="Arial" pitchFamily="34" charset="-120"/>
              </a:rPr>
              <a:t>DoWhy,  refutation passes</a:t>
            </a:r>
            <a:endParaRPr lang="en-US" sz="1100" dirty="0"/>
          </a:p>
        </p:txBody>
      </p:sp>
      <p:pic>
        <p:nvPicPr>
          <p:cNvPr id="17" name="Image 1" descr="icons/racecar_green.png">    </p:cNvPr>
          <p:cNvPicPr>
            <a:picLocks noChangeAspect="1"/>
          </p:cNvPicPr>
          <p:nvPr/>
        </p:nvPicPr>
        <p:blipFill>
          <a:blip r:embed="rId2"/>
          <a:stretch>
            <a:fillRect/>
          </a:stretch>
        </p:blipFill>
        <p:spPr>
          <a:xfrm>
            <a:off x="7726680" y="502920"/>
            <a:ext cx="868680" cy="8686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STRESS TESTING THE RESULT</a:t>
            </a:r>
            <a:endParaRPr lang="en-US" sz="2600" dirty="0"/>
          </a:p>
        </p:txBody>
      </p:sp>
      <p:pic>
        <p:nvPicPr>
          <p:cNvPr id="7" name="Image 1" descr="D:/DAI/f1/dai-mission-group-k/sensitivity.png">    </p:cNvPr>
          <p:cNvPicPr>
            <a:picLocks noChangeAspect="1"/>
          </p:cNvPicPr>
          <p:nvPr/>
        </p:nvPicPr>
        <p:blipFill>
          <a:blip r:embed="rId2"/>
          <a:stretch>
            <a:fillRect/>
          </a:stretch>
        </p:blipFill>
        <p:spPr>
          <a:xfrm>
            <a:off x="640080" y="1463040"/>
            <a:ext cx="3703320" cy="2286000"/>
          </a:xfrm>
          <a:prstGeom prst="rect">
            <a:avLst/>
          </a:prstGeom>
        </p:spPr>
      </p:pic>
      <p:pic>
        <p:nvPicPr>
          <p:cNvPr id="8" name="Image 2" descr="D:/DAI/f1/dai-mission-group-k/overlap.png">    </p:cNvPr>
          <p:cNvPicPr>
            <a:picLocks noChangeAspect="1"/>
          </p:cNvPicPr>
          <p:nvPr/>
        </p:nvPicPr>
        <p:blipFill>
          <a:blip r:embed="rId3"/>
          <a:stretch>
            <a:fillRect/>
          </a:stretch>
        </p:blipFill>
        <p:spPr>
          <a:xfrm>
            <a:off x="4617720" y="1608268"/>
            <a:ext cx="3977640" cy="1949824"/>
          </a:xfrm>
          <a:prstGeom prst="rect">
            <a:avLst/>
          </a:prstGeom>
        </p:spPr>
      </p:pic>
      <p:sp>
        <p:nvSpPr>
          <p:cNvPr id="9" name="Text 4"/>
          <p:cNvSpPr/>
          <p:nvPr/>
        </p:nvSpPr>
        <p:spPr>
          <a:xfrm>
            <a:off x="548640" y="4023360"/>
            <a:ext cx="8046720" cy="868680"/>
          </a:xfrm>
          <a:prstGeom prst="rect">
            <a:avLst/>
          </a:prstGeom>
          <a:noFill/>
          <a:ln/>
        </p:spPr>
        <p:txBody>
          <a:bodyPr wrap="square" lIns="0" tIns="0" rIns="0" bIns="0" rtlCol="0" anchor="ctr"/>
          <a:lstStyle/>
          <a:p>
            <a:pPr indent="0" marL="0">
              <a:buNone/>
            </a:pPr>
            <a:r>
              <a:rPr lang="en-US" sz="1200" b="1" dirty="0">
                <a:solidFill>
                  <a:srgbClr val="4C7A00"/>
                </a:solidFill>
                <a:latin typeface="Arial" pitchFamily="34" charset="0"/>
                <a:ea typeface="Arial" pitchFamily="34" charset="-122"/>
                <a:cs typeface="Arial" pitchFamily="34" charset="-120"/>
              </a:rPr>
              <a:t>Threshold.  </a:t>
            </a:r>
            <a:pPr indent="0" marL="0">
              <a:buNone/>
            </a:pPr>
            <a:r>
              <a:rPr lang="en-US" sz="1200" dirty="0">
                <a:solidFill>
                  <a:srgbClr val="3C4043"/>
                </a:solidFill>
                <a:latin typeface="Arial" pitchFamily="34" charset="0"/>
                <a:ea typeface="Arial" pitchFamily="34" charset="-122"/>
                <a:cs typeface="Arial" pitchFamily="34" charset="-120"/>
              </a:rPr>
              <a:t>The effect stays negative at every cut off from 30% to 50%, so it is not an artefact of one choice.  </a:t>
            </a:r>
            <a:pPr indent="0" marL="0">
              <a:buNone/>
            </a:pPr>
            <a:r>
              <a:rPr lang="en-US" sz="1200" b="1" dirty="0">
                <a:solidFill>
                  <a:srgbClr val="4C7A00"/>
                </a:solidFill>
                <a:latin typeface="Arial" pitchFamily="34" charset="0"/>
                <a:ea typeface="Arial" pitchFamily="34" charset="-122"/>
                <a:cs typeface="Arial" pitchFamily="34" charset="-120"/>
              </a:rPr>
              <a:t>Refutation.  </a:t>
            </a:r>
            <a:pPr indent="0" marL="0">
              <a:buNone/>
            </a:pPr>
            <a:r>
              <a:rPr lang="en-US" sz="1200" dirty="0">
                <a:solidFill>
                  <a:srgbClr val="3C4043"/>
                </a:solidFill>
                <a:latin typeface="Arial" pitchFamily="34" charset="0"/>
                <a:ea typeface="Arial" pitchFamily="34" charset="-122"/>
                <a:cs typeface="Arial" pitchFamily="34" charset="-120"/>
              </a:rPr>
              <a:t>A placebo collapses it to zero, while random cause and subset tests barely move it.  </a:t>
            </a:r>
            <a:pPr indent="0" marL="0">
              <a:buNone/>
            </a:pPr>
            <a:r>
              <a:rPr lang="en-US" sz="1200" b="1" dirty="0">
                <a:solidFill>
                  <a:srgbClr val="4C7A00"/>
                </a:solidFill>
                <a:latin typeface="Arial" pitchFamily="34" charset="0"/>
                <a:ea typeface="Arial" pitchFamily="34" charset="-122"/>
                <a:cs typeface="Arial" pitchFamily="34" charset="-120"/>
              </a:rPr>
              <a:t>Overlap.  </a:t>
            </a:r>
            <a:pPr indent="0" marL="0">
              <a:buNone/>
            </a:pPr>
            <a:r>
              <a:rPr lang="en-US" sz="1200" dirty="0">
                <a:solidFill>
                  <a:srgbClr val="3C4043"/>
                </a:solidFill>
                <a:latin typeface="Arial" pitchFamily="34" charset="0"/>
                <a:ea typeface="Arial" pitchFamily="34" charset="-122"/>
                <a:cs typeface="Arial" pitchFamily="34" charset="-120"/>
              </a:rPr>
              <a:t>Treated and control share common support, and only 7 of 660 driver races sit outside it.  </a:t>
            </a:r>
            <a:pPr indent="0" marL="0">
              <a:buNone/>
            </a:pPr>
            <a:r>
              <a:rPr lang="en-US" sz="1200" b="1" dirty="0">
                <a:solidFill>
                  <a:srgbClr val="4C7A00"/>
                </a:solidFill>
                <a:latin typeface="Arial" pitchFamily="34" charset="0"/>
                <a:ea typeface="Arial" pitchFamily="34" charset="-122"/>
                <a:cs typeface="Arial" pitchFamily="34" charset="-120"/>
              </a:rPr>
              <a:t>Errors are clustered by race, </a:t>
            </a:r>
            <a:pPr indent="0" marL="0">
              <a:buNone/>
            </a:pPr>
            <a:r>
              <a:rPr lang="en-US" sz="1200" dirty="0">
                <a:solidFill>
                  <a:srgbClr val="3C4043"/>
                </a:solidFill>
                <a:latin typeface="Arial" pitchFamily="34" charset="0"/>
                <a:ea typeface="Arial" pitchFamily="34" charset="-122"/>
                <a:cs typeface="Arial" pitchFamily="34" charset="-120"/>
              </a:rPr>
              <a:t>since finishing positions are roughly zero sum within a race.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WHEN DOES AN EARLY STOP HELP?</a:t>
            </a:r>
            <a:endParaRPr lang="en-US" sz="2600" dirty="0"/>
          </a:p>
        </p:txBody>
      </p:sp>
      <p:sp>
        <p:nvSpPr>
          <p:cNvPr id="7" name="Text 4"/>
          <p:cNvSpPr/>
          <p:nvPr/>
        </p:nvSpPr>
        <p:spPr>
          <a:xfrm>
            <a:off x="548640" y="1554480"/>
            <a:ext cx="4114800" cy="3108960"/>
          </a:xfrm>
          <a:prstGeom prst="rect">
            <a:avLst/>
          </a:prstGeom>
          <a:noFill/>
          <a:ln/>
        </p:spPr>
        <p:txBody>
          <a:bodyPr wrap="square" lIns="0" tIns="0" rIns="0" bIns="0" rtlCol="0" anchor="ctr"/>
          <a:lstStyle/>
          <a:p>
            <a:pPr indent="0" marL="0">
              <a:buNone/>
            </a:pPr>
            <a:r>
              <a:rPr lang="en-US" sz="1400" b="1" dirty="0">
                <a:solidFill>
                  <a:srgbClr val="36393B"/>
                </a:solidFill>
                <a:latin typeface="Arial" pitchFamily="34" charset="0"/>
                <a:ea typeface="Arial" pitchFamily="34" charset="-122"/>
                <a:cs typeface="Arial" pitchFamily="34" charset="-120"/>
              </a:rPr>
              <a:t>The yes or no answer hides a curve.</a:t>
            </a:r>
            <a:endParaRPr lang="en-US" sz="1400" dirty="0"/>
          </a:p>
          <a:p>
            <a:pPr indent="0" marL="0">
              <a:buNone/>
            </a:pPr>
            <a:r>
              <a:rPr lang="en-US" sz="1400" dirty="0">
                <a:solidFill>
                  <a:srgbClr val="3C4043"/>
                </a:solidFill>
                <a:latin typeface="Arial" pitchFamily="34" charset="0"/>
                <a:ea typeface="Arial" pitchFamily="34" charset="-122"/>
                <a:cs typeface="Arial" pitchFamily="34" charset="-120"/>
              </a:rPr>
              <a:t>After adjusting for confounders, the value of the first stop is an inverted U.</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4C7A00"/>
                </a:solidFill>
                <a:latin typeface="Arial" pitchFamily="34" charset="0"/>
                <a:ea typeface="Arial" pitchFamily="34" charset="-122"/>
                <a:cs typeface="Arial" pitchFamily="34" charset="-120"/>
              </a:rPr>
              <a:t>Before 30%:  </a:t>
            </a:r>
            <a:pPr indent="0" marL="0">
              <a:buNone/>
            </a:pPr>
            <a:r>
              <a:rPr lang="en-US" sz="1400" dirty="0">
                <a:solidFill>
                  <a:srgbClr val="3C4043"/>
                </a:solidFill>
                <a:latin typeface="Arial" pitchFamily="34" charset="0"/>
                <a:ea typeface="Arial" pitchFamily="34" charset="-122"/>
                <a:cs typeface="Arial" pitchFamily="34" charset="-120"/>
              </a:rPr>
              <a:t>too early, value is thrown away.</a:t>
            </a:r>
            <a:endParaRPr lang="en-US" sz="1400" dirty="0"/>
          </a:p>
          <a:p>
            <a:pPr indent="0" marL="0">
              <a:buNone/>
            </a:pPr>
            <a:r>
              <a:rPr lang="en-US" sz="1400" b="1" dirty="0">
                <a:solidFill>
                  <a:srgbClr val="4C7A00"/>
                </a:solidFill>
                <a:latin typeface="Arial" pitchFamily="34" charset="0"/>
                <a:ea typeface="Arial" pitchFamily="34" charset="-122"/>
                <a:cs typeface="Arial" pitchFamily="34" charset="-120"/>
              </a:rPr>
              <a:t>30 to 50%:  </a:t>
            </a:r>
            <a:pPr indent="0" marL="0">
              <a:buNone/>
            </a:pPr>
            <a:r>
              <a:rPr lang="en-US" sz="1400" dirty="0">
                <a:solidFill>
                  <a:srgbClr val="3C4043"/>
                </a:solidFill>
                <a:latin typeface="Arial" pitchFamily="34" charset="0"/>
                <a:ea typeface="Arial" pitchFamily="34" charset="-122"/>
                <a:cs typeface="Arial" pitchFamily="34" charset="-120"/>
              </a:rPr>
              <a:t>the sweet spot, about plus 0.8 positions.</a:t>
            </a:r>
            <a:endParaRPr lang="en-US" sz="1400" dirty="0"/>
          </a:p>
          <a:p>
            <a:pPr indent="0" marL="0">
              <a:buNone/>
            </a:pPr>
            <a:r>
              <a:rPr lang="en-US" sz="1400" b="1" dirty="0">
                <a:solidFill>
                  <a:srgbClr val="4C7A00"/>
                </a:solidFill>
                <a:latin typeface="Arial" pitchFamily="34" charset="0"/>
                <a:ea typeface="Arial" pitchFamily="34" charset="-122"/>
                <a:cs typeface="Arial" pitchFamily="34" charset="-120"/>
              </a:rPr>
              <a:t>After 50%:  </a:t>
            </a:r>
            <a:pPr indent="0" marL="0">
              <a:buNone/>
            </a:pPr>
            <a:r>
              <a:rPr lang="en-US" sz="1400" dirty="0">
                <a:solidFill>
                  <a:srgbClr val="3C4043"/>
                </a:solidFill>
                <a:latin typeface="Arial" pitchFamily="34" charset="0"/>
                <a:ea typeface="Arial" pitchFamily="34" charset="-122"/>
                <a:cs typeface="Arial" pitchFamily="34" charset="-120"/>
              </a:rPr>
              <a:t>the gain fades away again.</a:t>
            </a:r>
            <a:endParaRPr lang="en-US" sz="1400" dirty="0"/>
          </a:p>
          <a:p>
            <a:pPr indent="0" marL="0">
              <a:buNone/>
            </a:pPr>
            <a:r>
              <a:rPr lang="en-US" sz="1400" dirty="0">
                <a:solidFill>
                  <a:srgbClr val="000000"/>
                </a:solidFill>
                <a:latin typeface="Arial" pitchFamily="34" charset="0"/>
                <a:ea typeface="Arial" pitchFamily="34" charset="-122"/>
                <a:cs typeface="Arial" pitchFamily="34" charset="-120"/>
              </a:rPr>
              <a:t>
</a:t>
            </a:r>
            <a:endParaRPr lang="en-US" sz="1400" dirty="0"/>
          </a:p>
          <a:p>
            <a:pPr indent="0" marL="0">
              <a:buNone/>
            </a:pPr>
            <a:r>
              <a:rPr lang="en-US" sz="1400" i="1" dirty="0">
                <a:solidFill>
                  <a:srgbClr val="8A8F8C"/>
                </a:solidFill>
                <a:latin typeface="Arial" pitchFamily="34" charset="0"/>
                <a:ea typeface="Arial" pitchFamily="34" charset="-122"/>
                <a:cs typeface="Arial" pitchFamily="34" charset="-120"/>
              </a:rPr>
              <a:t>Fresh tyres only repay the pit lane time once the old set has worn enough.</a:t>
            </a:r>
            <a:endParaRPr lang="en-US" sz="1400" dirty="0"/>
          </a:p>
        </p:txBody>
      </p:sp>
      <p:pic>
        <p:nvPicPr>
          <p:cNvPr id="8" name="Image 1" descr="D:/DAI/f1/dai-mission-group-k/window.png">    </p:cNvPr>
          <p:cNvPicPr>
            <a:picLocks noChangeAspect="1"/>
          </p:cNvPicPr>
          <p:nvPr/>
        </p:nvPicPr>
        <p:blipFill>
          <a:blip r:embed="rId2"/>
          <a:stretch>
            <a:fillRect/>
          </a:stretch>
        </p:blipFill>
        <p:spPr>
          <a:xfrm>
            <a:off x="4800600" y="1860409"/>
            <a:ext cx="3749040" cy="2314222"/>
          </a:xfrm>
          <a:prstGeom prst="rect">
            <a:avLst/>
          </a:prstGeom>
        </p:spPr>
      </p:pic>
      <p:pic>
        <p:nvPicPr>
          <p:cNvPr id="9" name="Image 2" descr="icons/wheel_green.png">    </p:cNvPr>
          <p:cNvPicPr>
            <a:picLocks noChangeAspect="1"/>
          </p:cNvPicPr>
          <p:nvPr/>
        </p:nvPicPr>
        <p:blipFill>
          <a:blip r:embed="rId3"/>
          <a:stretch>
            <a:fillRect/>
          </a:stretch>
        </p:blipFill>
        <p:spPr>
          <a:xfrm>
            <a:off x="7772400" y="530352"/>
            <a:ext cx="786384" cy="7863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03</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SUPERVISED LEARNING</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How predictable is the outcome, and what is worth predicting?</a:t>
            </a:r>
            <a:endParaRPr lang="en-US" sz="1500" dirty="0"/>
          </a:p>
        </p:txBody>
      </p:sp>
      <p:pic>
        <p:nvPicPr>
          <p:cNvPr id="8" name="Image 1" descr="icons/speedo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8</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HOW PREDICTABLE IS THE OUTCOME?</a:t>
            </a:r>
            <a:endParaRPr lang="en-US" sz="2600" dirty="0"/>
          </a:p>
        </p:txBody>
      </p:sp>
      <p:pic>
        <p:nvPicPr>
          <p:cNvPr id="7" name="Image 1" descr="D:/DAI/f1/dai-mission-group-k/supervised.png">    </p:cNvPr>
          <p:cNvPicPr>
            <a:picLocks noChangeAspect="1"/>
          </p:cNvPicPr>
          <p:nvPr/>
        </p:nvPicPr>
        <p:blipFill>
          <a:blip r:embed="rId2"/>
          <a:stretch>
            <a:fillRect/>
          </a:stretch>
        </p:blipFill>
        <p:spPr>
          <a:xfrm>
            <a:off x="1432179" y="1371600"/>
            <a:ext cx="6279642" cy="1874520"/>
          </a:xfrm>
          <a:prstGeom prst="rect">
            <a:avLst/>
          </a:prstGeom>
        </p:spPr>
      </p:pic>
      <p:sp>
        <p:nvSpPr>
          <p:cNvPr id="8" name="Text 4"/>
          <p:cNvSpPr/>
          <p:nvPr/>
        </p:nvSpPr>
        <p:spPr>
          <a:xfrm>
            <a:off x="548640" y="3429000"/>
            <a:ext cx="8046720" cy="1371600"/>
          </a:xfrm>
          <a:prstGeom prst="rect">
            <a:avLst/>
          </a:prstGeom>
          <a:noFill/>
          <a:ln/>
        </p:spPr>
        <p:txBody>
          <a:bodyPr wrap="square" lIns="0" tIns="0" rIns="0" bIns="0" rtlCol="0" anchor="ctr"/>
          <a:lstStyle/>
          <a:p>
            <a:pPr indent="0" marL="0">
              <a:buNone/>
            </a:pPr>
            <a:r>
              <a:rPr lang="en-US" sz="1250" b="1" dirty="0">
                <a:solidFill>
                  <a:srgbClr val="4C7A00"/>
                </a:solidFill>
                <a:latin typeface="Arial" pitchFamily="34" charset="0"/>
                <a:ea typeface="Arial" pitchFamily="34" charset="-122"/>
                <a:cs typeface="Arial" pitchFamily="34" charset="-120"/>
              </a:rPr>
              <a:t>Strategy is a real but small lever. </a:t>
            </a:r>
            <a:pPr indent="0" marL="0">
              <a:buNone/>
            </a:pPr>
            <a:r>
              <a:rPr lang="en-US" sz="1250" dirty="0">
                <a:solidFill>
                  <a:srgbClr val="3C4043"/>
                </a:solidFill>
                <a:latin typeface="Arial" pitchFamily="34" charset="0"/>
                <a:ea typeface="Arial" pitchFamily="34" charset="-122"/>
                <a:cs typeface="Arial" pitchFamily="34" charset="-120"/>
              </a:rPr>
              <a:t>In cross validation the full model scores about 3.05 RMSE against 3.35 for a grid only baseline, but the R squared is only about 0.10.</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a:t>
            </a:r>
            <a:endParaRPr lang="en-US" sz="1250" dirty="0"/>
          </a:p>
          <a:p>
            <a:pPr indent="0" marL="0">
              <a:buNone/>
            </a:pPr>
            <a:r>
              <a:rPr lang="en-US" sz="1250" b="1" dirty="0">
                <a:solidFill>
                  <a:srgbClr val="4C7A00"/>
                </a:solidFill>
                <a:latin typeface="Arial" pitchFamily="34" charset="0"/>
                <a:ea typeface="Arial" pitchFamily="34" charset="-122"/>
                <a:cs typeface="Arial" pitchFamily="34" charset="-120"/>
              </a:rPr>
              <a:t>Most of the rest is noise. </a:t>
            </a:r>
            <a:pPr indent="0" marL="0">
              <a:buNone/>
            </a:pPr>
            <a:r>
              <a:rPr lang="en-US" sz="1250" dirty="0">
                <a:solidFill>
                  <a:srgbClr val="3C4043"/>
                </a:solidFill>
                <a:latin typeface="Arial" pitchFamily="34" charset="0"/>
                <a:ea typeface="Arial" pitchFamily="34" charset="-122"/>
                <a:cs typeface="Arial" pitchFamily="34" charset="-120"/>
              </a:rPr>
              <a:t>A mixed effects model attributes roughly 80% of the variance to noise from one race to the next, and an ablation shows 3.0 is near the ceiling. The pit decision, by contrast, is easy to predict at an AUC of 0.96.</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9</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PREDICT WHAT ACTUALLY MATTERS</a:t>
            </a:r>
            <a:endParaRPr lang="en-US" sz="2600" dirty="0"/>
          </a:p>
        </p:txBody>
      </p:sp>
      <p:sp>
        <p:nvSpPr>
          <p:cNvPr id="7" name="Text 4"/>
          <p:cNvSpPr/>
          <p:nvPr/>
        </p:nvSpPr>
        <p:spPr>
          <a:xfrm>
            <a:off x="548640" y="1508760"/>
            <a:ext cx="4114800" cy="3017520"/>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The continuous outcome is noisy. </a:t>
            </a:r>
            <a:pPr indent="0" marL="0">
              <a:buNone/>
            </a:pPr>
            <a:r>
              <a:rPr lang="en-US" sz="1350" dirty="0">
                <a:solidFill>
                  <a:srgbClr val="3C4043"/>
                </a:solidFill>
                <a:latin typeface="Arial" pitchFamily="34" charset="0"/>
                <a:ea typeface="Arial" pitchFamily="34" charset="-122"/>
                <a:cs typeface="Arial" pitchFamily="34" charset="-120"/>
              </a:rPr>
              <a:t>But the decision that matters, podium, points or nothing, is easy to call.</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a:t>
            </a:r>
            <a:endParaRPr lang="en-US" sz="1350" dirty="0"/>
          </a:p>
          <a:p>
            <a:pPr indent="0" marL="0">
              <a:buNone/>
            </a:pPr>
            <a:r>
              <a:rPr lang="en-US" sz="1350" dirty="0">
                <a:solidFill>
                  <a:srgbClr val="3C4043"/>
                </a:solidFill>
                <a:latin typeface="Arial" pitchFamily="34" charset="0"/>
                <a:ea typeface="Arial" pitchFamily="34" charset="-122"/>
                <a:cs typeface="Arial" pitchFamily="34" charset="-120"/>
              </a:rPr>
              <a:t>A three class model reaches a macro AUC around 0.86, and podiums are flagged at about 0.95.</a:t>
            </a:r>
            <a:endParaRPr lang="en-US" sz="1350" dirty="0"/>
          </a:p>
          <a:p>
            <a:pPr indent="0" marL="0">
              <a:buNone/>
            </a:pPr>
            <a:r>
              <a:rPr lang="en-US" sz="1350" dirty="0">
                <a:solidFill>
                  <a:srgbClr val="000000"/>
                </a:solidFill>
                <a:latin typeface="Arial" pitchFamily="34" charset="0"/>
                <a:ea typeface="Arial" pitchFamily="34" charset="-122"/>
                <a:cs typeface="Arial" pitchFamily="34" charset="-120"/>
              </a:rPr>
              <a:t>
</a:t>
            </a:r>
            <a:endParaRPr lang="en-US" sz="1350" dirty="0"/>
          </a:p>
          <a:p>
            <a:pPr indent="0" marL="0">
              <a:buNone/>
            </a:pPr>
            <a:r>
              <a:rPr lang="en-US" sz="1350" b="1" dirty="0">
                <a:solidFill>
                  <a:srgbClr val="4C7A00"/>
                </a:solidFill>
                <a:latin typeface="Arial" pitchFamily="34" charset="0"/>
                <a:ea typeface="Arial" pitchFamily="34" charset="-122"/>
                <a:cs typeface="Arial" pitchFamily="34" charset="-120"/>
              </a:rPr>
              <a:t>The signal is grid and car, not strategy: </a:t>
            </a:r>
            <a:pPr indent="0" marL="0">
              <a:buNone/>
            </a:pPr>
            <a:r>
              <a:rPr lang="en-US" sz="1350" dirty="0">
                <a:solidFill>
                  <a:srgbClr val="3C4043"/>
                </a:solidFill>
                <a:latin typeface="Arial" pitchFamily="34" charset="0"/>
                <a:ea typeface="Arial" pitchFamily="34" charset="-122"/>
                <a:cs typeface="Arial" pitchFamily="34" charset="-120"/>
              </a:rPr>
              <a:t>a grid only classifier matches the full model. The low R squared is about how granular the target is, not a broken model.</a:t>
            </a:r>
            <a:endParaRPr lang="en-US" sz="1350" dirty="0"/>
          </a:p>
        </p:txBody>
      </p:sp>
      <p:graphicFrame>
        <p:nvGraphicFramePr>
          <p:cNvPr id="8" name="Chart 0" descr=""/>
          <p:cNvGraphicFramePr/>
          <p:nvPr/>
        </p:nvGraphicFramePr>
        <p:xfrm>
          <a:off x="4709160" y="1554480"/>
          <a:ext cx="3840480" cy="3017520"/>
        </p:xfrm>
        <a:graphic xmlns:a="http://schemas.openxmlformats.org/drawingml/2006/main">
          <a:graphicData uri="http://schemas.openxmlformats.org/drawingml/2006/chart">
            <c:chart xmlns:c="http://schemas.openxmlformats.org/drawingml/2006/chart" r:id="rId2"/>
          </a:graphicData>
        </a:graphic>
      </p:graphicFrame>
      <p:pic>
        <p:nvPicPr>
          <p:cNvPr id="9" name="Image 1" descr="icons/podium_green.png">    </p:cNvPr>
          <p:cNvPicPr>
            <a:picLocks noChangeAspect="1"/>
          </p:cNvPicPr>
          <p:nvPr/>
        </p:nvPicPr>
        <p:blipFill>
          <a:blip r:embed="rId3"/>
          <a:stretch>
            <a:fillRect/>
          </a:stretch>
        </p:blipFill>
        <p:spPr>
          <a:xfrm>
            <a:off x="7772400" y="512064"/>
            <a:ext cx="822960" cy="82296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04</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UNSUPERVISED</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Do strategies fall into types, or vary on a spectrum?</a:t>
            </a:r>
            <a:endParaRPr lang="en-US" sz="1500" dirty="0"/>
          </a:p>
        </p:txBody>
      </p:sp>
      <p:pic>
        <p:nvPicPr>
          <p:cNvPr id="8" name="Image 1" descr="icons/wheel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10</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STRATEGIES ARE A SPECTRUM, NOT BOXES</a:t>
            </a:r>
            <a:endParaRPr lang="en-US" sz="2600" dirty="0"/>
          </a:p>
        </p:txBody>
      </p:sp>
      <p:pic>
        <p:nvPicPr>
          <p:cNvPr id="7" name="Image 1" descr="D:/DAI/f1/dai-mission-group-k/strategy_map.png">    </p:cNvPr>
          <p:cNvPicPr>
            <a:picLocks noChangeAspect="1"/>
          </p:cNvPicPr>
          <p:nvPr/>
        </p:nvPicPr>
        <p:blipFill>
          <a:blip r:embed="rId2"/>
          <a:stretch>
            <a:fillRect/>
          </a:stretch>
        </p:blipFill>
        <p:spPr>
          <a:xfrm>
            <a:off x="502920" y="1709723"/>
            <a:ext cx="3566160" cy="2661313"/>
          </a:xfrm>
          <a:prstGeom prst="rect">
            <a:avLst/>
          </a:prstGeom>
        </p:spPr>
      </p:pic>
      <p:pic>
        <p:nvPicPr>
          <p:cNvPr id="8" name="Image 2" descr="D:/DAI/f1/dai-mission-group-k/gap_validity.png">    </p:cNvPr>
          <p:cNvPicPr>
            <a:picLocks noChangeAspect="1"/>
          </p:cNvPicPr>
          <p:nvPr/>
        </p:nvPicPr>
        <p:blipFill>
          <a:blip r:embed="rId3"/>
          <a:stretch>
            <a:fillRect/>
          </a:stretch>
        </p:blipFill>
        <p:spPr>
          <a:xfrm>
            <a:off x="4114800" y="1823457"/>
            <a:ext cx="1874520" cy="1053101"/>
          </a:xfrm>
          <a:prstGeom prst="rect">
            <a:avLst/>
          </a:prstGeom>
        </p:spPr>
      </p:pic>
      <p:sp>
        <p:nvSpPr>
          <p:cNvPr id="9" name="Text 4"/>
          <p:cNvSpPr/>
          <p:nvPr/>
        </p:nvSpPr>
        <p:spPr>
          <a:xfrm>
            <a:off x="6035040" y="1554480"/>
            <a:ext cx="2606040" cy="3017520"/>
          </a:xfrm>
          <a:prstGeom prst="rect">
            <a:avLst/>
          </a:prstGeom>
          <a:noFill/>
          <a:ln/>
        </p:spPr>
        <p:txBody>
          <a:bodyPr wrap="square" lIns="0" tIns="0" rIns="0" bIns="0" rtlCol="0" anchor="ctr"/>
          <a:lstStyle/>
          <a:p>
            <a:pPr indent="0" marL="0">
              <a:buNone/>
            </a:pPr>
            <a:r>
              <a:rPr lang="en-US" sz="1200" b="1" dirty="0">
                <a:solidFill>
                  <a:srgbClr val="4C7A00"/>
                </a:solidFill>
                <a:latin typeface="Arial" pitchFamily="34" charset="0"/>
                <a:ea typeface="Arial" pitchFamily="34" charset="-122"/>
                <a:cs typeface="Arial" pitchFamily="34" charset="-120"/>
              </a:rPr>
              <a:t>Clustering the stints does not find clean groups. </a:t>
            </a:r>
            <a:pPr indent="0" marL="0">
              <a:buNone/>
            </a:pPr>
            <a:r>
              <a:rPr lang="en-US" sz="1200" dirty="0">
                <a:solidFill>
                  <a:srgbClr val="3C4043"/>
                </a:solidFill>
                <a:latin typeface="Arial" pitchFamily="34" charset="0"/>
                <a:ea typeface="Arial" pitchFamily="34" charset="-122"/>
                <a:cs typeface="Arial" pitchFamily="34" charset="-120"/>
              </a:rPr>
              <a:t>The silhouette score sits near 0.28, the gap statistic points to a single cluster, and a Hopkins value around 0.95 says the data is structured rather than random.</a:t>
            </a:r>
            <a:endParaRPr lang="en-US" sz="1200" dirty="0"/>
          </a:p>
          <a:p>
            <a:pPr indent="0" marL="0">
              <a:buNone/>
            </a:pPr>
            <a:r>
              <a:rPr lang="en-US" sz="1200" dirty="0">
                <a:solidFill>
                  <a:srgbClr val="000000"/>
                </a:solidFill>
                <a:latin typeface="Arial" pitchFamily="34" charset="0"/>
                <a:ea typeface="Arial" pitchFamily="34" charset="-122"/>
                <a:cs typeface="Arial" pitchFamily="34" charset="-120"/>
              </a:rPr>
              <a:t>
</a:t>
            </a:r>
            <a:endParaRPr lang="en-US" sz="1200" dirty="0"/>
          </a:p>
          <a:p>
            <a:pPr indent="0" marL="0">
              <a:buNone/>
            </a:pPr>
            <a:r>
              <a:rPr lang="en-US" sz="1200" dirty="0">
                <a:solidFill>
                  <a:srgbClr val="3C4043"/>
                </a:solidFill>
                <a:latin typeface="Arial" pitchFamily="34" charset="0"/>
                <a:ea typeface="Arial" pitchFamily="34" charset="-122"/>
                <a:cs typeface="Arial" pitchFamily="34" charset="-120"/>
              </a:rPr>
              <a:t>That is a structured continuum: strategies vary smoothly with compound, length and timing, with no natural dividing lines. We keep a two cluster K-Means only as a rough label for the two ends.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11</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A GENERATIVE MODEL OF STRATEGY</a:t>
            </a:r>
            <a:endParaRPr lang="en-US" sz="2600" dirty="0"/>
          </a:p>
        </p:txBody>
      </p:sp>
      <p:pic>
        <p:nvPicPr>
          <p:cNvPr id="7" name="Image 1" descr="D:/DAI/f1/dai-mission-group-k/generative_gmm.png">    </p:cNvPr>
          <p:cNvPicPr>
            <a:picLocks noChangeAspect="1"/>
          </p:cNvPicPr>
          <p:nvPr/>
        </p:nvPicPr>
        <p:blipFill>
          <a:blip r:embed="rId2"/>
          <a:stretch>
            <a:fillRect/>
          </a:stretch>
        </p:blipFill>
        <p:spPr>
          <a:xfrm>
            <a:off x="1324051" y="1463040"/>
            <a:ext cx="6495898" cy="2194560"/>
          </a:xfrm>
          <a:prstGeom prst="rect">
            <a:avLst/>
          </a:prstGeom>
        </p:spPr>
      </p:pic>
      <p:sp>
        <p:nvSpPr>
          <p:cNvPr id="8" name="Text 4"/>
          <p:cNvSpPr/>
          <p:nvPr/>
        </p:nvSpPr>
        <p:spPr>
          <a:xfrm>
            <a:off x="640080" y="3840480"/>
            <a:ext cx="7772400" cy="914400"/>
          </a:xfrm>
          <a:prstGeom prst="rect">
            <a:avLst/>
          </a:prstGeom>
          <a:noFill/>
          <a:ln/>
        </p:spPr>
        <p:txBody>
          <a:bodyPr wrap="square" lIns="0" tIns="0" rIns="0" bIns="0" rtlCol="0" anchor="ctr"/>
          <a:lstStyle/>
          <a:p>
            <a:pPr algn="ctr" indent="0" marL="0">
              <a:buNone/>
            </a:pPr>
            <a:r>
              <a:rPr lang="en-US" sz="1250" b="1" dirty="0">
                <a:solidFill>
                  <a:srgbClr val="4C7A00"/>
                </a:solidFill>
                <a:latin typeface="Arial" pitchFamily="34" charset="0"/>
                <a:ea typeface="Arial" pitchFamily="34" charset="-122"/>
                <a:cs typeface="Arial" pitchFamily="34" charset="-120"/>
              </a:rPr>
              <a:t>A Gaussian mixture is a generative model of the five stint features. </a:t>
            </a:r>
            <a:pPr algn="ctr" indent="0" marL="0">
              <a:buNone/>
            </a:pPr>
            <a:r>
              <a:rPr lang="en-US" sz="1250" dirty="0">
                <a:solidFill>
                  <a:srgbClr val="3C4043"/>
                </a:solidFill>
                <a:latin typeface="Arial" pitchFamily="34" charset="0"/>
                <a:ea typeface="Arial" pitchFamily="34" charset="-122"/>
                <a:cs typeface="Arial" pitchFamily="34" charset="-120"/>
              </a:rPr>
              <a:t>Synthetic stints sampled from it land on top of the real ones and match every average and spread. Its BIC keeps improving as we add components rather than settling on a best number, which is what a smooth density looks like, not a fixed set of clusters.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05</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CONCLUSION</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What the three blocks add up to.</a:t>
            </a:r>
            <a:endParaRPr lang="en-US" sz="1500" dirty="0"/>
          </a:p>
        </p:txBody>
      </p:sp>
      <p:pic>
        <p:nvPicPr>
          <p:cNvPr id="8" name="Image 1" descr="icons/flag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12</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WHAT WE LEARNED</a:t>
            </a:r>
            <a:endParaRPr lang="en-US" sz="2600" dirty="0"/>
          </a:p>
        </p:txBody>
      </p:sp>
      <p:sp>
        <p:nvSpPr>
          <p:cNvPr id="7" name="Shape 4"/>
          <p:cNvSpPr/>
          <p:nvPr/>
        </p:nvSpPr>
        <p:spPr>
          <a:xfrm>
            <a:off x="548640" y="1554480"/>
            <a:ext cx="420624" cy="420624"/>
          </a:xfrm>
          <a:prstGeom prst="ellipse">
            <a:avLst/>
          </a:prstGeom>
          <a:solidFill>
            <a:srgbClr val="F1F6E4"/>
          </a:solidFill>
          <a:ln/>
        </p:spPr>
      </p:sp>
      <p:sp>
        <p:nvSpPr>
          <p:cNvPr id="8" name="Text 5"/>
          <p:cNvSpPr/>
          <p:nvPr/>
        </p:nvSpPr>
        <p:spPr>
          <a:xfrm>
            <a:off x="548640" y="1554480"/>
            <a:ext cx="420624" cy="420624"/>
          </a:xfrm>
          <a:prstGeom prst="rect">
            <a:avLst/>
          </a:prstGeom>
          <a:noFill/>
          <a:ln/>
        </p:spPr>
        <p:txBody>
          <a:bodyPr wrap="square" lIns="0" tIns="0" rIns="0" bIns="0" rtlCol="0" anchor="ctr"/>
          <a:lstStyle/>
          <a:p>
            <a:pPr algn="ctr" indent="0" marL="0">
              <a:buNone/>
            </a:pPr>
            <a:r>
              <a:rPr lang="en-US" sz="1800" dirty="0">
                <a:solidFill>
                  <a:srgbClr val="639A00"/>
                </a:solidFill>
                <a:latin typeface="Arial Black" pitchFamily="34" charset="0"/>
                <a:ea typeface="Arial Black" pitchFamily="34" charset="-122"/>
                <a:cs typeface="Arial Black" pitchFamily="34" charset="-120"/>
              </a:rPr>
              <a:t>1</a:t>
            </a:r>
            <a:endParaRPr lang="en-US" sz="1800" dirty="0"/>
          </a:p>
        </p:txBody>
      </p:sp>
      <p:sp>
        <p:nvSpPr>
          <p:cNvPr id="9" name="Text 6"/>
          <p:cNvSpPr/>
          <p:nvPr/>
        </p:nvSpPr>
        <p:spPr>
          <a:xfrm>
            <a:off x="1143000" y="1508760"/>
            <a:ext cx="7315200" cy="512064"/>
          </a:xfrm>
          <a:prstGeom prst="rect">
            <a:avLst/>
          </a:prstGeom>
          <a:noFill/>
          <a:ln/>
        </p:spPr>
        <p:txBody>
          <a:bodyPr wrap="square" lIns="0" tIns="0" rIns="0" bIns="0" rtlCol="0" anchor="ctr"/>
          <a:lstStyle/>
          <a:p>
            <a:pPr indent="0" marL="0">
              <a:buNone/>
            </a:pPr>
            <a:r>
              <a:rPr lang="en-US" sz="1450" dirty="0">
                <a:solidFill>
                  <a:srgbClr val="3C4043"/>
                </a:solidFill>
                <a:latin typeface="Arial" pitchFamily="34" charset="0"/>
                <a:ea typeface="Arial" pitchFamily="34" charset="-122"/>
                <a:cs typeface="Arial" pitchFamily="34" charset="-120"/>
              </a:rPr>
              <a:t>Strategy matters, but only a little. Grid slot and car quality dominate.</a:t>
            </a:r>
            <a:endParaRPr lang="en-US" sz="1450" dirty="0"/>
          </a:p>
        </p:txBody>
      </p:sp>
      <p:sp>
        <p:nvSpPr>
          <p:cNvPr id="10" name="Shape 7"/>
          <p:cNvSpPr/>
          <p:nvPr/>
        </p:nvSpPr>
        <p:spPr>
          <a:xfrm>
            <a:off x="548640" y="2157984"/>
            <a:ext cx="420624" cy="420624"/>
          </a:xfrm>
          <a:prstGeom prst="ellipse">
            <a:avLst/>
          </a:prstGeom>
          <a:solidFill>
            <a:srgbClr val="F1F6E4"/>
          </a:solidFill>
          <a:ln/>
        </p:spPr>
      </p:sp>
      <p:sp>
        <p:nvSpPr>
          <p:cNvPr id="11" name="Text 8"/>
          <p:cNvSpPr/>
          <p:nvPr/>
        </p:nvSpPr>
        <p:spPr>
          <a:xfrm>
            <a:off x="548640" y="2157984"/>
            <a:ext cx="420624" cy="420624"/>
          </a:xfrm>
          <a:prstGeom prst="rect">
            <a:avLst/>
          </a:prstGeom>
          <a:noFill/>
          <a:ln/>
        </p:spPr>
        <p:txBody>
          <a:bodyPr wrap="square" lIns="0" tIns="0" rIns="0" bIns="0" rtlCol="0" anchor="ctr"/>
          <a:lstStyle/>
          <a:p>
            <a:pPr algn="ctr" indent="0" marL="0">
              <a:buNone/>
            </a:pPr>
            <a:r>
              <a:rPr lang="en-US" sz="1800" dirty="0">
                <a:solidFill>
                  <a:srgbClr val="639A00"/>
                </a:solidFill>
                <a:latin typeface="Arial Black" pitchFamily="34" charset="0"/>
                <a:ea typeface="Arial Black" pitchFamily="34" charset="-122"/>
                <a:cs typeface="Arial Black" pitchFamily="34" charset="-120"/>
              </a:rPr>
              <a:t>2</a:t>
            </a:r>
            <a:endParaRPr lang="en-US" sz="1800" dirty="0"/>
          </a:p>
        </p:txBody>
      </p:sp>
      <p:sp>
        <p:nvSpPr>
          <p:cNvPr id="12" name="Text 9"/>
          <p:cNvSpPr/>
          <p:nvPr/>
        </p:nvSpPr>
        <p:spPr>
          <a:xfrm>
            <a:off x="1143000" y="2112264"/>
            <a:ext cx="7315200" cy="512064"/>
          </a:xfrm>
          <a:prstGeom prst="rect">
            <a:avLst/>
          </a:prstGeom>
          <a:noFill/>
          <a:ln/>
        </p:spPr>
        <p:txBody>
          <a:bodyPr wrap="square" lIns="0" tIns="0" rIns="0" bIns="0" rtlCol="0" anchor="ctr"/>
          <a:lstStyle/>
          <a:p>
            <a:pPr indent="0" marL="0">
              <a:buNone/>
            </a:pPr>
            <a:r>
              <a:rPr lang="en-US" sz="1450" dirty="0">
                <a:solidFill>
                  <a:srgbClr val="3C4043"/>
                </a:solidFill>
                <a:latin typeface="Arial" pitchFamily="34" charset="0"/>
                <a:ea typeface="Arial" pitchFamily="34" charset="-122"/>
                <a:cs typeface="Arial" pitchFamily="34" charset="-120"/>
              </a:rPr>
              <a:t>Pitting early does not pay. It costs about 0.7 to 1.0 positions, and three methods agree.</a:t>
            </a:r>
            <a:endParaRPr lang="en-US" sz="1450" dirty="0"/>
          </a:p>
        </p:txBody>
      </p:sp>
      <p:sp>
        <p:nvSpPr>
          <p:cNvPr id="13" name="Shape 10"/>
          <p:cNvSpPr/>
          <p:nvPr/>
        </p:nvSpPr>
        <p:spPr>
          <a:xfrm>
            <a:off x="548640" y="2761488"/>
            <a:ext cx="420624" cy="420624"/>
          </a:xfrm>
          <a:prstGeom prst="ellipse">
            <a:avLst/>
          </a:prstGeom>
          <a:solidFill>
            <a:srgbClr val="F1F6E4"/>
          </a:solidFill>
          <a:ln/>
        </p:spPr>
      </p:sp>
      <p:sp>
        <p:nvSpPr>
          <p:cNvPr id="14" name="Text 11"/>
          <p:cNvSpPr/>
          <p:nvPr/>
        </p:nvSpPr>
        <p:spPr>
          <a:xfrm>
            <a:off x="548640" y="2761488"/>
            <a:ext cx="420624" cy="420624"/>
          </a:xfrm>
          <a:prstGeom prst="rect">
            <a:avLst/>
          </a:prstGeom>
          <a:noFill/>
          <a:ln/>
        </p:spPr>
        <p:txBody>
          <a:bodyPr wrap="square" lIns="0" tIns="0" rIns="0" bIns="0" rtlCol="0" anchor="ctr"/>
          <a:lstStyle/>
          <a:p>
            <a:pPr algn="ctr" indent="0" marL="0">
              <a:buNone/>
            </a:pPr>
            <a:r>
              <a:rPr lang="en-US" sz="1800" dirty="0">
                <a:solidFill>
                  <a:srgbClr val="639A00"/>
                </a:solidFill>
                <a:latin typeface="Arial Black" pitchFamily="34" charset="0"/>
                <a:ea typeface="Arial Black" pitchFamily="34" charset="-122"/>
                <a:cs typeface="Arial Black" pitchFamily="34" charset="-120"/>
              </a:rPr>
              <a:t>3</a:t>
            </a:r>
            <a:endParaRPr lang="en-US" sz="1800" dirty="0"/>
          </a:p>
        </p:txBody>
      </p:sp>
      <p:sp>
        <p:nvSpPr>
          <p:cNvPr id="15" name="Text 12"/>
          <p:cNvSpPr/>
          <p:nvPr/>
        </p:nvSpPr>
        <p:spPr>
          <a:xfrm>
            <a:off x="1143000" y="2715768"/>
            <a:ext cx="7315200" cy="512064"/>
          </a:xfrm>
          <a:prstGeom prst="rect">
            <a:avLst/>
          </a:prstGeom>
          <a:noFill/>
          <a:ln/>
        </p:spPr>
        <p:txBody>
          <a:bodyPr wrap="square" lIns="0" tIns="0" rIns="0" bIns="0" rtlCol="0" anchor="ctr"/>
          <a:lstStyle/>
          <a:p>
            <a:pPr indent="0" marL="0">
              <a:buNone/>
            </a:pPr>
            <a:r>
              <a:rPr lang="en-US" sz="1450" dirty="0">
                <a:solidFill>
                  <a:srgbClr val="3C4043"/>
                </a:solidFill>
                <a:latin typeface="Arial" pitchFamily="34" charset="0"/>
                <a:ea typeface="Arial" pitchFamily="34" charset="-122"/>
                <a:cs typeface="Arial" pitchFamily="34" charset="-120"/>
              </a:rPr>
              <a:t>The best first stop is mid race, around 30 to 50%. Going earlier than 30% wastes value.</a:t>
            </a:r>
            <a:endParaRPr lang="en-US" sz="1450" dirty="0"/>
          </a:p>
        </p:txBody>
      </p:sp>
      <p:sp>
        <p:nvSpPr>
          <p:cNvPr id="16" name="Shape 13"/>
          <p:cNvSpPr/>
          <p:nvPr/>
        </p:nvSpPr>
        <p:spPr>
          <a:xfrm>
            <a:off x="548640" y="3364992"/>
            <a:ext cx="420624" cy="420624"/>
          </a:xfrm>
          <a:prstGeom prst="ellipse">
            <a:avLst/>
          </a:prstGeom>
          <a:solidFill>
            <a:srgbClr val="F1F6E4"/>
          </a:solidFill>
          <a:ln/>
        </p:spPr>
      </p:sp>
      <p:sp>
        <p:nvSpPr>
          <p:cNvPr id="17" name="Text 14"/>
          <p:cNvSpPr/>
          <p:nvPr/>
        </p:nvSpPr>
        <p:spPr>
          <a:xfrm>
            <a:off x="548640" y="3364992"/>
            <a:ext cx="420624" cy="420624"/>
          </a:xfrm>
          <a:prstGeom prst="rect">
            <a:avLst/>
          </a:prstGeom>
          <a:noFill/>
          <a:ln/>
        </p:spPr>
        <p:txBody>
          <a:bodyPr wrap="square" lIns="0" tIns="0" rIns="0" bIns="0" rtlCol="0" anchor="ctr"/>
          <a:lstStyle/>
          <a:p>
            <a:pPr algn="ctr" indent="0" marL="0">
              <a:buNone/>
            </a:pPr>
            <a:r>
              <a:rPr lang="en-US" sz="1800" dirty="0">
                <a:solidFill>
                  <a:srgbClr val="639A00"/>
                </a:solidFill>
                <a:latin typeface="Arial Black" pitchFamily="34" charset="0"/>
                <a:ea typeface="Arial Black" pitchFamily="34" charset="-122"/>
                <a:cs typeface="Arial Black" pitchFamily="34" charset="-120"/>
              </a:rPr>
              <a:t>4</a:t>
            </a:r>
            <a:endParaRPr lang="en-US" sz="1800" dirty="0"/>
          </a:p>
        </p:txBody>
      </p:sp>
      <p:sp>
        <p:nvSpPr>
          <p:cNvPr id="18" name="Text 15"/>
          <p:cNvSpPr/>
          <p:nvPr/>
        </p:nvSpPr>
        <p:spPr>
          <a:xfrm>
            <a:off x="1143000" y="3319272"/>
            <a:ext cx="7315200" cy="512064"/>
          </a:xfrm>
          <a:prstGeom prst="rect">
            <a:avLst/>
          </a:prstGeom>
          <a:noFill/>
          <a:ln/>
        </p:spPr>
        <p:txBody>
          <a:bodyPr wrap="square" lIns="0" tIns="0" rIns="0" bIns="0" rtlCol="0" anchor="ctr"/>
          <a:lstStyle/>
          <a:p>
            <a:pPr indent="0" marL="0">
              <a:buNone/>
            </a:pPr>
            <a:r>
              <a:rPr lang="en-US" sz="1450" dirty="0">
                <a:solidFill>
                  <a:srgbClr val="3C4043"/>
                </a:solidFill>
                <a:latin typeface="Arial" pitchFamily="34" charset="0"/>
                <a:ea typeface="Arial" pitchFamily="34" charset="-122"/>
                <a:cs typeface="Arial" pitchFamily="34" charset="-120"/>
              </a:rPr>
              <a:t>Strategies form a smooth spectrum, not a handful of types.</a:t>
            </a:r>
            <a:endParaRPr lang="en-US" sz="1450" dirty="0"/>
          </a:p>
        </p:txBody>
      </p:sp>
      <p:sp>
        <p:nvSpPr>
          <p:cNvPr id="19" name="Shape 16"/>
          <p:cNvSpPr/>
          <p:nvPr/>
        </p:nvSpPr>
        <p:spPr>
          <a:xfrm>
            <a:off x="548640" y="3968496"/>
            <a:ext cx="420624" cy="420624"/>
          </a:xfrm>
          <a:prstGeom prst="ellipse">
            <a:avLst/>
          </a:prstGeom>
          <a:solidFill>
            <a:srgbClr val="F1F6E4"/>
          </a:solidFill>
          <a:ln/>
        </p:spPr>
      </p:sp>
      <p:sp>
        <p:nvSpPr>
          <p:cNvPr id="20" name="Text 17"/>
          <p:cNvSpPr/>
          <p:nvPr/>
        </p:nvSpPr>
        <p:spPr>
          <a:xfrm>
            <a:off x="548640" y="3968496"/>
            <a:ext cx="420624" cy="420624"/>
          </a:xfrm>
          <a:prstGeom prst="rect">
            <a:avLst/>
          </a:prstGeom>
          <a:noFill/>
          <a:ln/>
        </p:spPr>
        <p:txBody>
          <a:bodyPr wrap="square" lIns="0" tIns="0" rIns="0" bIns="0" rtlCol="0" anchor="ctr"/>
          <a:lstStyle/>
          <a:p>
            <a:pPr algn="ctr" indent="0" marL="0">
              <a:buNone/>
            </a:pPr>
            <a:r>
              <a:rPr lang="en-US" sz="1800" dirty="0">
                <a:solidFill>
                  <a:srgbClr val="639A00"/>
                </a:solidFill>
                <a:latin typeface="Arial Black" pitchFamily="34" charset="0"/>
                <a:ea typeface="Arial Black" pitchFamily="34" charset="-122"/>
                <a:cs typeface="Arial Black" pitchFamily="34" charset="-120"/>
              </a:rPr>
              <a:t>5</a:t>
            </a:r>
            <a:endParaRPr lang="en-US" sz="1800" dirty="0"/>
          </a:p>
        </p:txBody>
      </p:sp>
      <p:sp>
        <p:nvSpPr>
          <p:cNvPr id="21" name="Text 18"/>
          <p:cNvSpPr/>
          <p:nvPr/>
        </p:nvSpPr>
        <p:spPr>
          <a:xfrm>
            <a:off x="1143000" y="3922776"/>
            <a:ext cx="7315200" cy="512064"/>
          </a:xfrm>
          <a:prstGeom prst="rect">
            <a:avLst/>
          </a:prstGeom>
          <a:noFill/>
          <a:ln/>
        </p:spPr>
        <p:txBody>
          <a:bodyPr wrap="square" lIns="0" tIns="0" rIns="0" bIns="0" rtlCol="0" anchor="ctr"/>
          <a:lstStyle/>
          <a:p>
            <a:pPr indent="0" marL="0">
              <a:buNone/>
            </a:pPr>
            <a:r>
              <a:rPr lang="en-US" sz="1450" dirty="0">
                <a:solidFill>
                  <a:srgbClr val="3C4043"/>
                </a:solidFill>
                <a:latin typeface="Arial" pitchFamily="34" charset="0"/>
                <a:ea typeface="Arial" pitchFamily="34" charset="-122"/>
                <a:cs typeface="Arial" pitchFamily="34" charset="-120"/>
              </a:rPr>
              <a:t>Who scores is easy to predict; how many places you gain is mostly noise.</a:t>
            </a:r>
            <a:endParaRPr lang="en-US" sz="1450" dirty="0"/>
          </a:p>
        </p:txBody>
      </p:sp>
      <p:pic>
        <p:nvPicPr>
          <p:cNvPr id="22" name="Image 1" descr="icons/finish_green.png">    </p:cNvPr>
          <p:cNvPicPr>
            <a:picLocks noChangeAspect="1"/>
          </p:cNvPicPr>
          <p:nvPr/>
        </p:nvPicPr>
        <p:blipFill>
          <a:blip r:embed="rId2"/>
          <a:stretch>
            <a:fillRect/>
          </a:stretch>
        </p:blipFill>
        <p:spPr>
          <a:xfrm>
            <a:off x="7772400" y="502920"/>
            <a:ext cx="841248" cy="84124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13</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THE TAKEAWAY</a:t>
            </a:r>
            <a:endParaRPr lang="en-US" sz="2600" dirty="0"/>
          </a:p>
        </p:txBody>
      </p:sp>
      <p:sp>
        <p:nvSpPr>
          <p:cNvPr id="7" name="Text 4"/>
          <p:cNvSpPr/>
          <p:nvPr/>
        </p:nvSpPr>
        <p:spPr>
          <a:xfrm>
            <a:off x="548640" y="1600200"/>
            <a:ext cx="7863840" cy="822960"/>
          </a:xfrm>
          <a:prstGeom prst="rect">
            <a:avLst/>
          </a:prstGeom>
          <a:noFill/>
          <a:ln/>
        </p:spPr>
        <p:txBody>
          <a:bodyPr wrap="square" lIns="0" tIns="0" rIns="0" bIns="0" rtlCol="0" anchor="ctr"/>
          <a:lstStyle/>
          <a:p>
            <a:pPr indent="0" marL="0">
              <a:buNone/>
            </a:pPr>
            <a:r>
              <a:rPr lang="en-US" sz="3400" dirty="0">
                <a:solidFill>
                  <a:srgbClr val="4C7A00"/>
                </a:solidFill>
                <a:latin typeface="Arial Black" pitchFamily="34" charset="0"/>
                <a:ea typeface="Arial Black" pitchFamily="34" charset="-122"/>
                <a:cs typeface="Arial Black" pitchFamily="34" charset="-120"/>
              </a:rPr>
              <a:t>Pit on tyre life, not on instinct.</a:t>
            </a:r>
            <a:endParaRPr lang="en-US" sz="3400" dirty="0"/>
          </a:p>
        </p:txBody>
      </p:sp>
      <p:sp>
        <p:nvSpPr>
          <p:cNvPr id="8" name="Text 5"/>
          <p:cNvSpPr/>
          <p:nvPr/>
        </p:nvSpPr>
        <p:spPr>
          <a:xfrm>
            <a:off x="548640" y="2697480"/>
            <a:ext cx="5760720" cy="1371600"/>
          </a:xfrm>
          <a:prstGeom prst="rect">
            <a:avLst/>
          </a:prstGeom>
          <a:noFill/>
          <a:ln/>
        </p:spPr>
        <p:txBody>
          <a:bodyPr wrap="square" lIns="0" tIns="0" rIns="0" bIns="0" rtlCol="0" anchor="ctr"/>
          <a:lstStyle/>
          <a:p>
            <a:pPr indent="0" marL="0">
              <a:buNone/>
            </a:pPr>
            <a:r>
              <a:rPr lang="en-US" sz="1500" dirty="0">
                <a:solidFill>
                  <a:srgbClr val="3C4043"/>
                </a:solidFill>
                <a:latin typeface="Arial" pitchFamily="34" charset="0"/>
                <a:ea typeface="Arial" pitchFamily="34" charset="-122"/>
                <a:cs typeface="Arial" pitchFamily="34" charset="-120"/>
              </a:rPr>
              <a:t>The undercut is mostly a myth. Early stops cost places, the payoff sits in the middle of the race, and once you account for the car, strategy is a small lever on a noisy result. What makes the finding credible is that three separate methods all point the same way.</a:t>
            </a:r>
            <a:endParaRPr lang="en-US" sz="1500" dirty="0"/>
          </a:p>
        </p:txBody>
      </p:sp>
      <p:pic>
        <p:nvPicPr>
          <p:cNvPr id="9" name="Image 1" descr="icons/faflag_dark.png">    </p:cNvPr>
          <p:cNvPicPr>
            <a:picLocks noChangeAspect="1"/>
          </p:cNvPicPr>
          <p:nvPr/>
        </p:nvPicPr>
        <p:blipFill>
          <a:blip r:embed="rId2"/>
          <a:stretch>
            <a:fillRect/>
          </a:stretch>
        </p:blipFill>
        <p:spPr>
          <a:xfrm>
            <a:off x="6537960" y="2331720"/>
            <a:ext cx="1828800" cy="18288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06</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FUTURE WORK</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Where the analysis goes next.</a:t>
            </a:r>
            <a:endParaRPr lang="en-US" sz="1500" dirty="0"/>
          </a:p>
        </p:txBody>
      </p:sp>
      <p:pic>
        <p:nvPicPr>
          <p:cNvPr id="8" name="Image 1" descr="icons/finish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14</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FUTURE WORK</a:t>
            </a:r>
            <a:endParaRPr lang="en-US" sz="2600" dirty="0"/>
          </a:p>
        </p:txBody>
      </p:sp>
      <p:sp>
        <p:nvSpPr>
          <p:cNvPr id="7" name="Text 4"/>
          <p:cNvSpPr/>
          <p:nvPr/>
        </p:nvSpPr>
        <p:spPr>
          <a:xfrm>
            <a:off x="548640" y="1508760"/>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Real safety car data.  </a:t>
            </a:r>
            <a:pPr indent="0" marL="0">
              <a:buNone/>
            </a:pPr>
            <a:r>
              <a:rPr lang="en-US" sz="1350" dirty="0">
                <a:solidFill>
                  <a:srgbClr val="3C4043"/>
                </a:solidFill>
                <a:latin typeface="Arial" pitchFamily="34" charset="0"/>
                <a:ea typeface="Arial" pitchFamily="34" charset="-122"/>
                <a:cs typeface="Arial" pitchFamily="34" charset="-120"/>
              </a:rPr>
              <a:t>Recover safety car and virtual safety car timing from FastF1, then add it as a control or as an instrument for stop timing.</a:t>
            </a:r>
            <a:endParaRPr lang="en-US" sz="1350" dirty="0"/>
          </a:p>
        </p:txBody>
      </p:sp>
      <p:sp>
        <p:nvSpPr>
          <p:cNvPr id="8" name="Text 5"/>
          <p:cNvSpPr/>
          <p:nvPr/>
        </p:nvSpPr>
        <p:spPr>
          <a:xfrm>
            <a:off x="548640" y="2167128"/>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Dynamic car quality.  </a:t>
            </a:r>
            <a:pPr indent="0" marL="0">
              <a:buNone/>
            </a:pPr>
            <a:r>
              <a:rPr lang="en-US" sz="1350" dirty="0">
                <a:solidFill>
                  <a:srgbClr val="3C4043"/>
                </a:solidFill>
                <a:latin typeface="Arial" pitchFamily="34" charset="0"/>
                <a:ea typeface="Arial" pitchFamily="34" charset="-122"/>
                <a:cs typeface="Arial" pitchFamily="34" charset="-120"/>
              </a:rPr>
              <a:t>Replace static yearly tiers with form that updates through the season, so mid season development is captured.</a:t>
            </a:r>
            <a:endParaRPr lang="en-US" sz="1350" dirty="0"/>
          </a:p>
        </p:txBody>
      </p:sp>
      <p:sp>
        <p:nvSpPr>
          <p:cNvPr id="9" name="Text 6"/>
          <p:cNvSpPr/>
          <p:nvPr/>
        </p:nvSpPr>
        <p:spPr>
          <a:xfrm>
            <a:off x="548640" y="2825496"/>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Within race selection.  </a:t>
            </a:r>
            <a:pPr indent="0" marL="0">
              <a:buNone/>
            </a:pPr>
            <a:r>
              <a:rPr lang="en-US" sz="1350" dirty="0">
                <a:solidFill>
                  <a:srgbClr val="3C4043"/>
                </a:solidFill>
                <a:latin typeface="Arial" pitchFamily="34" charset="0"/>
                <a:ea typeface="Arial" pitchFamily="34" charset="-122"/>
                <a:cs typeface="Arial" pitchFamily="34" charset="-120"/>
              </a:rPr>
              <a:t>Model first lap incidents directly, or find an instrument, to separate forced early stops from chosen ones.</a:t>
            </a:r>
            <a:endParaRPr lang="en-US" sz="1350" dirty="0"/>
          </a:p>
        </p:txBody>
      </p:sp>
      <p:sp>
        <p:nvSpPr>
          <p:cNvPr id="10" name="Text 7"/>
          <p:cNvSpPr/>
          <p:nvPr/>
        </p:nvSpPr>
        <p:spPr>
          <a:xfrm>
            <a:off x="548640" y="3483864"/>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Interference.  </a:t>
            </a:r>
            <a:pPr indent="0" marL="0">
              <a:buNone/>
            </a:pPr>
            <a:r>
              <a:rPr lang="en-US" sz="1350" dirty="0">
                <a:solidFill>
                  <a:srgbClr val="3C4043"/>
                </a:solidFill>
                <a:latin typeface="Arial" pitchFamily="34" charset="0"/>
                <a:ea typeface="Arial" pitchFamily="34" charset="-122"/>
                <a:cs typeface="Arial" pitchFamily="34" charset="-120"/>
              </a:rPr>
              <a:t>Move from the individual effect toward an equilibrium view, where rivals also re-optimise their strategy.</a:t>
            </a:r>
            <a:endParaRPr lang="en-US" sz="1350" dirty="0"/>
          </a:p>
        </p:txBody>
      </p:sp>
      <p:sp>
        <p:nvSpPr>
          <p:cNvPr id="11" name="Text 8"/>
          <p:cNvSpPr/>
          <p:nvPr/>
        </p:nvSpPr>
        <p:spPr>
          <a:xfrm>
            <a:off x="548640" y="4142232"/>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Richer targets.  </a:t>
            </a:r>
            <a:pPr indent="0" marL="0">
              <a:buNone/>
            </a:pPr>
            <a:r>
              <a:rPr lang="en-US" sz="1350" dirty="0">
                <a:solidFill>
                  <a:srgbClr val="3C4043"/>
                </a:solidFill>
                <a:latin typeface="Arial" pitchFamily="34" charset="0"/>
                <a:ea typeface="Arial" pitchFamily="34" charset="-122"/>
                <a:cs typeface="Arial" pitchFamily="34" charset="-120"/>
              </a:rPr>
              <a:t>Bring wet races back in and model tyre compound interactions that were left out here.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512064" y="914400"/>
            <a:ext cx="3108960" cy="1645920"/>
          </a:xfrm>
          <a:prstGeom prst="rect">
            <a:avLst/>
          </a:prstGeom>
          <a:noFill/>
          <a:ln/>
        </p:spPr>
        <p:txBody>
          <a:bodyPr wrap="square" lIns="0" tIns="0" rIns="0" bIns="0" rtlCol="0" anchor="ctr"/>
          <a:lstStyle/>
          <a:p>
            <a:pPr indent="0" marL="0">
              <a:buNone/>
            </a:pPr>
            <a:r>
              <a:rPr lang="en-US" sz="10400" dirty="0">
                <a:solidFill>
                  <a:srgbClr val="639A00"/>
                </a:solidFill>
                <a:latin typeface="Arial Black" pitchFamily="34" charset="0"/>
                <a:ea typeface="Arial Black" pitchFamily="34" charset="-122"/>
                <a:cs typeface="Arial Black" pitchFamily="34" charset="-120"/>
              </a:rPr>
              <a:t>07</a:t>
            </a:r>
            <a:endParaRPr lang="en-US" sz="10400" dirty="0"/>
          </a:p>
        </p:txBody>
      </p:sp>
      <p:sp>
        <p:nvSpPr>
          <p:cNvPr id="6" name="Text 3"/>
          <p:cNvSpPr/>
          <p:nvPr/>
        </p:nvSpPr>
        <p:spPr>
          <a:xfrm>
            <a:off x="566928" y="2724912"/>
            <a:ext cx="6126480" cy="822960"/>
          </a:xfrm>
          <a:prstGeom prst="rect">
            <a:avLst/>
          </a:prstGeom>
          <a:noFill/>
          <a:ln/>
        </p:spPr>
        <p:txBody>
          <a:bodyPr wrap="square" lIns="0" tIns="0" rIns="0" bIns="0" rtlCol="0" anchor="ctr"/>
          <a:lstStyle/>
          <a:p>
            <a:pPr indent="0" marL="0">
              <a:buNone/>
            </a:pPr>
            <a:r>
              <a:rPr lang="en-US" sz="3300" dirty="0">
                <a:solidFill>
                  <a:srgbClr val="36393B"/>
                </a:solidFill>
                <a:latin typeface="Arial Black" pitchFamily="34" charset="0"/>
                <a:ea typeface="Arial Black" pitchFamily="34" charset="-122"/>
                <a:cs typeface="Arial Black" pitchFamily="34" charset="-120"/>
              </a:rPr>
              <a:t>LIMITATIONS</a:t>
            </a:r>
            <a:endParaRPr lang="en-US" sz="3300" dirty="0"/>
          </a:p>
        </p:txBody>
      </p:sp>
      <p:sp>
        <p:nvSpPr>
          <p:cNvPr id="7" name="Text 4"/>
          <p:cNvSpPr/>
          <p:nvPr/>
        </p:nvSpPr>
        <p:spPr>
          <a:xfrm>
            <a:off x="603504" y="3584448"/>
            <a:ext cx="6035040" cy="548640"/>
          </a:xfrm>
          <a:prstGeom prst="rect">
            <a:avLst/>
          </a:prstGeom>
          <a:noFill/>
          <a:ln/>
        </p:spPr>
        <p:txBody>
          <a:bodyPr wrap="square" lIns="0" tIns="0" rIns="0" bIns="0" rtlCol="0" anchor="ctr"/>
          <a:lstStyle/>
          <a:p>
            <a:pPr indent="0" marL="0">
              <a:buNone/>
            </a:pPr>
            <a:r>
              <a:rPr lang="en-US" sz="1500" i="1" dirty="0">
                <a:solidFill>
                  <a:srgbClr val="8A8F8C"/>
                </a:solidFill>
                <a:latin typeface="Arial" pitchFamily="34" charset="0"/>
                <a:ea typeface="Arial" pitchFamily="34" charset="-122"/>
                <a:cs typeface="Arial" pitchFamily="34" charset="-120"/>
              </a:rPr>
              <a:t>What to keep in mind when reading the results.</a:t>
            </a:r>
            <a:endParaRPr lang="en-US" sz="1500" dirty="0"/>
          </a:p>
        </p:txBody>
      </p:sp>
      <p:pic>
        <p:nvPicPr>
          <p:cNvPr id="8" name="Image 1" descr="icons/podium_green.png">    </p:cNvPr>
          <p:cNvPicPr>
            <a:picLocks noChangeAspect="1"/>
          </p:cNvPicPr>
          <p:nvPr/>
        </p:nvPicPr>
        <p:blipFill>
          <a:blip r:embed="rId2"/>
          <a:stretch>
            <a:fillRect/>
          </a:stretch>
        </p:blipFill>
        <p:spPr>
          <a:xfrm>
            <a:off x="6812280" y="1371600"/>
            <a:ext cx="1828800" cy="18288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796528" y="0"/>
            <a:ext cx="347472" cy="5143500"/>
          </a:xfrm>
          <a:prstGeom prst="rect">
            <a:avLst/>
          </a:prstGeom>
          <a:solidFill>
            <a:srgbClr val="639A00"/>
          </a:solidFill>
          <a:ln/>
        </p:spPr>
      </p:sp>
      <p:sp>
        <p:nvSpPr>
          <p:cNvPr id="3" name="Text 1"/>
          <p:cNvSpPr/>
          <p:nvPr/>
        </p:nvSpPr>
        <p:spPr>
          <a:xfrm rot="16200000">
            <a:off x="7141464" y="2377440"/>
            <a:ext cx="3657600" cy="365760"/>
          </a:xfrm>
          <a:prstGeom prst="rect">
            <a:avLst/>
          </a:prstGeom>
          <a:noFill/>
          <a:ln/>
        </p:spPr>
        <p:txBody>
          <a:bodyPr wrap="square" lIns="0" tIns="0" rIns="0" bIns="0" rtlCol="0" anchor="ctr"/>
          <a:lstStyle/>
          <a:p>
            <a:pPr algn="ctr" indent="0" marL="0">
              <a:buNone/>
            </a:pPr>
            <a:r>
              <a:rPr lang="en-US" sz="900" b="1" spc="200" kern="0" dirty="0">
                <a:solidFill>
                  <a:srgbClr val="FFFFFF"/>
                </a:solidFill>
                <a:latin typeface="Arial" pitchFamily="34" charset="0"/>
                <a:ea typeface="Arial" pitchFamily="34" charset="-122"/>
                <a:cs typeface="Arial" pitchFamily="34" charset="-120"/>
              </a:rPr>
              <a:t>DOES THE UNDERCUT PAY OFF</a:t>
            </a:r>
            <a:endParaRPr lang="en-US" sz="900" dirty="0"/>
          </a:p>
        </p:txBody>
      </p:sp>
      <p:pic>
        <p:nvPicPr>
          <p:cNvPr id="4" name="Image 0" descr="ref_unpacked/ppt/media/image1.png">    </p:cNvPr>
          <p:cNvPicPr>
            <a:picLocks noChangeAspect="1"/>
          </p:cNvPicPr>
          <p:nvPr/>
        </p:nvPicPr>
        <p:blipFill>
          <a:blip r:embed="rId1"/>
          <a:stretch>
            <a:fillRect/>
          </a:stretch>
        </p:blipFill>
        <p:spPr>
          <a:xfrm>
            <a:off x="7479792" y="274320"/>
            <a:ext cx="1170432" cy="205740"/>
          </a:xfrm>
          <a:prstGeom prst="rect">
            <a:avLst/>
          </a:prstGeom>
        </p:spPr>
      </p:pic>
      <p:sp>
        <p:nvSpPr>
          <p:cNvPr id="5" name="Text 2"/>
          <p:cNvSpPr/>
          <p:nvPr/>
        </p:nvSpPr>
        <p:spPr>
          <a:xfrm>
            <a:off x="8796528" y="4736592"/>
            <a:ext cx="347472"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15</a:t>
            </a:r>
            <a:endParaRPr lang="en-US" sz="1000" dirty="0"/>
          </a:p>
        </p:txBody>
      </p:sp>
      <p:sp>
        <p:nvSpPr>
          <p:cNvPr id="6" name="Text 3"/>
          <p:cNvSpPr/>
          <p:nvPr/>
        </p:nvSpPr>
        <p:spPr>
          <a:xfrm>
            <a:off x="548640" y="658368"/>
            <a:ext cx="7863840" cy="566928"/>
          </a:xfrm>
          <a:prstGeom prst="rect">
            <a:avLst/>
          </a:prstGeom>
          <a:noFill/>
          <a:ln/>
        </p:spPr>
        <p:txBody>
          <a:bodyPr wrap="square" lIns="0" tIns="0" rIns="0" bIns="0" rtlCol="0" anchor="ctr"/>
          <a:lstStyle/>
          <a:p>
            <a:pPr indent="0" marL="0">
              <a:buNone/>
            </a:pPr>
            <a:r>
              <a:rPr lang="en-US" sz="2600" dirty="0">
                <a:solidFill>
                  <a:srgbClr val="36393B"/>
                </a:solidFill>
                <a:latin typeface="Arial Black" pitchFamily="34" charset="0"/>
                <a:ea typeface="Arial Black" pitchFamily="34" charset="-122"/>
                <a:cs typeface="Arial Black" pitchFamily="34" charset="-120"/>
              </a:rPr>
              <a:t>WHAT TO KEEP IN MIND</a:t>
            </a:r>
            <a:endParaRPr lang="en-US" sz="2600" dirty="0"/>
          </a:p>
        </p:txBody>
      </p:sp>
      <p:sp>
        <p:nvSpPr>
          <p:cNvPr id="7" name="Text 4"/>
          <p:cNvSpPr/>
          <p:nvPr/>
        </p:nvSpPr>
        <p:spPr>
          <a:xfrm>
            <a:off x="548640" y="1508760"/>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Interference.  </a:t>
            </a:r>
            <a:pPr indent="0" marL="0">
              <a:buNone/>
            </a:pPr>
            <a:r>
              <a:rPr lang="en-US" sz="1350" dirty="0">
                <a:solidFill>
                  <a:srgbClr val="3C4043"/>
                </a:solidFill>
                <a:latin typeface="Arial" pitchFamily="34" charset="0"/>
                <a:ea typeface="Arial" pitchFamily="34" charset="-122"/>
                <a:cs typeface="Arial" pitchFamily="34" charset="-120"/>
              </a:rPr>
              <a:t>Positions are roughly zero sum, so one driver's stop changes everyone else's race. We report the individual effect and cluster errors by race.</a:t>
            </a:r>
            <a:endParaRPr lang="en-US" sz="1350" dirty="0"/>
          </a:p>
        </p:txBody>
      </p:sp>
      <p:sp>
        <p:nvSpPr>
          <p:cNvPr id="8" name="Text 5"/>
          <p:cNvSpPr/>
          <p:nvPr/>
        </p:nvSpPr>
        <p:spPr>
          <a:xfrm>
            <a:off x="548640" y="2167128"/>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Selection within a race.  </a:t>
            </a:r>
            <a:pPr indent="0" marL="0">
              <a:buNone/>
            </a:pPr>
            <a:r>
              <a:rPr lang="en-US" sz="1350" dirty="0">
                <a:solidFill>
                  <a:srgbClr val="3C4043"/>
                </a:solidFill>
                <a:latin typeface="Arial" pitchFamily="34" charset="0"/>
                <a:ea typeface="Arial" pitchFamily="34" charset="-122"/>
                <a:cs typeface="Arial" pitchFamily="34" charset="-120"/>
              </a:rPr>
              <a:t>Fixed effects cannot remove a first lap incident that forces an early stop.</a:t>
            </a:r>
            <a:endParaRPr lang="en-US" sz="1350" dirty="0"/>
          </a:p>
        </p:txBody>
      </p:sp>
      <p:sp>
        <p:nvSpPr>
          <p:cNvPr id="9" name="Text 6"/>
          <p:cNvSpPr/>
          <p:nvPr/>
        </p:nvSpPr>
        <p:spPr>
          <a:xfrm>
            <a:off x="548640" y="2825496"/>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No safety car data.  </a:t>
            </a:r>
            <a:pPr indent="0" marL="0">
              <a:buNone/>
            </a:pPr>
            <a:r>
              <a:rPr lang="en-US" sz="1350" dirty="0">
                <a:solidFill>
                  <a:srgbClr val="3C4043"/>
                </a:solidFill>
                <a:latin typeface="Arial" pitchFamily="34" charset="0"/>
                <a:ea typeface="Arial" pitchFamily="34" charset="-122"/>
                <a:cs typeface="Arial" pitchFamily="34" charset="-120"/>
              </a:rPr>
              <a:t>Those columns were corrupt, so we adjust for confounders rather than use them as an instrument.</a:t>
            </a:r>
            <a:endParaRPr lang="en-US" sz="1350" dirty="0"/>
          </a:p>
        </p:txBody>
      </p:sp>
      <p:sp>
        <p:nvSpPr>
          <p:cNvPr id="10" name="Text 7"/>
          <p:cNvSpPr/>
          <p:nvPr/>
        </p:nvSpPr>
        <p:spPr>
          <a:xfrm>
            <a:off x="548640" y="3483864"/>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Missing 2022 weather.  </a:t>
            </a:r>
            <a:pPr indent="0" marL="0">
              <a:buNone/>
            </a:pPr>
            <a:r>
              <a:rPr lang="en-US" sz="1350" dirty="0">
                <a:solidFill>
                  <a:srgbClr val="3C4043"/>
                </a:solidFill>
                <a:latin typeface="Arial" pitchFamily="34" charset="0"/>
                <a:ea typeface="Arial" pitchFamily="34" charset="-122"/>
                <a:cs typeface="Arial" pitchFamily="34" charset="-120"/>
              </a:rPr>
              <a:t>The causal block runs on 2023 and 2024 only.</a:t>
            </a:r>
            <a:endParaRPr lang="en-US" sz="1350" dirty="0"/>
          </a:p>
        </p:txBody>
      </p:sp>
      <p:sp>
        <p:nvSpPr>
          <p:cNvPr id="11" name="Text 8"/>
          <p:cNvSpPr/>
          <p:nvPr/>
        </p:nvSpPr>
        <p:spPr>
          <a:xfrm>
            <a:off x="548640" y="4142232"/>
            <a:ext cx="8046720" cy="566928"/>
          </a:xfrm>
          <a:prstGeom prst="rect">
            <a:avLst/>
          </a:prstGeom>
          <a:noFill/>
          <a:ln/>
        </p:spPr>
        <p:txBody>
          <a:bodyPr wrap="square" lIns="0" tIns="0" rIns="0" bIns="0" rtlCol="0" anchor="ctr"/>
          <a:lstStyle/>
          <a:p>
            <a:pPr indent="0" marL="0">
              <a:buNone/>
            </a:pPr>
            <a:r>
              <a:rPr lang="en-US" sz="1350" b="1" dirty="0">
                <a:solidFill>
                  <a:srgbClr val="4C7A00"/>
                </a:solidFill>
                <a:latin typeface="Arial" pitchFamily="34" charset="0"/>
                <a:ea typeface="Arial" pitchFamily="34" charset="-122"/>
                <a:cs typeface="Arial" pitchFamily="34" charset="-120"/>
              </a:rPr>
              <a:t>Noise floor.  </a:t>
            </a:r>
            <a:pPr indent="0" marL="0">
              <a:buNone/>
            </a:pPr>
            <a:r>
              <a:rPr lang="en-US" sz="1350" dirty="0">
                <a:solidFill>
                  <a:srgbClr val="3C4043"/>
                </a:solidFill>
                <a:latin typeface="Arial" pitchFamily="34" charset="0"/>
                <a:ea typeface="Arial" pitchFamily="34" charset="-122"/>
                <a:cs typeface="Arial" pitchFamily="34" charset="-120"/>
              </a:rPr>
              <a:t>The low R squared is real outcome noise from crashes and retirements, reported plainly rather than hidden.</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Pit Stop Strategy</dc:title>
  <dc:subject>PptxGenJS Presentation</dc:subject>
  <dc:creator>Group K</dc:creator>
  <cp:lastModifiedBy>Group K</cp:lastModifiedBy>
  <cp:revision>1</cp:revision>
  <dcterms:created xsi:type="dcterms:W3CDTF">2026-06-28T14:34:14Z</dcterms:created>
  <dcterms:modified xsi:type="dcterms:W3CDTF">2026-06-28T14:34:14Z</dcterms:modified>
</cp:coreProperties>
</file>